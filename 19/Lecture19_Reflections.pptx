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41" r:id="rId3"/>
    <p:sldId id="2964" r:id="rId4"/>
    <p:sldId id="2965" r:id="rId5"/>
    <p:sldId id="2966" r:id="rId6"/>
    <p:sldId id="2967" r:id="rId7"/>
    <p:sldId id="2972" r:id="rId8"/>
    <p:sldId id="2971" r:id="rId9"/>
    <p:sldId id="2968" r:id="rId10"/>
    <p:sldId id="2973" r:id="rId11"/>
    <p:sldId id="2969" r:id="rId12"/>
    <p:sldId id="2974" r:id="rId13"/>
    <p:sldId id="2970" r:id="rId14"/>
    <p:sldId id="2975" r:id="rId15"/>
    <p:sldId id="2960" r:id="rId16"/>
    <p:sldId id="42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3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7FEAA5-D7DB-D8D3-E074-041C9DD4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D7C2F6B-D45B-4FD1-5DB9-A2D944A65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55F258F-7113-7254-DDC6-4B92F7BE3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472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FD79F2-E267-51AE-B915-9C32C646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AEE301-AC95-0B83-F75A-46D2536B8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A579BC-9820-958E-016F-8A58D97EB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427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0D6B535-50AF-693E-13B4-32D6079E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46EC47-895B-DE83-864D-4328636EB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AF28788-4308-6904-CF92-FD4689C84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8921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9F18B2-90AB-BD45-2C3F-AC03CC5B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95B2D53-256A-C301-CDDA-8CD39918E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B6C3D3D-00C7-DBD5-2903-04A657E7A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02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59A9C0-1651-984E-C7FB-28C9F2E8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FE7F5C-14B6-58F4-C699-4745A049E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E9C9B21-1BF6-77FC-1A4B-F6B6B874B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808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230805-CC42-301A-2F08-86AB3D48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C4BB89-8F5C-2395-113C-6471588C8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C0A53C-E2B1-0852-0568-89A777412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575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9636E6-055C-3048-B945-5FA1369C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63BF4DB-308F-F941-434A-E0982E7DD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1F9E3FD-6EB5-C99B-7467-9C7A590C1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232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011C534-2751-70CA-46F0-FE551F0E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579814-8657-9C82-78E7-ED50BF1F7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88FC51-4185-F6AC-DAE2-C41E80E13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05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9BCCBF-1590-F3BF-500C-1AF35354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AEAD10-FDAB-151E-462F-3635E0074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9134CE-0EC3-6C68-C8C5-AB35D06BA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249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1E68AA1-DFF3-7FD6-8496-7A2E191F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2CA03D-4E68-357B-00BB-375C64912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189AE02-F831-60F9-A0BF-F67657A19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697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21E61D-4193-D960-D45D-0157F5AB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95C196-83E2-4448-B7F2-6665608A2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196BDDA-6291-1754-C77D-DCA3E84E93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0103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E2E3D8-F1E3-1709-8B04-09D3C70F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E5C32B2-64EA-151C-8727-94A44E75F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21BD654-1AD2-A7B6-67DB-35034A024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159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86EC3C1-D55A-EA48-9263-66D45735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F19E14-844C-D4F0-60B4-855EDF96ED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B22C38-838D-FD40-3D2D-F830D72D6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120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28CC55-45C0-4C9C-9C27-D13CB0AB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EBAB4D-EE5E-43A8-5DBE-9657BB625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B9BEC9-8007-9DDF-FC8F-1B0814115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064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scikit-learn.org/stable/index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19: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Reflections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April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0/11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571AD050-9705-B8C8-1525-B8DE7563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3C57341C-F943-C3E6-321E-E3C6A36F9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3A85B1F6-98BC-60A1-916F-70D001A7B244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19: Reflections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4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Continuing to Learn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-GB" sz="1600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Anaconda, SciPy, Scikit-learn, Object Oriented Programming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20: Drop-in Session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lvl="1">
              <a:lnSpc>
                <a:spcPct val="90000"/>
              </a:lnSpc>
              <a:buClr>
                <a:srgbClr val="D9D9D9"/>
              </a:buClr>
              <a:buSzPts val="1800"/>
            </a:pP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2442583B-7329-DCFC-DEA6-D44C55E88E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3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41CAE69-94FA-06E8-7BAC-E8161DC9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E1ECAA-34FA-8FD9-0187-05B31422F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4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7445FA-F91F-74CC-A5BB-077A4705B04C}"/>
              </a:ext>
            </a:extLst>
          </p:cNvPr>
          <p:cNvSpPr txBox="1"/>
          <p:nvPr/>
        </p:nvSpPr>
        <p:spPr>
          <a:xfrm>
            <a:off x="1234281" y="1834474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4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18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March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22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April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project requires you to: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Analyse a dataset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your choice using the tools you’ve learned throughout the course (two datasets available)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Write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report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explains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“Brief for Project 4”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instructions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FA22497-EA8F-DE91-4492-462688CD5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016D81FD-8F7A-F7D1-271B-9BC6DD0659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40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0D589E-688C-EBD6-4F5A-B7852385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1547B1-72B3-293D-42BF-C506CDC1A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07475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7BD0C82-BE13-F4AE-49F1-C4E0E952C3E5}"/>
              </a:ext>
            </a:extLst>
          </p:cNvPr>
          <p:cNvSpPr txBox="1"/>
          <p:nvPr/>
        </p:nvSpPr>
        <p:spPr>
          <a:xfrm>
            <a:off x="1234281" y="1772482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past two terms, we have covered a range of topics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basics of Python: Variables, data types, control flow, functions and modules.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analysis libraries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manipulation and cleaning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analysis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Report writing and communication of findings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doing so, we have gained plenty of practice in programming and problem-solving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3EC73AD6-2E65-6367-E9A2-7399899BC8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E1329AF8-D073-7ABD-BFAD-67F62F32E675}"/>
              </a:ext>
            </a:extLst>
          </p:cNvPr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7619010" y="1834474"/>
            <a:ext cx="2305808" cy="111020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C19D0E-555C-2E7E-A5B5-A23D6D087E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8393" y="3144949"/>
            <a:ext cx="2164057" cy="768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A48523-B90B-9032-262C-40462740D81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6052" y="4435969"/>
            <a:ext cx="2988841" cy="73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2112C7F-CC12-72E8-5F82-1045FF43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008B3CC-2BDE-9585-A307-6A645D6D1A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857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Where next?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9F7C0E-9F6A-235A-AD74-13ACFF4977E2}"/>
              </a:ext>
            </a:extLst>
          </p:cNvPr>
          <p:cNvSpPr txBox="1"/>
          <p:nvPr/>
        </p:nvSpPr>
        <p:spPr>
          <a:xfrm>
            <a:off x="1243506" y="2030050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we are going to look at where you can take your programming journey from here.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Next steps: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Local setup with Anaconda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SciPy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24AD0337-B7BA-C80A-518C-E038CA5743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4" descr="Anaconda Navigator - Scaler Topics">
            <a:extLst>
              <a:ext uri="{FF2B5EF4-FFF2-40B4-BE49-F238E27FC236}">
                <a16:creationId xmlns:a16="http://schemas.microsoft.com/office/drawing/2014/main" id="{4D5A19D4-7DCF-F46F-F7F5-0857538D7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0077" y="3254829"/>
            <a:ext cx="2120714" cy="105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SciPy and NumPy - Full Stack Python">
            <a:extLst>
              <a:ext uri="{FF2B5EF4-FFF2-40B4-BE49-F238E27FC236}">
                <a16:creationId xmlns:a16="http://schemas.microsoft.com/office/drawing/2014/main" id="{7924734E-4813-54EB-9C09-8A53294D9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30255" y="2268682"/>
            <a:ext cx="2481987" cy="98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cikit-learn - Wikipedia">
            <a:extLst>
              <a:ext uri="{FF2B5EF4-FFF2-40B4-BE49-F238E27FC236}">
                <a16:creationId xmlns:a16="http://schemas.microsoft.com/office/drawing/2014/main" id="{70DEF7FA-0020-5694-36C6-0392B761D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06575" y="4448953"/>
            <a:ext cx="1941919" cy="104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20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01355AA-F362-1D4F-B845-40923AE3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561CBFF-3E1F-4E7A-A4A7-F0B5230A2F2A}"/>
              </a:ext>
            </a:extLst>
          </p:cNvPr>
          <p:cNvSpPr/>
          <p:nvPr/>
        </p:nvSpPr>
        <p:spPr>
          <a:xfrm>
            <a:off x="936215" y="1414203"/>
            <a:ext cx="10784977" cy="54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BB6CF5-552F-3336-AA52-D94C78A67F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299" y="2444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Local Python Environments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DEFB90-3C84-AE15-B8CE-634E718516E7}"/>
              </a:ext>
            </a:extLst>
          </p:cNvPr>
          <p:cNvSpPr txBox="1"/>
          <p:nvPr/>
        </p:nvSpPr>
        <p:spPr>
          <a:xfrm>
            <a:off x="979758" y="1490082"/>
            <a:ext cx="498561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been using Python in 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remote notebook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you may find that you want to run Python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locally (on your own computer)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5E6484EF-58A7-1BAF-06C6-92526744D2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33" name="Picture 9" descr="Noteable - Computational Notebook Platform for Education">
            <a:extLst>
              <a:ext uri="{FF2B5EF4-FFF2-40B4-BE49-F238E27FC236}">
                <a16:creationId xmlns:a16="http://schemas.microsoft.com/office/drawing/2014/main" id="{9466156E-6607-702A-955D-A71A6B6A0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4296" y="1999859"/>
            <a:ext cx="2926896" cy="72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DA767E-1E7D-2C82-8B7E-E580A34808A0}"/>
              </a:ext>
            </a:extLst>
          </p:cNvPr>
          <p:cNvCxnSpPr>
            <a:cxnSpLocks/>
          </p:cNvCxnSpPr>
          <p:nvPr/>
        </p:nvCxnSpPr>
        <p:spPr>
          <a:xfrm flipV="1">
            <a:off x="8556171" y="1959429"/>
            <a:ext cx="3050721" cy="990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C58938-F430-7290-DD10-606672A6E447}"/>
              </a:ext>
            </a:extLst>
          </p:cNvPr>
          <p:cNvCxnSpPr>
            <a:cxnSpLocks/>
          </p:cNvCxnSpPr>
          <p:nvPr/>
        </p:nvCxnSpPr>
        <p:spPr>
          <a:xfrm>
            <a:off x="8665029" y="1999859"/>
            <a:ext cx="3056163" cy="9446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57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E75307-CBD2-1513-BEB6-521C348F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C1B06-B376-7929-5CBB-168CCE0973A1}"/>
              </a:ext>
            </a:extLst>
          </p:cNvPr>
          <p:cNvSpPr/>
          <p:nvPr/>
        </p:nvSpPr>
        <p:spPr>
          <a:xfrm>
            <a:off x="936215" y="1414203"/>
            <a:ext cx="10784977" cy="54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CD9141-564A-A9A9-DF3A-03B4E3850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299" y="2444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Local Python Environments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42A509-2248-13DE-205D-D6A68434072B}"/>
              </a:ext>
            </a:extLst>
          </p:cNvPr>
          <p:cNvSpPr txBox="1"/>
          <p:nvPr/>
        </p:nvSpPr>
        <p:spPr>
          <a:xfrm>
            <a:off x="979758" y="1490082"/>
            <a:ext cx="498561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been using Python in 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remote notebook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you may find that you want to run Python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locally (on your own computer)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local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setup lets you: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Work offline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without relying on an internet portal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Manage your own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 version and packages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 multiple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virtual environments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(separate Python setups for different projects)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of the easiest ways to do this is to install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Anaconda</a:t>
            </a: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3F9C3C65-4126-9EAB-DDB7-CBA2229ABC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133DE5-56E8-53E7-71E1-B744062C52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92588" y="3349186"/>
            <a:ext cx="5764029" cy="26692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ABC456-B91D-3797-F914-2BF573477A2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58667" y="3343677"/>
            <a:ext cx="3997950" cy="26692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8F3381-87BE-0478-B333-C70A9EAC239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2933" y="3338168"/>
            <a:ext cx="2033684" cy="26692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63584B-A302-90F0-8551-7BC2E5E9E77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2933" y="3554357"/>
            <a:ext cx="2033684" cy="24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3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18AB13A-EB01-A0F3-7B91-0411FB17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BDD4B9-55D6-C008-2912-4C8BD9B4EF07}"/>
              </a:ext>
            </a:extLst>
          </p:cNvPr>
          <p:cNvSpPr/>
          <p:nvPr/>
        </p:nvSpPr>
        <p:spPr>
          <a:xfrm>
            <a:off x="936215" y="1414203"/>
            <a:ext cx="10784977" cy="54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AB9767C-0F54-B0D4-6B63-A3BB735BAB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7385" y="-17811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Anaconda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7C1E595-D642-67C4-69B6-2855B3242471}"/>
              </a:ext>
            </a:extLst>
          </p:cNvPr>
          <p:cNvSpPr txBox="1"/>
          <p:nvPr/>
        </p:nvSpPr>
        <p:spPr>
          <a:xfrm>
            <a:off x="1091106" y="1257161"/>
            <a:ext cx="569337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Anaconda is 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 distribution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designed for data science and scientific computing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includes: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 itself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commonly used libraries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(e.g. NumPy, pandas, SciPy)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Comes with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conda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 and manage separate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environments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Install and update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packages easily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Anaconda Navigator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 graphical interface):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Launch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notebooks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Manage environments without using the command line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simple, all-in-one way to get started with Python locally</a:t>
            </a: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52721511-59F7-37DB-5C12-082CE59C2A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 descr="Anaconda Navigator - Anaconda">
            <a:extLst>
              <a:ext uri="{FF2B5EF4-FFF2-40B4-BE49-F238E27FC236}">
                <a16:creationId xmlns:a16="http://schemas.microsoft.com/office/drawing/2014/main" id="{8A0DD916-AA7E-A09F-7196-4A6CE7E2B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49886" y="3165180"/>
            <a:ext cx="4702585" cy="293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naconda Navigator - Scaler Topics">
            <a:extLst>
              <a:ext uri="{FF2B5EF4-FFF2-40B4-BE49-F238E27FC236}">
                <a16:creationId xmlns:a16="http://schemas.microsoft.com/office/drawing/2014/main" id="{1312CC5A-5DD1-11BB-7057-F536EEA9C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75170" y="754555"/>
            <a:ext cx="3546021" cy="176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19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96B961-BFE3-966B-A06E-7E60DC86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62EE15-E326-D0ED-6CD4-65382133F1DA}"/>
              </a:ext>
            </a:extLst>
          </p:cNvPr>
          <p:cNvSpPr/>
          <p:nvPr/>
        </p:nvSpPr>
        <p:spPr>
          <a:xfrm>
            <a:off x="936215" y="1414203"/>
            <a:ext cx="10784977" cy="54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6312FB-737D-236B-446B-8C4DFF65F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-34364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SciPy Module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BA0DB3-A38D-0992-ED66-5E512317376C}"/>
              </a:ext>
            </a:extLst>
          </p:cNvPr>
          <p:cNvSpPr txBox="1"/>
          <p:nvPr/>
        </p:nvSpPr>
        <p:spPr>
          <a:xfrm>
            <a:off x="1153843" y="1286721"/>
            <a:ext cx="689900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spent a while looking at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Numerical Python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package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Python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SciPy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package builds directly on top of NumPy providing a range of more advanced tools.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Examples include: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Network Analysis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Numerical Integration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Sparse Matrices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Root finding algorithms</a:t>
            </a:r>
            <a:br>
              <a:rPr lang="en-GB" dirty="0">
                <a:sym typeface="Calibri"/>
              </a:rPr>
            </a:br>
            <a:endParaRPr lang="en-GB" dirty="0"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ym typeface="Calibri"/>
              </a:rPr>
              <a:t>Statistical Methods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Interpolation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31D34311-85EF-4852-1E7B-1D92E04284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35F430F-E6C1-21B1-ACEF-2D59C8182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3006" y="4136570"/>
            <a:ext cx="2720072" cy="197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9384E-ED18-98CA-5C9B-768212BD157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6026" y="3873032"/>
            <a:ext cx="1516935" cy="2141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CBAF5-022D-228E-4218-D51EF99FDCA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33070" y="1879684"/>
            <a:ext cx="2079172" cy="1908545"/>
          </a:xfrm>
          <a:prstGeom prst="rect">
            <a:avLst/>
          </a:prstGeom>
        </p:spPr>
      </p:pic>
      <p:pic>
        <p:nvPicPr>
          <p:cNvPr id="4104" name="Picture 8" descr="SciPy and NumPy - Full Stack Python">
            <a:extLst>
              <a:ext uri="{FF2B5EF4-FFF2-40B4-BE49-F238E27FC236}">
                <a16:creationId xmlns:a16="http://schemas.microsoft.com/office/drawing/2014/main" id="{F6CC5CA8-08F4-16CA-04DC-EE5820544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56170" y="536125"/>
            <a:ext cx="2481987" cy="98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150;p19">
            <a:extLst>
              <a:ext uri="{FF2B5EF4-FFF2-40B4-BE49-F238E27FC236}">
                <a16:creationId xmlns:a16="http://schemas.microsoft.com/office/drawing/2014/main" id="{8AFE9D77-6BC7-CB8C-ED6A-40104AB81BD8}"/>
              </a:ext>
            </a:extLst>
          </p:cNvPr>
          <p:cNvSpPr txBox="1"/>
          <p:nvPr/>
        </p:nvSpPr>
        <p:spPr>
          <a:xfrm>
            <a:off x="3372499" y="5266034"/>
            <a:ext cx="4253779" cy="61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 algn="ctr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can learn more about this in </a:t>
            </a:r>
            <a:r>
              <a:rPr lang="en-GB" sz="18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lecture_reflections.ipynb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GB" sz="18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exercises_scipy_supplement</a:t>
            </a: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06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454537-0C1C-41E3-2DF7-8BB5B7FD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4DDEC4C-5691-16C9-9710-47754D2265AE}"/>
              </a:ext>
            </a:extLst>
          </p:cNvPr>
          <p:cNvSpPr/>
          <p:nvPr/>
        </p:nvSpPr>
        <p:spPr>
          <a:xfrm>
            <a:off x="936215" y="1414203"/>
            <a:ext cx="10784977" cy="54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5D45BD-7C9F-A68D-C971-40B80A7BED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-34364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SciPy Module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624EB98-0C60-A2BF-C550-5F6F9666A62E}"/>
              </a:ext>
            </a:extLst>
          </p:cNvPr>
          <p:cNvSpPr txBox="1"/>
          <p:nvPr/>
        </p:nvSpPr>
        <p:spPr>
          <a:xfrm>
            <a:off x="1153843" y="1286721"/>
            <a:ext cx="689900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spent a while looking at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Numerical Python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package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Python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SciPy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package builds directly on top of NumPy providing a range of more advanced tools.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Examples include: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Network Analysis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Numerical Integration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Sparse Matrices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Root finding algorithms</a:t>
            </a:r>
            <a:br>
              <a:rPr lang="en-GB" dirty="0">
                <a:sym typeface="Calibri"/>
              </a:rPr>
            </a:br>
            <a:endParaRPr lang="en-GB" dirty="0"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ym typeface="Calibri"/>
              </a:rPr>
              <a:t>Statistical Methods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Interpolation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434ADE87-39DA-A17D-FE5B-29A9C8222C2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7C72A36-03D6-B4B4-2206-914523FF6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3006" y="4136570"/>
            <a:ext cx="2720072" cy="197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32077A-8229-B4B9-6983-9F605653B77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6026" y="3873032"/>
            <a:ext cx="1516935" cy="2141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2E63EE-1471-B5BD-696F-3C562D5AA0B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33070" y="1879684"/>
            <a:ext cx="2079172" cy="1908545"/>
          </a:xfrm>
          <a:prstGeom prst="rect">
            <a:avLst/>
          </a:prstGeom>
        </p:spPr>
      </p:pic>
      <p:pic>
        <p:nvPicPr>
          <p:cNvPr id="4104" name="Picture 8" descr="SciPy and NumPy - Full Stack Python">
            <a:extLst>
              <a:ext uri="{FF2B5EF4-FFF2-40B4-BE49-F238E27FC236}">
                <a16:creationId xmlns:a16="http://schemas.microsoft.com/office/drawing/2014/main" id="{0994D553-F675-E965-B3B1-7220F300A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56170" y="536125"/>
            <a:ext cx="2481987" cy="98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54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F2F562-1DDC-1F8A-A139-589ECE3E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4D87A8-256A-BB4A-26C7-529F4DFA4391}"/>
              </a:ext>
            </a:extLst>
          </p:cNvPr>
          <p:cNvSpPr/>
          <p:nvPr/>
        </p:nvSpPr>
        <p:spPr>
          <a:xfrm>
            <a:off x="936215" y="1414203"/>
            <a:ext cx="10784977" cy="54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20FB7B-5F36-6CC5-DC0B-41EE48BBD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135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Scikit-Learn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AED0DED-C0B9-5FB1-5BAD-69FD2362B12D}"/>
              </a:ext>
            </a:extLst>
          </p:cNvPr>
          <p:cNvSpPr txBox="1"/>
          <p:nvPr/>
        </p:nvSpPr>
        <p:spPr>
          <a:xfrm>
            <a:off x="1149731" y="1637594"/>
            <a:ext cx="53532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Another package which may be of use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package covers a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statistical machine learning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methods, including: 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Clustering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Dimension Reduction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pursue a career in scientific computing, you may find yourself using many of these methods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EF94BC50-3D6A-5715-26A3-7507198676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122" name="Picture 2" descr="scikit-learn - Wikipedia">
            <a:extLst>
              <a:ext uri="{FF2B5EF4-FFF2-40B4-BE49-F238E27FC236}">
                <a16:creationId xmlns:a16="http://schemas.microsoft.com/office/drawing/2014/main" id="{D1B48FB5-5368-FCE3-1134-371A97372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87949" y="192638"/>
            <a:ext cx="1941919" cy="104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50;p19">
            <a:extLst>
              <a:ext uri="{FF2B5EF4-FFF2-40B4-BE49-F238E27FC236}">
                <a16:creationId xmlns:a16="http://schemas.microsoft.com/office/drawing/2014/main" id="{2F40D0B2-ECCB-B9DF-1D0A-464223B0B379}"/>
              </a:ext>
            </a:extLst>
          </p:cNvPr>
          <p:cNvSpPr txBox="1"/>
          <p:nvPr/>
        </p:nvSpPr>
        <p:spPr>
          <a:xfrm>
            <a:off x="7176089" y="5323744"/>
            <a:ext cx="4253779" cy="1418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 algn="ctr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can learn more about this in </a:t>
            </a:r>
            <a:r>
              <a:rPr lang="en-GB" sz="18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lecture_reflections.ipynb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as well as on the </a:t>
            </a:r>
            <a:r>
              <a:rPr lang="en-GB" sz="18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scikitlearn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website</a:t>
            </a: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4" name="Picture 4" descr="Linear Discriminant Analysis vs Quadratic Discriminant Analysis, Linear Discriminant Analysis, Quadratic Discriminant Analysis">
            <a:extLst>
              <a:ext uri="{FF2B5EF4-FFF2-40B4-BE49-F238E27FC236}">
                <a16:creationId xmlns:a16="http://schemas.microsoft.com/office/drawing/2014/main" id="{CDA41CD3-CDCD-E179-3369-914AD4C69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6482" y="1790562"/>
            <a:ext cx="2991359" cy="141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ithout connectivity constraints (time 0.02s)">
            <a:extLst>
              <a:ext uri="{FF2B5EF4-FFF2-40B4-BE49-F238E27FC236}">
                <a16:creationId xmlns:a16="http://schemas.microsoft.com/office/drawing/2014/main" id="{B6497513-4EE1-0241-3E23-EAFC1564B4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0410" y="3698839"/>
            <a:ext cx="1901946" cy="162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$\alpha$_init$=1.90,\ \lambda$_init$=1.0$ (Default), $\alpha$_init$=1.00,\ \lambda$_init$=0.001$">
            <a:extLst>
              <a:ext uri="{FF2B5EF4-FFF2-40B4-BE49-F238E27FC236}">
                <a16:creationId xmlns:a16="http://schemas.microsoft.com/office/drawing/2014/main" id="{4702824F-D7A4-F80D-DEC8-5A699D985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0410" y="1599356"/>
            <a:ext cx="1976872" cy="1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F12570-0A4E-5DF7-AAB8-C5B655D3351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5536" y="3500003"/>
            <a:ext cx="2772413" cy="189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AEB3A5-B5E1-2214-9C53-03CD861B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7F7C11-D7E8-DA3F-8ECA-BF732C630A6A}"/>
              </a:ext>
            </a:extLst>
          </p:cNvPr>
          <p:cNvSpPr/>
          <p:nvPr/>
        </p:nvSpPr>
        <p:spPr>
          <a:xfrm>
            <a:off x="936215" y="1414203"/>
            <a:ext cx="10784977" cy="54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47CDEA-9177-43EB-0D37-1B940F68DD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135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Scikit-Learn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0E638A-46CA-6F9A-9CDB-2B7C27AFFC5B}"/>
              </a:ext>
            </a:extLst>
          </p:cNvPr>
          <p:cNvSpPr txBox="1"/>
          <p:nvPr/>
        </p:nvSpPr>
        <p:spPr>
          <a:xfrm>
            <a:off x="1149731" y="1637594"/>
            <a:ext cx="53532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Another package which may be of use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package covers a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statistical machine learning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methods, including: 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Clustering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Dimension Reduction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pursue a career in scientific computing, you may find yourself using many of these methods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4C44D9BB-EB48-BE5B-8390-EDFBAE3957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122" name="Picture 2" descr="scikit-learn - Wikipedia">
            <a:extLst>
              <a:ext uri="{FF2B5EF4-FFF2-40B4-BE49-F238E27FC236}">
                <a16:creationId xmlns:a16="http://schemas.microsoft.com/office/drawing/2014/main" id="{2979E7DD-A7E7-DA4C-A095-F19E1F35B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87949" y="192638"/>
            <a:ext cx="1941919" cy="104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inear Discriminant Analysis vs Quadratic Discriminant Analysis, Linear Discriminant Analysis, Quadratic Discriminant Analysis">
            <a:extLst>
              <a:ext uri="{FF2B5EF4-FFF2-40B4-BE49-F238E27FC236}">
                <a16:creationId xmlns:a16="http://schemas.microsoft.com/office/drawing/2014/main" id="{EED4E5A3-3CDC-513E-18E1-3D8C417B8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6482" y="1790562"/>
            <a:ext cx="2991359" cy="141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ithout connectivity constraints (time 0.02s)">
            <a:extLst>
              <a:ext uri="{FF2B5EF4-FFF2-40B4-BE49-F238E27FC236}">
                <a16:creationId xmlns:a16="http://schemas.microsoft.com/office/drawing/2014/main" id="{1FED1094-AF7C-6059-ED38-099D7F954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0410" y="3698839"/>
            <a:ext cx="1901946" cy="162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$\alpha$_init$=1.90,\ \lambda$_init$=1.0$ (Default), $\alpha$_init$=1.00,\ \lambda$_init$=0.001$">
            <a:extLst>
              <a:ext uri="{FF2B5EF4-FFF2-40B4-BE49-F238E27FC236}">
                <a16:creationId xmlns:a16="http://schemas.microsoft.com/office/drawing/2014/main" id="{A3289154-E82A-14D5-8145-2E41E4811A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0410" y="1599356"/>
            <a:ext cx="1976872" cy="1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C09CF6-849F-253A-7D09-3B0DB90A611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5536" y="3500003"/>
            <a:ext cx="2772413" cy="189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92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A89B4D-EE9C-A652-A27E-A45BD474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8347E-22C5-4E59-B58A-05596037AF6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75D73B0-0AFB-969E-3188-BCD39DCB7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Object Oriented Programming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991CF61-011B-1C78-4688-2B9C5D53EE57}"/>
              </a:ext>
            </a:extLst>
          </p:cNvPr>
          <p:cNvSpPr txBox="1"/>
          <p:nvPr/>
        </p:nvSpPr>
        <p:spPr>
          <a:xfrm>
            <a:off x="696728" y="1213987"/>
            <a:ext cx="8207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natural next step on your Python journey is to learn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Python, fundamentally everything is 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object may be thought of as anything which made up of: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(variables),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methods (functions which, in some sense,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belong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the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object).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Any time you write something of the form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x=y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are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 new object!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OOP allows you to define your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objects.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not cover OOP in detail here, but you can learn more in SCIF20002</a:t>
            </a: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8800B852-B36B-ABE9-53DA-61F0DF06E3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50;p19">
            <a:extLst>
              <a:ext uri="{FF2B5EF4-FFF2-40B4-BE49-F238E27FC236}">
                <a16:creationId xmlns:a16="http://schemas.microsoft.com/office/drawing/2014/main" id="{8E4148FE-B854-4770-80AF-CBA58FC03EBA}"/>
              </a:ext>
            </a:extLst>
          </p:cNvPr>
          <p:cNvSpPr txBox="1"/>
          <p:nvPr/>
        </p:nvSpPr>
        <p:spPr>
          <a:xfrm>
            <a:off x="6727369" y="4893367"/>
            <a:ext cx="5181556" cy="152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 algn="ctr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Today you can look at </a:t>
            </a:r>
            <a:r>
              <a:rPr lang="en-GB" sz="18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lecture_reflections.ipynb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GB" sz="18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exercises_object_oriented_supplemental.ipynb</a:t>
            </a: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2DB28F3-2833-FFAF-AE43-D90F8679C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91525" y="1495766"/>
            <a:ext cx="4817400" cy="26276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71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CB3FAD-C38A-CCDC-F88C-726D36C4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751383-8ED2-110F-6148-FC4F77EA831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28B1B3E-45DB-D41C-9C74-3A228A96F2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Object Oriented Programming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0C1A29-4747-247E-EF33-0234E736A10C}"/>
              </a:ext>
            </a:extLst>
          </p:cNvPr>
          <p:cNvSpPr txBox="1"/>
          <p:nvPr/>
        </p:nvSpPr>
        <p:spPr>
          <a:xfrm>
            <a:off x="696728" y="1213987"/>
            <a:ext cx="8207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natural next step on your Python journey is to learn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Python, fundamentally everything is 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object may be thought of as anything which made up of: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(variables),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methods (functions which, in some sense,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belong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the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object).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Any time you write something of the form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x=y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are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 new object!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OOP allows you to define your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objects.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not cover OOP in detail here, but you can learn more in SCIF20002</a:t>
            </a: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61FD2253-AFCB-26A0-B1AA-C2B13A46FD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CCF4F36-DAAA-2943-B263-3F84DFF5E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91525" y="1495766"/>
            <a:ext cx="4817400" cy="26276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835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ACCBE8-14F2-2797-CB20-01EB1486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69DB67-B855-50B3-CE57-F32CA502FA8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A7B402-0A6F-6226-F182-23A6EDA31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55494E-89C1-BE8F-02E0-C4D682EB0170}"/>
              </a:ext>
            </a:extLst>
          </p:cNvPr>
          <p:cNvSpPr txBox="1"/>
          <p:nvPr/>
        </p:nvSpPr>
        <p:spPr>
          <a:xfrm>
            <a:off x="914400" y="1866994"/>
            <a:ext cx="45574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lecture_reflections.ipynb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exercises_reflections.ipynb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those who wish to learn more about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scipy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OOP,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optional extra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notebooks are available: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exercises_scipy_supplemental.ipynb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exercises_object_oriented_supplemental.ipynb</a:t>
            </a:r>
            <a:endParaRPr lang="en-GB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96A7068E-2FB3-CC1D-5634-677AFCF33B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8CBE7-27D6-79C3-A723-27EAF133BE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51500" y="1866994"/>
            <a:ext cx="6077852" cy="4130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05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" name="Google Shape;3213;p184">
            <a:extLst>
              <a:ext uri="{FF2B5EF4-FFF2-40B4-BE49-F238E27FC236}">
                <a16:creationId xmlns:a16="http://schemas.microsoft.com/office/drawing/2014/main" id="{D7DD031B-7DCD-C26B-AFF4-0C8C9075A03B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19: Reflections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Continuing to Learn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GB" sz="1600" i="1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Anaconda, SciPy, Scikit-learn, Object Oriented Programming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20: Drop-in Session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70F9BCE5-FBD1-3B62-5743-38B9A0DDAC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11/11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36004</TotalTime>
  <Words>1103</Words>
  <Application>Microsoft Office PowerPoint</Application>
  <PresentationFormat>Widescreen</PresentationFormat>
  <Paragraphs>173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Arial</vt:lpstr>
      <vt:lpstr>Courier New</vt:lpstr>
      <vt:lpstr>Retrospect</vt:lpstr>
      <vt:lpstr>Lecture 19:   Reflections</vt:lpstr>
      <vt:lpstr>Todays Lecture</vt:lpstr>
      <vt:lpstr>Reminder: Project 4 </vt:lpstr>
      <vt:lpstr>Overview</vt:lpstr>
      <vt:lpstr>Where next?</vt:lpstr>
      <vt:lpstr>Local Python Environments</vt:lpstr>
      <vt:lpstr>Local Python Environments</vt:lpstr>
      <vt:lpstr>Anaconda</vt:lpstr>
      <vt:lpstr>The SciPy Module</vt:lpstr>
      <vt:lpstr>The SciPy Module</vt:lpstr>
      <vt:lpstr>Scikit-Learn</vt:lpstr>
      <vt:lpstr>Scikit-Learn</vt:lpstr>
      <vt:lpstr>Object Oriented Programming</vt:lpstr>
      <vt:lpstr>Object Oriented Programming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144</cp:revision>
  <dcterms:modified xsi:type="dcterms:W3CDTF">2026-04-16T11:57:01Z</dcterms:modified>
</cp:coreProperties>
</file>