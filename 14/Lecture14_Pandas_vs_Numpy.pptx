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787" r:id="rId3"/>
    <p:sldId id="3007" r:id="rId4"/>
    <p:sldId id="3033" r:id="rId5"/>
    <p:sldId id="3032" r:id="rId6"/>
    <p:sldId id="3031" r:id="rId7"/>
    <p:sldId id="3028" r:id="rId8"/>
    <p:sldId id="3025" r:id="rId9"/>
    <p:sldId id="3035" r:id="rId10"/>
    <p:sldId id="3034" r:id="rId11"/>
    <p:sldId id="3036" r:id="rId12"/>
    <p:sldId id="3018" r:id="rId13"/>
    <p:sldId id="3037" r:id="rId14"/>
    <p:sldId id="3039" r:id="rId15"/>
    <p:sldId id="3040" r:id="rId16"/>
    <p:sldId id="3038" r:id="rId17"/>
    <p:sldId id="3024" r:id="rId18"/>
    <p:sldId id="3045" r:id="rId19"/>
    <p:sldId id="3046" r:id="rId20"/>
    <p:sldId id="3047" r:id="rId21"/>
    <p:sldId id="3043" r:id="rId22"/>
    <p:sldId id="3044" r:id="rId23"/>
    <p:sldId id="3048" r:id="rId24"/>
    <p:sldId id="2982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59" d="100"/>
          <a:sy n="59" d="100"/>
        </p:scale>
        <p:origin x="5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5FF83998-EFCC-E9EC-32E2-1853C3AC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30C29BF-6963-1F3A-4C9E-F39748279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3BBE95F6-8BD8-A271-52D2-F1936BF05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1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4AC07F-FB69-3376-17E2-49D0DF83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D0E495-53E6-AC03-616F-4CF863F8E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FBC5C4-CE49-B918-B197-2171ED2D3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160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987406-AD76-DDED-0F3C-B05D507E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152F094-8AB7-2BE2-8CD6-4582142F9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9DCBDBD-1338-B5BF-972D-CB38D058B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44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1FB588-3C69-FC5F-7136-DA398AAA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801B16-2211-9933-7E0B-06819B0E5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015A454-7485-66E1-059D-C9C401455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0480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6A1D22-147C-6184-766C-2E06865F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6FEAC34-0F99-35FA-F4FE-A40B2FE9F0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A73D9E-AE81-956F-5275-0C801EE21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341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7C9763-0CF5-76B6-EFC2-051FD9AF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5E7D94-61A7-8FB9-F65F-715C93C38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6B59CC7-7F0F-CE23-BD09-C12D14CA8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9442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97B08FE-2BEA-DB26-5ED9-C69B6E98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DD896C-93E6-B75A-75C1-D4F1F7D27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556B02E-074E-0291-A2C1-9EB80C22B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0122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1C4E378-D673-E606-DB38-CBA23667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A7E110-A8B5-A7F0-134C-904C4AD647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09D74F-DA73-DC38-62C3-F2C7B50B5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3730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28170C5-8EC3-EDB2-31AA-54C2CBD8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43E22D5-F6F1-28A7-CB7C-962A490C7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75EA0F9-4591-8CE2-CD0B-F25CE195B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683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B3DE3CB-489F-0325-E6FC-1C3927415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79E0AC-B621-5ED3-4A07-DCA502D92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F672C57-746A-C0C6-B26E-D7D795A8C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938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DEB185-0EC4-6DB8-1BD2-555D595B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94ED05-56B1-80B9-11D4-98C042E21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32A861-3696-57AC-895B-A0E4D15A3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6125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B6E33E2-3298-9B53-5BF6-5B255F86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B69F9E-1697-61F8-2E5F-70A60D3B4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1113503-4A94-43F9-EC36-D068D82C61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050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80A09D-73BE-BE03-841B-31BDF17B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331A3C6-89BB-2C96-D02B-F84A3031A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52F003-F03C-2298-0FF8-303DB1211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398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C7827A-BB32-E6EF-6048-C00FF45D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7A3C7C-D406-F16D-EFB6-EB0CBA982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00F973-66DF-1337-29B9-AF2801CA2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601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DDAD0D-3246-30E4-7CAB-A9415241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D07617A-14AE-D171-EA60-1838AE28F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44ED75-E7AE-2D9E-C8A9-E8321F617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365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B10DCF-8E09-80F2-5CE7-8DF54BA4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2823C0A-1EC9-46F2-E0F8-C133760D7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19E505-F98E-3753-93B1-408C30B70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041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135F257-FD46-D674-B0D2-329B6381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D0D621E-D12E-ECAC-4C54-83513AF2E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FA1AB5A-4983-1020-A403-EDAF72965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640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6BB9D81-7912-C390-B230-79241438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3B6120A-C161-08DB-6801-E940B2E0B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20DDD94-C868-CC76-3BB0-D6F7791FA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5476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11E265-EEEE-861B-0788-206282AA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22D3E9-5769-EA77-974A-912E3BC41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F10076-DB36-E52B-817D-AB43D5B791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174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E2F8E3-401B-DE4A-0B61-556A4E3E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2426FC-2191-DF1A-D44D-913AE464D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82366A-5B30-35D7-C22F-9E296E951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982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C3FECD-DF1B-A0C4-1ACB-836A81CA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66F46D-FA0C-E033-2249-E0BB98CFC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035284-9975-B5FF-139D-F9EE9B608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302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435A03-1D85-1F9C-F5BF-1019E147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D0B0DB-813C-4833-3F33-5288A011A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29FD81-F750-CABE-DA28-1F55C53B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510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B6337E-F867-2626-F58B-61A88C89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AA2CDBB3-3663-04CB-3852-89FEA60C75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14BC5C7-228C-1B1C-0960-157A39740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8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/>
              <a:t>Lecture 14: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Pandas vs NumPy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February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0/5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5BFA99A-A154-6B96-A138-790869A4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E382823-3305-3095-36FB-135D8B100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65404A33-00C8-E9B3-80E0-C36535EB26F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14: Pandas vs NumPy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and Arrays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Plotting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15: Advanced Plotting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3D Plotting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C94519-E96B-507F-7C09-E5C8A19444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9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C4191C-BADB-3312-6196-491DBF3B1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D2EC41-AFE7-30AA-74CC-75858233677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96BD29-12FA-5149-5536-8A84F61C2A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ADDEC41-AEB0-3C68-390F-DE16CE6EAF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162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BF6F7E-3854-9ADA-AB4C-EB82386C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CF9CF3-C2EB-CD9E-64F1-736BA53E99E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6540C3-718A-BF55-4BBD-7453082F89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02609C2-D0EE-E34D-6F18-A7E60561E9EB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are now reaching the end of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section of this course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DDA776-8A1A-A8E6-01E1-E17963F66A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97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F9BF18A-0FD1-0426-E51B-D583CFEF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80FB12-F9DA-6608-8D32-61DEBBA477F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8A9C7A7-8E3B-FEBB-3758-88A529C824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B2E011-57A7-99AA-6D1A-EBE8800088B4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are now reaching the end of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section of this course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91A3B7A-72D4-786F-0C5B-E22AAD2A8B8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786134-5A85-E7DB-A17F-42C5B2BFB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752" y="3641860"/>
            <a:ext cx="2103365" cy="74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00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6869326-3698-CCE7-DF60-7539EA5D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7CE055-A058-95A3-C5CE-2F762BCB83F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220C598-A8A4-EB1C-B8B9-CAE5BC2EA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F2A17D6-7806-6587-3734-9CDA50628728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are now reaching the end of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section of this course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1A372F4-ADB2-46C2-12CB-D8F17F9CD7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45055E-0EB7-7B9A-76B6-FDD300B18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752" y="3641860"/>
            <a:ext cx="2103365" cy="7468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951BEB-51A7-1607-5223-272886A60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6384" y="1350169"/>
            <a:ext cx="2696066" cy="3182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73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CEAAA39-9E39-ADCC-258F-269089FB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13819B-D20A-0183-879A-A2ECB3C09F6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10D761-94A0-537A-5158-EF8ABE0331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5D6FA25-9DA6-450B-AF2E-DE76F42BD338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are now reaching the end of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section of this course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finish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today we will spend a little time comparing and contrasting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39BBF0-C1F8-FA5F-6E7B-5C192AD3BF1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96D59E-6FCA-3593-AA92-EDEDA2759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752" y="3641860"/>
            <a:ext cx="2103365" cy="7468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DFE968-F409-707E-BBE8-D27EDF0B6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6384" y="1350169"/>
            <a:ext cx="2696066" cy="3182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054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2E9BF9-91DC-AFF1-C401-F9B839B81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2C2A42-B968-412E-6F5B-0D2216E1C79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87C692-04F0-DB0A-8935-9BD88028F0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5D9BB9-4D26-343E-EB11-AC0C667F8E1A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are now reaching the end of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section of this course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finish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today we will spend a little time comparing and contrasting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D194D43-BE71-7C6A-6D52-85413FFC86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5BB9EC-6C99-F753-84EC-7A131AA90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752" y="3641860"/>
            <a:ext cx="2103365" cy="7468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70184D-89EC-B826-4CC8-A47546FB5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6384" y="1041698"/>
            <a:ext cx="2696066" cy="62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5484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2B4620-12F9-5A90-CA1C-27B54830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E04B85-D365-B8F5-B0D4-BD1E7BC3F3A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6F3146-A1A6-FC98-0818-F439CBC823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A286682-0551-01B1-80A5-9DA6BECF62A2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are now reaching the end of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section of this course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finish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today we will spend a little time comparing and contrasting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1752F7-10AB-52AE-9F8D-DD2F577870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7EB8D3-112F-D75B-4B64-A08668B8B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752" y="3641860"/>
            <a:ext cx="2103365" cy="746824"/>
          </a:xfrm>
          <a:prstGeom prst="rect">
            <a:avLst/>
          </a:prstGeom>
        </p:spPr>
      </p:pic>
      <p:pic>
        <p:nvPicPr>
          <p:cNvPr id="7" name="Picture 1" descr="https://numpy.org/doc/stable/_static/numpylogo.svg">
            <a:extLst>
              <a:ext uri="{FF2B5EF4-FFF2-40B4-BE49-F238E27FC236}">
                <a16:creationId xmlns:a16="http://schemas.microsoft.com/office/drawing/2014/main" id="{DE21B77B-F565-CFB6-4546-F4FCE8E82019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8776355" y="2330883"/>
            <a:ext cx="2272160" cy="109400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94D5C4-9908-1838-7DBF-B9B23CE360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6384" y="1041698"/>
            <a:ext cx="2696066" cy="62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5237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41AEC78-82AC-6EBE-2D1E-F8A31833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D516F5A-AFA8-C24F-0259-18189FA7F84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6679E2-C6E5-9765-D50D-2C3955722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BCDC32A-56D9-6586-C824-DD5E929530F7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are now reaching the end of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section of this course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finish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today we will spend a little time comparing and contrasting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Next week, we will move on to advanced plotting.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3AF179-880F-A1CF-3742-DC9B1C2E116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4255EF-30A4-ADD9-FB3D-85C2668AF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752" y="3641860"/>
            <a:ext cx="2103365" cy="746824"/>
          </a:xfrm>
          <a:prstGeom prst="rect">
            <a:avLst/>
          </a:prstGeom>
        </p:spPr>
      </p:pic>
      <p:pic>
        <p:nvPicPr>
          <p:cNvPr id="7" name="Picture 1" descr="https://numpy.org/doc/stable/_static/numpylogo.svg">
            <a:extLst>
              <a:ext uri="{FF2B5EF4-FFF2-40B4-BE49-F238E27FC236}">
                <a16:creationId xmlns:a16="http://schemas.microsoft.com/office/drawing/2014/main" id="{0C35D099-735A-5838-0578-14906F11D922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8776355" y="2330883"/>
            <a:ext cx="2272160" cy="109400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8BC9A5-1C90-F139-527F-8F4C0AC1D3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6384" y="1041698"/>
            <a:ext cx="2696066" cy="62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739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41146ED-7FF3-E9F0-01F3-691DBA13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EB52D3-8D29-B7D0-DB11-9C301231C7E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3296B2-009E-CC87-D8EC-B480C3EC18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Pandas vs </a:t>
            </a:r>
            <a:r>
              <a:rPr lang="en-GB" dirty="0" err="1"/>
              <a:t>Numpy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3D6E1FC-C1C3-0B94-F239-6B2950860590}"/>
              </a:ext>
            </a:extLst>
          </p:cNvPr>
          <p:cNvSpPr txBox="1"/>
          <p:nvPr/>
        </p:nvSpPr>
        <p:spPr>
          <a:xfrm>
            <a:off x="1203489" y="1761152"/>
            <a:ext cx="56923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are now reaching the end of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section of this course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finish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today we will spend a little time comparing and contrasting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Next week, we will move on to advanced plotting.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CC5E3B9-F1B3-01ED-C974-DBCD60DC52B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A03360-04D2-1F3F-0892-4504472AC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752" y="3641860"/>
            <a:ext cx="2103365" cy="746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375487-77C7-F00F-9E04-906B6B01A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32917" y="5034391"/>
            <a:ext cx="2103366" cy="515307"/>
          </a:xfrm>
          <a:prstGeom prst="rect">
            <a:avLst/>
          </a:prstGeom>
        </p:spPr>
      </p:pic>
      <p:pic>
        <p:nvPicPr>
          <p:cNvPr id="7" name="Picture 1" descr="https://numpy.org/doc/stable/_static/numpylogo.svg">
            <a:extLst>
              <a:ext uri="{FF2B5EF4-FFF2-40B4-BE49-F238E27FC236}">
                <a16:creationId xmlns:a16="http://schemas.microsoft.com/office/drawing/2014/main" id="{856F81F8-7935-3085-625D-9FA0C1A461D5}"/>
              </a:ext>
            </a:extLst>
          </p:cNvPr>
          <p:cNvPicPr>
            <a:picLocks noGrp="1"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auto">
          <a:xfrm>
            <a:off x="8776355" y="2330883"/>
            <a:ext cx="2272160" cy="109400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0F4EE8-B8A7-1345-A212-EC4DF60325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6384" y="1041698"/>
            <a:ext cx="2696066" cy="62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3371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F45709F-AB07-7C1F-A680-DFE3B175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1FB5FF-A788-FF06-447B-732E4ADD1C2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80E967-4C35-48EA-65B3-2FADD939E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99774A-480F-3B2C-D98F-CA25E14084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25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0D88D5-9E36-B2CB-F4ED-9C9E5723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70C277-98C8-183A-7C63-98171B25C32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33D3156-9C8F-49F2-6941-5A383843E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0E65A0-7CC3-86F0-DEA4-7899DE643725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conclude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with a comparison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6C070FF-6919-405D-DE31-490D47A753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63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282F89D-6CDC-CAB5-DC0C-17D666417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E6264F-8C17-654C-3767-5E43467DA08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DDF0B9-31F2-484F-90DD-84ACA955E2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A05848-F439-96D2-400D-EF216BC124E6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conclude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with a comparison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 to follow along: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8724E0-7612-F5F6-1FD6-AB445F00F7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28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57B8FD0-864F-1F8E-0ADB-A06DB3D9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1FDE21-3B94-7DBA-B625-8B7D93A397A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3C6D41-4694-2857-070D-6FAE89E0D0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BEC6235-AEAB-5B42-BE7F-C14474E3D59A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conclude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with a comparison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 to follow along: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slides_pandas_vs_numpy.ipynb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0DED53B-D785-07FC-E509-6A29DD41C7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059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BE0A38-D740-60D9-E0B0-470F2E1A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621A95-47C3-C23D-0094-F57DFB126E8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EB4C4D2-1E65-2BAB-FB8B-CF67BF9A4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EE9CBB-1E85-B3D6-4F30-45C4E7F45DEC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shall conclude our investigation of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with a comparison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 to follow along: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slides_pandas_vs_numpy.ipynb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8C8920-B516-23B7-288F-F00B626AA1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7FF6AB-496A-F8F9-4BBA-B89AF8A97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21608" y="974092"/>
            <a:ext cx="5226052" cy="47191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2840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67197B-12E0-5FFA-9362-8EA910B7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A54C4A-CA19-B9EB-EBA4-C3CF9556FCE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3E477B9-1500-C4CD-3D83-AB1596661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462CA0-68BE-CBED-62B8-026D7ECD08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582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BC409B-4604-CFDB-ADCC-97854269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CD753D-F8E8-DBB7-0747-8C4BAC5117E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1C85A97-538F-59DC-AFC1-43C9F3F46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B85956F-EB80-86C6-02E3-23A37021D101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CA83ACF-ECFA-793A-54C3-139F38CF33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884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A19624-1003-3B0D-D01F-14847A71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4ABC29-591D-A584-4A95-1C6F37EBE0E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2719443-5F29-A099-7EAE-90974FDA9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2361F6-2297-C967-5A76-6A16C1B249F5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FC25973-4D9D-6B96-BBF9-DBD1E03E1A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68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B1115F-5BCA-D182-3D8F-86003889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966DDC-A1F0-D689-F247-2F7A75C1FFC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78DCF0-A92D-3D73-D407-A283006CD0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849313-3F84-8947-0D70-363DF4F4941B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lecture_pandas_vs_numpy.ipynb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819133-0031-62EE-D1CF-9D2B954FA3A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563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1DD5CF9-98BC-8061-03CC-D80E4937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EE1B1FD-C82F-1162-996A-321CB30A2E7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DA11E4-6D65-F1A3-7D55-8CA60B514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D521904-3D01-530B-2A3C-6AC7FB578097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lecture_pandas_vs_numpy.ipynb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E2F729F-6A75-37B5-2E5E-477F47F50B9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F67D1-8CD1-E1F3-38A7-003EADB57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69237" y="775584"/>
            <a:ext cx="5199694" cy="53068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4434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D87801-42AA-3941-C665-5F8F79E08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328FB8-3909-DF17-CBBA-753098FA54D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13619D-B993-4052-E169-692D71A738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EEDC68-F2CB-197F-0230-2504FFC595E4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lecture_pandas_vs_numpy.ipynb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DF73F25-DE79-EE8C-FBB6-91EB399553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0FBC0-D584-0F05-C560-1D7230DF5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69237" y="775584"/>
            <a:ext cx="5199694" cy="53068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2733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D69A58-BCBC-421B-7D0A-D01E43E1E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6D4A5E-67DE-B642-8BAF-EC66C48D394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22CE25-ED4D-E19E-35A0-49E6D1CB3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0F4F4C-4AA0-4386-E3C1-1B6811BED09B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lecture_pandas_vs_numpy.ipynb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exercises_pandas_vs_numpy.ipynb</a:t>
            </a:r>
            <a:br>
              <a:rPr lang="en-GB" sz="17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4A29FA-4964-1C81-6338-12D790B608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B51B1B-760D-1F89-74BE-25A8211C5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69237" y="775584"/>
            <a:ext cx="5199694" cy="53068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7193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B5A8E86C-82F8-0867-7546-DC284C07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57A582F-7E25-EC2A-C8D2-7289D380F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D679C7-8388-C057-C5AC-99F957BC24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5/5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3213;p184">
            <a:extLst>
              <a:ext uri="{FF2B5EF4-FFF2-40B4-BE49-F238E27FC236}">
                <a16:creationId xmlns:a16="http://schemas.microsoft.com/office/drawing/2014/main" id="{9636FAFF-E308-1740-8F87-D7836EBE106C}"/>
              </a:ext>
            </a:extLst>
          </p:cNvPr>
          <p:cNvSpPr txBox="1"/>
          <p:nvPr/>
        </p:nvSpPr>
        <p:spPr>
          <a:xfrm>
            <a:off x="1211099" y="1949108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14: Pandas vs NumPy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and Arrays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Indexing and Slicing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Plotting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15: Advanced Plotting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3d Plotting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71072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35118</TotalTime>
  <Words>686</Words>
  <Application>Microsoft Office PowerPoint</Application>
  <PresentationFormat>Widescreen</PresentationFormat>
  <Paragraphs>112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Courier New</vt:lpstr>
      <vt:lpstr>Arial</vt:lpstr>
      <vt:lpstr>Retrospect</vt:lpstr>
      <vt:lpstr>Lecture 14:   Pandas vs NumPy</vt:lpstr>
      <vt:lpstr>Todays Lecture</vt:lpstr>
      <vt:lpstr>Pandas vs Numpy</vt:lpstr>
      <vt:lpstr>Pandas vs Numpy</vt:lpstr>
      <vt:lpstr>Pandas vs Numpy</vt:lpstr>
      <vt:lpstr>Pandas vs Numpy</vt:lpstr>
      <vt:lpstr>Pandas vs Numpy</vt:lpstr>
      <vt:lpstr>Pandas vs Numpy</vt:lpstr>
      <vt:lpstr>Pandas vs Numpy</vt:lpstr>
      <vt:lpstr>Pandas vs Numpy</vt:lpstr>
      <vt:lpstr>Pandas vs Numpy</vt:lpstr>
      <vt:lpstr>Demonstration</vt:lpstr>
      <vt:lpstr>Demonstration</vt:lpstr>
      <vt:lpstr>Demonstration</vt:lpstr>
      <vt:lpstr>Demonstration</vt:lpstr>
      <vt:lpstr>Demonstration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155</cp:revision>
  <dcterms:modified xsi:type="dcterms:W3CDTF">2026-02-12T14:55:31Z</dcterms:modified>
</cp:coreProperties>
</file>