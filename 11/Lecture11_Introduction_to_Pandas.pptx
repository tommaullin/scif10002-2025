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5"/>
  </p:notesMasterIdLst>
  <p:sldIdLst>
    <p:sldId id="256" r:id="rId2"/>
    <p:sldId id="2641" r:id="rId3"/>
    <p:sldId id="2786" r:id="rId4"/>
    <p:sldId id="2787" r:id="rId5"/>
    <p:sldId id="2771" r:id="rId6"/>
    <p:sldId id="2792" r:id="rId7"/>
    <p:sldId id="2790" r:id="rId8"/>
    <p:sldId id="2791" r:id="rId9"/>
    <p:sldId id="2788" r:id="rId10"/>
    <p:sldId id="2789" r:id="rId11"/>
    <p:sldId id="2793" r:id="rId12"/>
    <p:sldId id="2773" r:id="rId13"/>
    <p:sldId id="2797" r:id="rId14"/>
    <p:sldId id="2800" r:id="rId15"/>
    <p:sldId id="2796" r:id="rId16"/>
    <p:sldId id="2795" r:id="rId17"/>
    <p:sldId id="2798" r:id="rId18"/>
    <p:sldId id="2799" r:id="rId19"/>
    <p:sldId id="2794" r:id="rId20"/>
    <p:sldId id="2801" r:id="rId21"/>
    <p:sldId id="2802" r:id="rId22"/>
    <p:sldId id="2774" r:id="rId23"/>
    <p:sldId id="2804" r:id="rId24"/>
    <p:sldId id="2805" r:id="rId25"/>
    <p:sldId id="2808" r:id="rId26"/>
    <p:sldId id="2810" r:id="rId27"/>
    <p:sldId id="2811" r:id="rId28"/>
    <p:sldId id="2812" r:id="rId29"/>
    <p:sldId id="2813" r:id="rId30"/>
    <p:sldId id="2814" r:id="rId31"/>
    <p:sldId id="2815" r:id="rId32"/>
    <p:sldId id="2816" r:id="rId33"/>
    <p:sldId id="2817" r:id="rId34"/>
    <p:sldId id="2803" r:id="rId35"/>
    <p:sldId id="2818" r:id="rId36"/>
    <p:sldId id="2807" r:id="rId37"/>
    <p:sldId id="2809" r:id="rId38"/>
    <p:sldId id="2775" r:id="rId39"/>
    <p:sldId id="2827" r:id="rId40"/>
    <p:sldId id="2826" r:id="rId41"/>
    <p:sldId id="2825" r:id="rId42"/>
    <p:sldId id="2821" r:id="rId43"/>
    <p:sldId id="2822" r:id="rId44"/>
    <p:sldId id="2820" r:id="rId45"/>
    <p:sldId id="2823" r:id="rId46"/>
    <p:sldId id="2824" r:id="rId47"/>
    <p:sldId id="2819" r:id="rId48"/>
    <p:sldId id="2828" r:id="rId49"/>
    <p:sldId id="2829" r:id="rId50"/>
    <p:sldId id="2830" r:id="rId51"/>
    <p:sldId id="2831" r:id="rId52"/>
    <p:sldId id="2776" r:id="rId53"/>
    <p:sldId id="2833" r:id="rId54"/>
    <p:sldId id="2832" r:id="rId55"/>
    <p:sldId id="2835" r:id="rId56"/>
    <p:sldId id="2837" r:id="rId57"/>
    <p:sldId id="2834" r:id="rId58"/>
    <p:sldId id="2840" r:id="rId59"/>
    <p:sldId id="2841" r:id="rId60"/>
    <p:sldId id="2839" r:id="rId61"/>
    <p:sldId id="2845" r:id="rId62"/>
    <p:sldId id="2842" r:id="rId63"/>
    <p:sldId id="2843" r:id="rId64"/>
    <p:sldId id="2838" r:id="rId65"/>
    <p:sldId id="2846" r:id="rId66"/>
    <p:sldId id="2848" r:id="rId67"/>
    <p:sldId id="2777" r:id="rId68"/>
    <p:sldId id="2849" r:id="rId69"/>
    <p:sldId id="2853" r:id="rId70"/>
    <p:sldId id="2852" r:id="rId71"/>
    <p:sldId id="2854" r:id="rId72"/>
    <p:sldId id="2855" r:id="rId73"/>
    <p:sldId id="2856" r:id="rId74"/>
    <p:sldId id="2857" r:id="rId75"/>
    <p:sldId id="2851" r:id="rId76"/>
    <p:sldId id="2850" r:id="rId77"/>
    <p:sldId id="2858" r:id="rId78"/>
    <p:sldId id="2859" r:id="rId79"/>
    <p:sldId id="2860" r:id="rId80"/>
    <p:sldId id="2778" r:id="rId81"/>
    <p:sldId id="2861" r:id="rId82"/>
    <p:sldId id="2865" r:id="rId83"/>
    <p:sldId id="2862" r:id="rId84"/>
    <p:sldId id="2867" r:id="rId85"/>
    <p:sldId id="2868" r:id="rId86"/>
    <p:sldId id="2866" r:id="rId87"/>
    <p:sldId id="2869" r:id="rId88"/>
    <p:sldId id="2870" r:id="rId89"/>
    <p:sldId id="2872" r:id="rId90"/>
    <p:sldId id="2779" r:id="rId91"/>
    <p:sldId id="2871" r:id="rId92"/>
    <p:sldId id="2874" r:id="rId93"/>
    <p:sldId id="2879" r:id="rId94"/>
    <p:sldId id="2878" r:id="rId95"/>
    <p:sldId id="2877" r:id="rId96"/>
    <p:sldId id="2880" r:id="rId97"/>
    <p:sldId id="2881" r:id="rId98"/>
    <p:sldId id="2886" r:id="rId99"/>
    <p:sldId id="2887" r:id="rId100"/>
    <p:sldId id="2882" r:id="rId101"/>
    <p:sldId id="2883" r:id="rId102"/>
    <p:sldId id="2884" r:id="rId103"/>
    <p:sldId id="2885" r:id="rId104"/>
    <p:sldId id="2876" r:id="rId105"/>
    <p:sldId id="2888" r:id="rId106"/>
    <p:sldId id="2889" r:id="rId107"/>
    <p:sldId id="2890" r:id="rId108"/>
    <p:sldId id="2898" r:id="rId109"/>
    <p:sldId id="2780" r:id="rId110"/>
    <p:sldId id="2891" r:id="rId111"/>
    <p:sldId id="2895" r:id="rId112"/>
    <p:sldId id="2896" r:id="rId113"/>
    <p:sldId id="2894" r:id="rId114"/>
    <p:sldId id="2892" r:id="rId115"/>
    <p:sldId id="2893" r:id="rId116"/>
    <p:sldId id="2897" r:id="rId117"/>
    <p:sldId id="2781" r:id="rId118"/>
    <p:sldId id="2899" r:id="rId119"/>
    <p:sldId id="2902" r:id="rId120"/>
    <p:sldId id="2901" r:id="rId121"/>
    <p:sldId id="2904" r:id="rId122"/>
    <p:sldId id="2905" r:id="rId123"/>
    <p:sldId id="2906" r:id="rId124"/>
    <p:sldId id="2907" r:id="rId125"/>
    <p:sldId id="2908" r:id="rId126"/>
    <p:sldId id="2909" r:id="rId127"/>
    <p:sldId id="2910" r:id="rId128"/>
    <p:sldId id="2911" r:id="rId129"/>
    <p:sldId id="2912" r:id="rId130"/>
    <p:sldId id="2900" r:id="rId131"/>
    <p:sldId id="2915" r:id="rId132"/>
    <p:sldId id="2913" r:id="rId133"/>
    <p:sldId id="2914" r:id="rId134"/>
    <p:sldId id="2916" r:id="rId135"/>
    <p:sldId id="2782" r:id="rId136"/>
    <p:sldId id="2921" r:id="rId137"/>
    <p:sldId id="2920" r:id="rId138"/>
    <p:sldId id="2919" r:id="rId139"/>
    <p:sldId id="2922" r:id="rId140"/>
    <p:sldId id="2923" r:id="rId141"/>
    <p:sldId id="2924" r:id="rId142"/>
    <p:sldId id="2918" r:id="rId143"/>
    <p:sldId id="2917" r:id="rId144"/>
    <p:sldId id="2926" r:id="rId145"/>
    <p:sldId id="2927" r:id="rId146"/>
    <p:sldId id="2928" r:id="rId147"/>
    <p:sldId id="2929" r:id="rId148"/>
    <p:sldId id="2925" r:id="rId149"/>
    <p:sldId id="2783" r:id="rId150"/>
    <p:sldId id="2938" r:id="rId151"/>
    <p:sldId id="2939" r:id="rId152"/>
    <p:sldId id="2937" r:id="rId153"/>
    <p:sldId id="2940" r:id="rId154"/>
    <p:sldId id="2941" r:id="rId155"/>
    <p:sldId id="2936" r:id="rId156"/>
    <p:sldId id="2935" r:id="rId157"/>
    <p:sldId id="2942" r:id="rId158"/>
    <p:sldId id="2933" r:id="rId159"/>
    <p:sldId id="2947" r:id="rId160"/>
    <p:sldId id="2945" r:id="rId161"/>
    <p:sldId id="2943" r:id="rId162"/>
    <p:sldId id="2948" r:id="rId163"/>
    <p:sldId id="2949" r:id="rId164"/>
    <p:sldId id="2950" r:id="rId165"/>
    <p:sldId id="2944" r:id="rId166"/>
    <p:sldId id="2951" r:id="rId167"/>
    <p:sldId id="2952" r:id="rId168"/>
    <p:sldId id="2953" r:id="rId169"/>
    <p:sldId id="2954" r:id="rId170"/>
    <p:sldId id="2784" r:id="rId171"/>
    <p:sldId id="2955" r:id="rId172"/>
    <p:sldId id="2960" r:id="rId173"/>
    <p:sldId id="2958" r:id="rId174"/>
    <p:sldId id="2961" r:id="rId175"/>
    <p:sldId id="2959" r:id="rId176"/>
    <p:sldId id="2957" r:id="rId177"/>
    <p:sldId id="2963" r:id="rId178"/>
    <p:sldId id="2964" r:id="rId179"/>
    <p:sldId id="2965" r:id="rId180"/>
    <p:sldId id="2966" r:id="rId181"/>
    <p:sldId id="2967" r:id="rId182"/>
    <p:sldId id="2968" r:id="rId183"/>
    <p:sldId id="2969" r:id="rId184"/>
    <p:sldId id="2970" r:id="rId185"/>
    <p:sldId id="2962" r:id="rId186"/>
    <p:sldId id="2956" r:id="rId187"/>
    <p:sldId id="2973" r:id="rId188"/>
    <p:sldId id="2975" r:id="rId189"/>
    <p:sldId id="2974" r:id="rId190"/>
    <p:sldId id="2976" r:id="rId191"/>
    <p:sldId id="2785" r:id="rId192"/>
    <p:sldId id="2977" r:id="rId193"/>
    <p:sldId id="2971" r:id="rId194"/>
    <p:sldId id="2972" r:id="rId195"/>
    <p:sldId id="2982" r:id="rId196"/>
    <p:sldId id="2985" r:id="rId197"/>
    <p:sldId id="2984" r:id="rId198"/>
    <p:sldId id="2983" r:id="rId199"/>
    <p:sldId id="2978" r:id="rId200"/>
    <p:sldId id="2979" r:id="rId201"/>
    <p:sldId id="2980" r:id="rId202"/>
    <p:sldId id="2981" r:id="rId203"/>
    <p:sldId id="427" r:id="rId20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85C6"/>
    <a:srgbClr val="3F3F3F"/>
    <a:srgbClr val="595959"/>
    <a:srgbClr val="D9D9D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4660"/>
  </p:normalViewPr>
  <p:slideViewPr>
    <p:cSldViewPr snapToGrid="0">
      <p:cViewPr varScale="1">
        <p:scale>
          <a:sx n="59" d="100"/>
          <a:sy n="59" d="100"/>
        </p:scale>
        <p:origin x="51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notesMaster" Target="notesMasters/notes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presProps" Target="pres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viewProps" Target="viewProp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tableStyles" Target="tableStyles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0ab001f5b_0_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10ab001f5b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E37FEAA5-D7DB-D8D3-E074-041C9DD45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5D7C2F6B-D45B-4FD1-5DB9-A2D944A654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A55F258F-7113-7254-DDC6-4B92F7BE37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4472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E0DA4728-B1E8-703A-26CB-C3466BAA3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13E07A81-63AF-CF62-C853-0ECEC36303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02F85006-4557-99FB-D682-1DF364CEF0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6471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5FF83998-EFCC-E9EC-32E2-1853C3AC2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F30C29BF-6963-1F3A-4C9E-F397482798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3BBE95F6-8BD8-A271-52D2-F1936BF05E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0615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191AD94-98FA-7693-5D84-64F08AD3B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08EEFE7-032F-5120-FCC6-C30B6113C7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E635723-242E-BF32-A69E-999436721C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1395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E73D89E-F57E-4921-E7AF-948AEE8D3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6EB866F-20A8-D77C-3362-39D94634B6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A3DC73F-D18C-D362-8E41-7F3DAC9C4F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53508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3DF8BD4-8165-7E86-018C-74F168CCA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1D0D898-D30B-FE7D-903B-D41C264230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3A0C075-02B2-3BDB-46F1-D4922074C0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12196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0D5F160-D0FC-36B7-F283-0B088381D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21B5353-F465-88D9-E960-D9AA5F9D89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685D71E-3D41-96EB-7A22-6CE04057FF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9336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769F716-379E-C68B-E82E-DA2E68847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CC6DBAF-61E5-7C15-7CE9-2A8F44015F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99E9A55-EEC3-5DDE-B660-20D61BD119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80548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C7EDA46-30A2-3519-52E5-2F53E692D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17D1841-F085-0542-6E41-2E6C5C3AE6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C5F27A1-01B1-7256-E5F2-925A145101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1152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7883C14-C95E-E504-62E1-61DFAFE2B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AC3C415-5233-6855-40ED-D9636AD802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388142A-A151-96E7-7353-9E26799C01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73789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7D99A28-E176-E6D6-3016-21890A420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15A61B9-C1DF-F1AC-309E-56D42BFA6A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49F21C7-D295-0049-1FE5-7FC649EA4E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01983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3DABCFE-1CC0-6F30-C5FA-323CD9C5B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3BDE2F9-9D60-1093-C894-2016B52B54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BD17609-B769-DFE4-CF1C-058B175BE9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24189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7E5777B-A2A8-073D-B8D2-A12CEF70E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C2F66D1-5895-E22C-A931-F26879BB04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4CD070B-AFE5-F4B4-CFB2-EE544C051E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15555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370ADD8-58D9-66C8-EC33-4BFBC38AB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50824FE-CE36-3DE0-B9C8-84B1E81737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5A5CB75-8B59-5A60-20F3-023DD82624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05950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F19EB7E-933F-4545-C1FF-2D15BB605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ED53A66-D9B1-7AC6-6B98-7A768105D4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0237A96-8F9E-24B4-2143-007287A0D2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35283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5E0A54D-DB7A-7701-C3C2-2565A9F44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4A2BFB6-7B2F-0B7B-8F43-C4EE261619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F48FE35-8AC3-44CD-BB96-30E8FEE62A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82950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B6C5D02-F842-3074-1D6F-2C1D77F36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17F4B77-56FC-9B71-8702-053F56729D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7E92E46-DEC3-819A-B0D1-7F594ADEA2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7553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68F010E-B9B4-6506-53C6-9880CF02A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2BA4076-36E4-4F29-8902-8C58873AEB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90E97F5-3472-2D60-8080-FCFDA357B3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61100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0FCD9E0-7E02-B04F-7B96-29D9CD095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0C005A0-EA8C-EB5D-0EE2-D5B98A18B2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9BC679B-1DDD-8045-EF1E-109AE7080A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83595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A510942-248E-C5C2-BAE6-781F58CDB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518619F-5967-99D9-9B8E-7EFE091A9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D0CBEF3-4433-632A-644D-644E688AA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33261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D08ED89-3135-BC10-B1A3-44A667E02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A1350AC-B4EF-7B9F-9A04-C163B1524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51BAC6C-2F7D-0F2E-A091-B0D7FDE690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44032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813F534-DA0C-8610-D75B-CC1513563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2BAB6CD-1DC2-234D-20D5-4F4066F91E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639223F-CD60-D2A6-72BE-EBFF61694F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1459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8DE68D8-A926-73BB-3AA9-7CDD152BA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2886C74-15EC-1CEF-63EB-B701BD99D6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11C028A-24DD-B5B1-3287-C1D52F98FE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52564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EB98576-A00D-0CC3-F26A-EA56216AE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7C4A92C-4781-3FA6-E25E-EDE57FD97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4D3F575-6E18-12DD-2FB8-8B34C58CD4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076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E65C2B2-1C21-F747-8ECA-712F0C796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3973897-2E7B-CC0F-9EF8-62B6D68362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6F2C695-93CB-472B-CE2C-B311D2D3E7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90292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5146EF1-07FC-F309-EB2A-C1749CE12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D7B56A7-A8A2-DE24-3EB4-16AEDE569A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4128B73-947D-C7C2-62A4-5D826B6A5E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32435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05E6AE7-2E01-1EA6-07D3-494ED1098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D688D9C-9970-CCB5-EAA8-F1FD605380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E8D5AEF-CAB3-F4FC-A654-FDF194E00E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96015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D42B37B-B055-C151-B647-ED1A3D813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6BC4A09-EA12-F5D9-FA76-666C1EC070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63522A4-323B-F6AB-544F-0BAE0758DF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106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1E4B25C-9BEC-14B0-3FD4-029AEF50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B20572B-655A-DF83-3AEF-FEA8EB954A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F05CEB3-3643-08B2-359D-C7F29465B9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94443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CE96703-0215-F331-C89B-7E11B1296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62B4470-978D-0857-D94B-11B4AAB108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250B1A2-0976-C2E5-C49C-351A92E7D0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80168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738F02B-A5C5-4EEF-9E36-85DBFA16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05FE4D9-95F9-A855-7FDF-0ADCB4CB7E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18AE112-9132-F07F-0360-A3081AF2DB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74486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B44244E-8E67-9906-32D0-590B8BD57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7A938B4-5C38-9683-4E97-C11AAD1E1D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1EEC23F-B7FB-7007-9504-326D6731BD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69303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6AF9F72-3180-8153-4AA9-1D702BF2C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19B3F99-AD8E-05AD-7150-06496CFD44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C65350F-D72E-53B1-76A7-2251D90D81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41994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34B9190-6D26-9797-9839-943C2DFD7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5281A90-2276-9A08-AFD1-F36DA0163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CF192AE-01D3-2F4E-BDC2-21B842AA58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10721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0384DBD-7FE0-7351-ABF2-68DA7D0BC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D1BA81C-5DD4-E8C8-DB90-58608DAA82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EE36F65-4C85-3FD4-F6D3-CA0EDE8F7E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36416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5D03F55-8839-96F9-05DA-753A60EAD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0C8B213-6EAA-1D2B-376F-63178EEC3A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D06EE9F-DAD6-95B4-6582-1969B2BC24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90376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AB27B08-ABEE-5BA8-508A-36289FB61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06D7FC1-8D50-73C9-AB0E-F3937E16C6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1402D01-0B98-332C-E1F8-83B188B00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54866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BE866E8-D6C6-7B84-078F-8CBC6D23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E038E52-24F6-852A-9591-8719FA9E47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3BF81D0-58EB-FC93-7C87-1C4616FE44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53495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A1DFFD5-9F07-8CA7-0840-E58CCA5E3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2EEA6DE-F2DA-002B-05CE-6998C8BD50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C494E5E-3211-E791-66C9-9D7B4D09A5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22792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93FAED2-2578-270F-107B-8E440DF63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A158733-3ED3-10D2-D218-BD1E8F89CD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6C466FD-B642-35FA-5857-F5BF855E9F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779035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B4B42CE-70E7-1B5A-9FBC-E4CC7DFC3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BE97C0F-82F1-790A-6B42-77F203EF2B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8AAC887-7874-C09A-22F3-B1AE6A7BDF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85248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DD33F0F-FE56-6C24-85F7-699B8E1E0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7DA2F84-B553-D5AF-F276-5E8E74A2F4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AC720B3-2A36-A006-10D5-53448486A3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15939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190FD10-D672-5A5F-4E0D-47159A88B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02C0209-92F7-2DFB-F0D5-BB420B36CF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A4DA3D5-C0BA-EC4B-E6B6-58A6A3398E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237242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710E187-0B38-2C78-85EE-5DD66CA02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0762B27-61B0-65FA-922C-B2659C8601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F63ED39-8E69-13CB-D050-53CF119F35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955439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302EAC3-468C-D603-AF01-F87FB6AA8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3F9E5AE-8403-BB62-9065-96EEA7DB05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C8BF2A7-28BE-3311-4D49-A66B35497E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671499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2AFEBEB-2271-C87A-7256-ED5768B8E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E67FCC9-B4FF-7BDB-084A-7A658C8743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8E236DD-3B5E-F105-0372-F4600F3E0F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64993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D43DC80-651B-6FB0-9942-49C64DA8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7F2F75A-C913-58FF-BEA0-EDB89A90A9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BCFC457-9DEA-83AD-BB4E-A5951FF7E9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13596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3556E20-978C-DC23-3DE1-60958AFDD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5BA8189-85F3-B17A-6513-16A9A22166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1D18F96-4FA6-C244-9091-3ECE83D064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141882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975A73D-BDC5-B4D6-9D87-9668761A1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B715842-F95D-2508-81C3-447153CA2C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2EF7E1C-2568-F967-B4C9-4B01CFB48E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320324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0163AAF-C4A5-C8EF-AC0D-7E55A7486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A7DE6DD-2E06-C1B6-3008-EA0247AB2B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70561E2-251B-A9C3-A911-D85CAF7B78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580137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433142D-784A-E5C1-61B1-ADB6D28C2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306BF42-B898-AE8E-CA6A-56E4C2BA49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358B6F4-3C42-E30A-808D-9A1DC22552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24095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1F12497-CEB4-7E9E-EF6F-280A2EFE4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7C574C0-52FA-78F7-82DA-1FD4F5127A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B4B8CC2-2B10-9750-5AA5-F834EDAD69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128714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DFFA0C8-8027-C4CF-EE56-7203ADA42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D0C3AAF-90F5-EC9B-6EA1-4B92C406D0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AFB1E36-ECDB-4E18-0317-48C614F576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57700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52C5F1D-C99C-DE7E-6E59-9C74132E5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715E0D7-85A1-6AD4-7AD2-20DF35F4BD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02A45B9-0334-A2CF-0228-6CA578981F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685771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3396636-791C-3941-1DEB-9C4274CDE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8B34C33-8B91-CB86-445E-70829CC6CB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437BA12-9AAE-A807-6C77-38882734BE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788948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31F0655-4098-7207-8FF3-9128AD1D3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E27BF34-7492-B2E2-8320-C6A8AA7FA2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7D99755-0945-8449-4712-FE5192B909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01500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076615E-B613-29D0-C03E-FDCF307BA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2BA180E-3EB6-13F2-26B1-B7B33D77A1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61D3305-99C4-0F77-EFE2-8AD70A372F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838823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A54A1D5-FB6B-6FD7-C324-6764B668F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98BD7CA-7E85-A760-4216-A49AFA4FA7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CAB700A-C1D5-2D10-986F-3D9B431BD9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438846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70CDE6A-BF85-1A23-7AD2-CCC10CB7A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ED2340C-86BF-804D-1AA6-57FC5C5840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4622906-439E-F5CC-13CE-CD6EC64E3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86066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0E4C935-058D-B30D-D36A-07C908841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9B1528C-70F7-8B51-4521-750FDFF647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AA9F0B8-682D-6AB4-2E10-09BE41EBBD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436543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3209311-3A30-71A6-A993-E00CF4145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09AD769-8E90-095E-C2DD-A7BAE671E4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4E04DFD-F5B1-5568-7868-B2016C8935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419830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0DB7833-2AF4-95EF-96D7-8E940F576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FABD986-3D37-18AA-7A3B-9FA7979A8E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B5AE072-948A-408A-2B16-A26D0FF5C4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17616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0BB516E-F9D8-9E15-4874-5B0F910F9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9EE9492-57E6-E6FE-76A6-1A3C26B41D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A5898B1-C084-5ADB-64AA-0C4FBD3267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38564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8ED1B8B-74AA-1B73-7EA6-77C8FCD51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B298250-205F-6DF7-4D1A-E0587011E2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84617A9-D8FB-EEB9-87CE-6CBC1A70D2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10109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9AA5851-1B00-B8A3-7947-753208821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45A9492-5F37-3223-7900-6B4EDA21BC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052645D-4BA5-CE7D-5D18-CAB16A1842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815930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BE486F5-A26A-84F1-97AB-837DBB37A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5EF1A7D-3DE1-4B30-F427-3897B7D0CA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6EFAFDC-307B-4B39-C8DF-BF22103C5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375933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0E39978-EC56-51B3-6F83-A12019647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7FD80C7-0F97-2400-2E70-4E682A4471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E381193-3EF6-22C6-19EC-8D9109FED9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307700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AD88EE4-638D-EE8C-B16B-EE248C613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63D1E3B-4599-DE6B-A8C1-C078210C42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EF871B0-B8A1-B503-2B71-B1EA03BDBD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316972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589A246-3C39-14BC-33AA-BC2386D78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57AA1D2-8CEB-DDC8-0F28-5114FE0499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9AF91FC-E8C9-3A0B-6647-37CE94A9A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578732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13FFD9B-0475-C34C-2CC2-FD18370AB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3DB4E1A-2D23-CDF0-8A36-13D9E1447F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D48CBB2-6E23-AC02-4461-B7103A673E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333893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3B9B2BF-0166-CFF1-F037-D6ACACE69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2F218AA-F07D-E39A-5043-FB01D1F8E9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ED1CCC2-8C12-40D2-597A-D84420B748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926590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DAD1ED2-E933-F5A1-C6B1-371FA5582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B340CC9-8F63-ABB4-AC8B-DF2ACD8EC8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86C11EE-1401-B0AF-1542-60556ED1C2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59674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20400D5-05B6-C0F4-BE6A-0A7537802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599D0B3-D24F-E314-D100-4C6208F82A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51B0919-0AB5-5455-F218-A454A81C10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645826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F4C3841-6A45-AA96-1C52-53A97F8BD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93EB5AB-E0DD-44D1-DD34-3354249898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4228EB1-DE77-EBE0-5ACC-0FFBE9768B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942795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E3AED5A-483F-D450-EEB8-3268B5119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C906E68-AAD9-5DCD-A31C-1C4B55AF8C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769A6F2-71DC-2D36-CE94-06B2DF26C6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229957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CDD83CE-7CCD-84A1-888F-3ACABE817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AEFC3B7-FDF2-51A7-6EC8-9A8A102E1B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7F529F2-6C46-10B2-B0CF-A0106EB2B8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546891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C72F38B-5BA7-DDA7-8850-5B3A59483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1698613-2D7F-3712-A4A0-27662EFA78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83CFD17-4385-B214-1D19-71E96E1BDB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577248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07D86C7-E981-D6EF-B921-780BC1618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3624A58-2DF2-AF5B-8304-121734B570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C420500-D0B9-DE26-737A-D7BF938D6F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713405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32C8C41-74E9-88A9-B80B-804E13280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F3DB90B-CDD7-ADC2-5847-4D3ABD61C6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EE5A112-5658-A80A-15B9-46C0F5E843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797841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71A6D82-7AED-BC51-9B65-208153AB1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B9EFEB7-23CB-81AF-C1A0-CD02077CA7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B523AB1-FC5D-1815-1CB7-8F74B9E93D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146899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592465B-4CBD-D53F-1283-7BEAA5558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ACEB7DA-BF12-CB3D-908F-4B63E8A314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2F39EC5-ABFA-47C6-9F2C-BB0C756449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147194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05F1597-0A4F-F3FF-540C-FE0A9727E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87667C3-3DA7-D055-E917-32AC07B155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0011EB2-CB2B-E97C-641F-8F64EA98AF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546592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3D3F336-AFB1-21B5-9A35-6322A6626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7147FC9-D929-AE67-40EE-0484B8B2FA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D36513A-8EF2-C033-8C26-CEEC896F2E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031892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DD6C365-5872-4D82-4F4F-81CA51FA5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8038575-10F1-7E22-4576-3897E62BB2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C00F206-DDC2-AAD1-F5A4-6D7C8AC9F1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892044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C78D3B0-2C70-86CD-4964-CFDB83EC9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1CDE6D1-79CD-713B-DEDD-61A7980258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488EAD8-500B-99C5-74A5-C1BA722AD2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093509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628BD7A-4789-6535-8713-AF1FCFE0B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D521C1E-163F-864E-B9C7-4B921E5E76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1B89C59-5BF1-459C-C83A-8567A82895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3181566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73642F4-66FA-8344-F444-F82CF3E25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8D03185-2A04-C450-D79E-0D8F50EBCE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B3C08B9-C4EC-0CAF-59E1-30C808BFAD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4727295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8076759-4455-C2F3-BC12-C032A56E7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6E404ED-279C-2E47-C2D8-467DE3AD60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F99D7D4-54F1-35D8-2429-59A2735647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0898948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8FDC326-093F-97FD-F922-A29E6C197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C449B9D-AE0E-D288-2FE4-4744501C77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D76CA57-606B-81FF-62E7-CF580DFC56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6201866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EC25BA2-F6FF-D796-870E-405D30FD4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2EC4766-12F4-DD69-148B-73C53C28EF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62E8A32-A7E3-0319-46E6-1579A1BC5F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3168536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9C8B5D0-5988-429A-68C2-4693A70E1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FD72EF7-FC96-871E-2D58-6ACAC27FDD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9B8DBC3-C062-C1AE-8EB4-A1DD5412E2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2573999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E3072D2-E5E8-846C-89DF-D8C325DD6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E90D2E1-7121-2F32-4F2A-1269C32D32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B86C6A7-644D-4A5F-60D3-5D26FD9629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6562560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CD5D564-608F-A166-11DE-7D573850C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48FE9F7-5A64-E046-6A04-0A7AA945F4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DB45307-275E-B749-69FA-FFF9FA1CE1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9128002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E80265C-2244-9973-3061-34B9BF7DB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1E07E7E-0DFB-76C3-0ADD-327C6D94A0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DF962C4-8BAC-1965-37CA-4B0BECF7DF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9261918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9BFC838-6F09-6BB8-CC28-3A13AC043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EDA9227-E9B6-A3DA-6A93-BD492197FE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683A441-2282-7BDF-208F-6547A34E0D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6833048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B6EDD36-3D8F-0206-D017-DBED3D638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56D4C02-1139-14C3-C395-AC981849F5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BEFF0A3-F9D4-DD7D-F2E1-893C85F6E2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2977046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5CA4D1C-1D66-639A-0EA0-ECD3503BD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E9766B4-8A42-7B5A-F33B-B4052BB5AA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FC0C44E-5C3C-55E9-B777-A1C469D56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3761524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E51F6FE-7C40-8FD6-929C-583F57AAC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26AC236-0545-71CB-0880-7253B1202C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9B2B61C-8DF9-86F7-9F6D-78C17CD2D2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077663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5C4FCBD-16E9-B5BB-12DE-78334D769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4FA0EC8-31F0-95B5-D8CA-D1A6236C11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6B4CEF3-6F9F-A64C-C564-1B32F14186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3777094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9D5D675-F8AA-5920-EE8D-880A79FC0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AB0303E-FC67-8A6E-A1F7-CB53E23CA1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9C03B44-82C7-67CD-951C-83C7361F44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8615523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22A79F3-81B9-8CAA-001C-47D025255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A68B08F-5F8A-521C-C516-5BEAD0CF0A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D684015-1F98-1F3B-1B5B-AB7DE86256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061619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B051BE4-F914-629A-BC37-D4BB72C3C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94EF08F-82A8-DDA1-485E-414E8F1E84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1B9ABA9-7BFD-3485-40A1-8A4F95F99C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8665009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1CC8CA9-E3C9-0EB2-4628-0987CFDF4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4BE0BD5-B4BC-9404-AA71-0B5C8C30BE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E82B0E3-11EE-7901-4E61-3DA1BC807A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3732717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2C11CC2-61E7-C374-78A7-1EA122019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F98A350-18F6-CEEB-1A88-535BAF5197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2334AD8-2E53-3793-ECAC-3E941B49FF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4216429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A2B38BF-2E7A-6AB5-548F-C9CCFEFA6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4728702-5BBA-0C3B-C33F-74C0426C94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3965B10-6D6A-6071-8104-07AD266C3D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017292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A22BAD2-E954-0977-CACC-83C6FF51B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1572572-7E2C-01BF-0385-3F7BE415B6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C4DF30D-05F9-2AC0-C5B7-862272C241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7201948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B29A514-435C-CC0C-BBCC-B9DF4CD57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C941624-F044-1B11-0DE2-21D87D52DA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0F0A905-08B3-B246-EE39-B8DCF0CC43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2813913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9244E37-79AC-CAB5-CE5F-867A483B1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B075650-19C6-764B-888E-5AED10E9DE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F22826E-5ADE-9B97-70C2-2F43B13550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6586979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04C691C-5FD5-DAFF-92C2-B01264CB1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E7C0138-8090-8197-D6F9-B68D97EF21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B0D99C5-3C48-4356-97D9-7E25AD4873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528043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EEC046B-3262-9E64-79DD-B4718746C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8C64357-CD8C-DF97-15C0-5F79BAD6D1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B6AB0E8-4FFD-C8D2-A030-862DE687D8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2170320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13835C7-E72A-6CD1-D831-4E640A1F3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D10AFC6-2959-D3FC-D945-37D9DB8BB8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975313E-6F3E-66EC-BFA4-FDB443B93B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2156665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C5E55D9-12EA-B95C-035D-7F3555A8A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4831636-F2CF-D7BC-AAE1-06989F0431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30A6B69-A693-9E39-5B92-502AB70941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4919745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A180780-F7BC-A6BF-BD46-AFC57BF13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6CA458E-D55C-367B-7EAD-F40BB5EDF7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F2B188A-1AF5-12D4-8C61-C8CDC67F08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8536717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BEBE76D-61F8-0649-FF9A-FE5F2EB22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1130ED3-360F-3748-C0AA-BF3ADEC3B7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54C9E92-3652-69F7-384A-FD3249C579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754276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1D6AB4B-B566-E4F1-FC83-B3D54152C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A0D88B0-0116-F6BC-1770-B2ABB2AD27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F98F12E-F1D9-D496-1982-881B8D74BC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2150903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3C67693-4156-C65B-1693-F207B40AA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F5F7476-5A23-120C-18AC-55535F6FC0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E5E6E40-A8E9-0611-8D09-AB6C42CF33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4387068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6C2AF4C-3EF4-0F59-606D-CAC8DC3FE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B13BA6F-C5FC-BEB2-2063-0D70735B00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A585A8D-C2B5-14AA-9D89-B438FA43AE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4661744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EBA1F4A-7F25-0185-5EBC-94743DCE5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4E6BFC8-50E4-7F49-BE98-9DC40ADA51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3AB6A60-5B63-8022-110E-F7FABC3EE9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2881644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68C7D3E-DFDD-5ED5-DA73-C97514271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8F10133-9980-340B-C340-5ABA3D146F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319AA62-BF11-5199-E79A-FC31705474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1357184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93F899F-F702-6741-830D-021DDD5C6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9965E25-8A17-1A50-9BBC-11E580C43B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368337E-C914-D3BC-157B-2D94C4B5DE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19278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E60995A-6119-EBB0-9710-5197563E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AC919FC-13E8-30EA-C22F-8072410732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BC04DBA-32DA-BF54-FEF2-417D7C140B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6123723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7A7EA52-DDA7-C2A0-558B-58BD2A10A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91E900C-D820-5F52-681F-6AE3780D22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892BE39-EB62-8058-F8B9-D77AEA061C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6536234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2CEF0AE-F48D-EAF1-E464-0A5FB97AF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534D89B-ED6C-F015-58CF-5F4B65F978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229A07F-4BF3-1119-1513-230543EB65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3805013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DAF22D3-F2EF-BE8B-4228-7862EB5DF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E32B142-10D1-48C3-A3F5-CFD0546BC1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0094A13-8282-19C9-E7E8-3DEBDF6801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881784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17846E7-43E5-6F54-38CC-B30CCA394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15BC369-8D93-0BC3-3D06-E08D4671EC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5CD9BC1-A7D8-FE1A-AD82-E9B5529033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6552459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584D74E-8F35-6561-D7D6-BCEBBE826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90F6388-E747-24B0-9A33-99EB18C7AE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8D08818-DEB8-586D-11AB-AD9B80C628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0277893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0CBA01C-3D5F-94BF-EDA1-D9929E094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A68212B-DA2B-111D-2B2D-E3706519BE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18D2DC4-5FDE-2B58-AA77-623B30985E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8554706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3A72E7D-1B5E-C149-3E42-14B078D60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FA70BF7-9F47-5A0F-5BEB-B67787BDD9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B9B310D-90EE-36BA-7E6C-FDCBA6AAAA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3828587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EB106F4-716F-4052-2DCB-476DFF521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F82F8EB-DC66-8D36-6005-7BC894CB8E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760016E-247A-3506-04DE-4F069739EA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326867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434F971-0052-CD35-1356-42B7DA08E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169836D-3BE7-5963-B3D5-EC92C2CF4C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7798DA3-FC95-4DB7-698C-F46506C726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1900560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81CA508-4BDB-8F18-6420-B74768477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1CA32C3-9053-E005-1481-3353FA51B6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168E051-7D06-7139-8074-2790476163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6533454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77AC5E2-F1C3-7A4F-2C7B-CD92960CB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F1D1C8A-C970-5A3C-23D3-693DDF24BE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9CACA41-0F05-1853-E5AD-1330AD75B8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021566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6FCD6D4-3CA5-21B2-F137-D87684C2D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30BE5DD-1A08-078C-EEDE-739F143CF4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CD29591-D528-251F-AA0B-3F45BC33D7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1912615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8BA062E-3406-943C-C14F-5329EB688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805B9FC-A36F-6D98-232F-22223242C3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99729DF-3C43-8F79-C8E2-21A74FCB3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211398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191F535-48C7-4B61-7BC3-05D40814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B7B98B0-CD6D-F70B-703D-46610B2328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36CC183-A2D7-AA1B-9BCE-8F04C7CF99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3182393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E45F12F-6FFC-307D-B381-F54C4ACD2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BA18498-4596-8650-1825-A1AC515EF7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0556F70-07E9-BF0D-0975-700A6C462B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7384534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36764A8-FB92-E421-E282-5D530B654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05E1A01-B0EC-EEEB-364D-EACE046BFD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8D62DF8-8B9D-1C3A-F275-C59D485C3A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4054203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D321231-A7DB-29A7-369F-5E98FC12C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46AB301-3958-5E22-EAA2-6448AC747F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E02701A-B923-E432-0BAC-7913904B86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3162218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554F19E-87B1-D757-7B3E-15B40D725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4268A13-CEE8-4E71-C9F0-14CBFE03EF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0F6DA3C-3009-CB0B-B9AB-CB4693E213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1909106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D2B22D8-3252-D669-DBC2-65DA2AF98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0C68887-40BA-93E0-CDFD-97981838EF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0FE7C22-8530-6A67-17CA-8A043618E7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2331227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CD2C86D-AEB0-E00B-3CCC-FB999AAA6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B4BDA12-66E0-D974-B8E2-DB50D84057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2EFDA62-8F83-2687-477B-E3F22CD149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7865699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FE037C2-CB03-CDE4-CA43-64235965A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E5B6F1D-53BA-0E9E-A52B-02DA7D9614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DE6F3AD-790A-FD51-42D4-21F890D16F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4887479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FD3DFEE-F7D1-A7FF-D1E6-1A8D08D3D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68D8557-B588-6E54-22D4-2872761837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EA787DB-BE5F-CB27-081B-3412848703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8398950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823704F-6948-543C-A1CA-6002ACA6C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35804A2-9069-6483-6245-4D62658D1B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2F5403E-87F5-CD8D-A97B-C2C6518B17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5542380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CB385C4-F701-708D-5BC5-096CD7BA2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FD6691D-D894-0AD8-5550-83D93A7884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0D51AD9-B198-C400-6621-65FB5F607E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5533474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7DC6E2B-00F7-D160-5E58-A425D654B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5E8A9A8-C733-2879-B722-1635967B29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B405075-5A8E-E119-74F9-18C72369C2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8664506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C61737F-A5BC-DAF8-41C7-569DE0EEC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EE02505-8B64-B9FF-690D-EF21B9E227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FCF69A6-03FC-ED72-0D93-115EBD201D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3878994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EE79651-AEE0-E406-F819-BED15865A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E5EC9E0-2C86-128E-6C5E-AB1F865815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5C6D084-82E2-C209-E30E-EBC4A329D8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3931196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BBD1BBC-D28C-1F36-1DDB-B23D48957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FC204F7-B6B3-DBA2-B653-0440992396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E8A7B63-40C2-ED52-EF58-5322BEFA5E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7392704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4A0F760-E255-B6F9-A009-8A58FE9DB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DBF27BC-282D-E567-7A4C-F42208FDB3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0B10FE5-893F-B52C-313B-34F42CCBC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1759796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80EDD25-A169-CF60-2859-ED91A9049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DD7E164-21F8-06A3-42C2-AF94C3E97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F76738D-551B-0AF1-86A9-83AFECFC11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7297895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52EE780-592C-F96F-3203-DA7A22A5E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249E441-DB31-EB1F-59E7-CD451FABB3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60FA89F-F7E9-D9AC-805A-098B11BFCC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0086013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2FC586E-7F39-25F2-B879-CD314F82D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55830FB-4B10-5D6A-68AE-5960683E8B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9232677-A66F-D547-29A1-1A754FD089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2736628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974FE28-16A5-75B3-315F-5B9CB09E7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51B16AA-E51A-4927-0E5B-25495B8C83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21F05A6-ABB0-CC53-8B0F-72164222B8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8748015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59E306B-BE3C-5033-7F68-01C2561F9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C875428-C4AB-D751-7744-A63C94CB54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BF78C3C-2140-EAE2-6B98-7DF2C5B7D5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3783730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C53368C-A81D-21E3-FE72-FA5365025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BCE81E7-04B2-C497-E0B0-FE7121BE9F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1F40D0C-4A9B-3A4D-A5C1-0F28C0472F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2352235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C53FF77-B0EF-E71D-50BD-0A0431F84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27D08FE-E5FE-6AD7-FB4A-0050BF0EFF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0D9DC57-A072-C6D2-A68A-14C9AD7E14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1629655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F5C2D8F-0BFB-2C03-BA61-17704F1BF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E0A41FD-64EC-761E-BEF2-4D8D32DAC8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B0DE9E3-6A4C-3A90-4526-62C2D9DDA8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7787258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C82AA18-5723-EA6C-F826-1E050E211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25F9692-578B-C004-1AED-32DC5840D1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B31F03F-485E-1C11-031D-D2BFC886AA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4119475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2592635-E086-85DA-9F1F-BB29A7DC0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A37D59C-9652-C90A-90F8-73E1E02A2E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5854063-CE95-5AAA-7B42-40360FED07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0822850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95E8375-86CC-A5BF-C257-B819BEC33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4E96F19-3BC4-63FB-BAD7-C1B661BBF4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BACF548-5BC8-595A-4326-7B0B0080A7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1993525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0EBF60D-1AFD-9701-656C-2FBB03773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7C383E9-8AD5-43DD-DA07-B6C902BE07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FCBFAC7-5B7B-5697-75A6-58EA79A2E7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9048646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AECB48E-C5B0-9135-04E7-A3783943B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74A56E0-A72C-04FD-C7A4-9EE4A7947F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59EF178-26BE-7AF4-CB36-ACF399D9BB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5752332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E696169-7CCC-257C-CBDE-981F8AC90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59FDC8F-99ED-4BC8-ADE1-E31A7F8F18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7ACCAAA-1F64-34A7-7E38-7A393A4DD4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180312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184D77A-2626-2795-D33F-716A6DD75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BA7B288-767E-770D-34A4-BCE76FA60B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54DB10B-2572-9E6D-30FC-5742DCCEEF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4521543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F05E198-4D37-0C99-3ADD-D43F0236F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AD5E2A3-0435-05F9-4C77-D0D1D3B10C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605EDF5-FB27-A0F1-FAFE-9492274132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9686382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87DBCB9-6099-12DD-E457-E91E3A3D4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91C6FA0-E571-CDE9-AF0D-C327BC9403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886A7AB-41E1-56CE-3301-A9BD75728B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5256992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6F3589E-20C1-54E4-4A35-DF215FFB0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2B9D963-4FCA-5FB9-7939-18AC4DA140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A96DC0B-A5DA-E7D0-8F18-70DE35EA6A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3386894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D354120-8C1D-501F-F105-87FF7FA5A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B540634-B9B3-D070-77B7-2FDCC99F36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6A1D395-BE62-AE93-C675-983BE0C4A5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1688110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06B5FDC-11AE-5A68-1DEF-066795B17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7F3D2D1-3519-799C-37A9-96C32467AB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76D826B-B242-CEA5-0251-7EB51C29B0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6842677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300DD9B-E5EB-BD59-93CB-1BDC7854B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BB0273C-9465-4C68-C9D5-B4169C3929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BFA10C9-9FF7-9FF4-CF60-EF9C78CA55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8490203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27DB94B-C96D-3F8F-816D-83AC0362B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1967B46-F219-C94C-8BF1-CB1E155D5F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AD77F87-EB33-BBC6-4D66-8D193DDF0C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837809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A614890-734D-1BFD-DBCF-2FBABA8B5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444CEDF-5016-6836-4AA5-ED34DC4781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4637C1A-6132-C8C8-6BAD-B2DAFF4D96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8745963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A42F542-CA17-DF0F-BBF8-AA147D2A3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58CE113-53DB-5146-4855-F6EE95C350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0CFCFC0-9A0E-804C-25A5-ED85AE2859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145744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949A6EA-FF94-B4B4-881A-EE36C723A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A91E7F7-3955-BCCD-24E5-62F5CCFA70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A8C88E0-A161-0ACC-5B36-3F9FC3D2FC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2046123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1C1A902-EAF2-51E2-F9E1-825B0F7BD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8CA3233-D18F-3F36-6ED4-ECD4D4399B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6B3868F-E09C-A1C7-15B8-911583BBE8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8974879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BD8A995-5FD7-C001-0DEF-11921B9CB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ECE83AD-4616-6C7A-8F58-1AEBE7EC50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4E6D5AE-C741-896B-2F17-EE6AD3AD6A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5244620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EDE1281-9052-FB0F-FFA7-0B8BAA89A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FB393D9-0E06-8AE0-0849-4495707E49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9F54C08-FFFA-C34B-7AFC-9AF71C1765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0081693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FDDD318-2716-5095-A017-B442BBDA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112B66A-F122-1596-385B-EA0A5C6607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8C4C6C8-EAC3-5CD2-0D9D-72879AC37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4101123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ED4D458-686D-A4F1-1455-CDE092EF8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37F33A1-3B29-905F-310B-327B9BCC01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60B5204-BCBC-F812-3AF6-7954C23A93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893225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AF85C87-D730-08E0-FE61-EF3E122B7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100E1E8-3B9A-23C8-0921-9FF00E1C24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6E1FBA5-53D3-B96C-CE77-CEC04E9799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5196417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CB7DF49-8F8E-DBDF-54A7-A304FE3F3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DF20BAA-C4E5-F6F5-0E1A-1E7DCFB6B9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2DFD60F-EC07-A5B1-16B7-4EE3EF98CC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3581495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0950FE2-FEEA-EDA8-3E1D-BA7E324C7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657F4E7-1BAE-7EF1-64A7-FE47BC3C9B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EB5492D-8A83-1DFB-73BD-26B57D6787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3753157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227EB3C-0607-685C-9CD3-8DFF95680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752D5AD-1595-A352-D56E-803DEB8D5D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318A961-6D70-547C-F616-8407AEF1E9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2038484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A23C2F8-C9F2-0D2C-F794-C118E57B8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EE81ED0-EE3A-BDCC-43CF-2D02D705FE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64633D4-8BC1-DB6B-69CD-3199D16CF4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4577769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A45B307-078F-A998-A441-D96E8BE0F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D914E91-9300-C2B9-424A-64E3DA1EA7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71F1497-950B-DF43-950E-FC1D775C18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9815305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9F3211B-FAAA-BF93-A4FF-7AD96203A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949DC97-E9D3-CD13-A686-B89C142A74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5322BE0-3C92-AF2F-5712-76D8AB4CEB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8346287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20B61A8-CCA6-B857-5212-0125A870E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5D8848B-3962-9E26-2E42-889D2FA08B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66C7DDD-A88D-9629-51C2-C979849473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6891622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341BFF2-CC06-926C-F69A-782EBFFA6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8DABBEE-868F-5F36-8154-E4463D954F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69AE126-4BF5-9E61-B025-D2B46C21F0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336006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7D52B4D-1EA4-EC74-C544-A0F7251AB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BB27C3B-9604-A1C0-B390-B0B31A5478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A90A9CC-4FCD-BA37-DE67-0B190A16EC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4855665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1A2CFD2-BA78-B889-8140-FC10056A4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A93D953-5755-2647-254F-234BF0DF24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1DF167F-5E5B-D7E1-23A7-FA75F894C8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8888585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9392050-702E-08E3-BAAB-0508322A0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2DE8C7A-0A5F-5FFA-44C6-959A41071D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5BD81A6-B7D7-8F18-AB7B-A5F2EDF6FD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5148675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F5CD9EF-EF2E-6A52-AE75-2B64D2589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1D656B7-89A6-9CC3-5DEB-806806E49D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939B4A4-368E-8F47-C7E7-BF862E25D7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2613210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4E2F582-B6F8-4D35-B255-FFA455C9D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66E3E54-1281-5F34-EFA1-9FFC17BCBE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712B506-0E75-4F35-5340-69D022A70C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3410179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AD05014-24E9-63C5-BA29-D131C0545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79A4F86-A5F1-F97B-E293-8D7E09C12B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5E4914B-880A-948D-AEAB-F937B8B511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7511436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827698A-EAC1-5E3D-E1D0-3EEBB3360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039C0BC-2E96-4C0D-5732-C62CD86DA6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CD4B8BA-4E34-4A7F-F3E3-B69CC6C0F6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467313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3D092A9-40EC-CA88-BC7B-5992E6856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4051799-FD09-96CF-5BCD-7CFE234BC6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64D65AE-9ECD-E1FB-126E-39B10E81D9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8922784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170816C-838A-C770-3707-8A44FD5B7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E0C9BC7-2767-11E4-7393-CBC5BF55C8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E896EC8-0B83-EA14-B240-5BAA239E9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7585868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14791FE-F742-8E29-1AB8-7C52CFF5E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5A00D10-A1CB-B49B-9D9F-B9B292ED0E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854A52B-8AF1-B71F-A4FA-1A4C98F862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474485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E2943DB-1965-2ABF-5359-EEC43CB2B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3294145-95B7-1897-1B73-CBB62623C8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6337164-B40F-0422-0DFD-3817CC88F6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5772476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92043C6-4916-BBC7-BD27-0264ECA2B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EC6E51D-2F3D-CAA7-ECAF-A5D8B3FBDB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D014EFA-3434-9FD6-A09F-8DF03DC751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244870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ctrTitle"/>
          </p:nvPr>
        </p:nvSpPr>
        <p:spPr>
          <a:xfrm>
            <a:off x="956602" y="1639558"/>
            <a:ext cx="103590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b="1" dirty="0"/>
              <a:t>Lecture 11: </a:t>
            </a: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dirty="0"/>
              <a:t>Introduction to Pandas</a:t>
            </a:r>
            <a:endParaRPr sz="3000"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2897084" y="3885257"/>
            <a:ext cx="8280600" cy="17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SCIF10002 – Introduction to Coding and  Data Analysis for Scientists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 Maullin-Sapey</a:t>
            </a:r>
            <a:endParaRPr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r>
              <a:rPr lang="en-GB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January 2026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0/17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571AD050-9705-B8C8-1525-B8DE75632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3C57341C-F943-C3E6-321E-E3C6A36F9C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C9F076A-B230-00FE-4760-25A9C763D11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835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A5A10BA6-50D1-44A6-CFB0-42F76801A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45DB3B1A-A6AF-58BC-9A93-EA32F15B98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B517C7F7-4278-98AA-9299-A8D5B64FD870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11: Introduction to Pandas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What is Pandas?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The Pandas </a:t>
            </a: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Accessing Elements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3586E12-7BF8-77D6-1B2A-0347208A9AD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8232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E5BFA99A-A154-6B96-A138-790869A4C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BE382823-3305-3095-36FB-135D8B1005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65404A33-00C8-E9B3-80E0-C36535EB26FC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11: Introduction to Pandas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What is Pandas?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The Pandas </a:t>
            </a: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Accessing Elements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12: Pandas Preprocessing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Loading Data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Exploratory Investigation</a:t>
            </a:r>
            <a:endParaRPr lang="en-GB" sz="8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Data Type Conversion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EC94519-E96B-507F-7C09-E5C8A194443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694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942F813-E0E4-C43D-A1BF-C3CA25412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C7D044D-82FA-1E4D-EC81-9895F671FBC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6D21184-A05D-6DBB-B1F6-10BEC0426A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What is Pandas?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B672A53-B0D2-DE31-6D54-764DE924C92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995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65B4F79-5B50-9423-7927-5E091A191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C013A63-A104-BE0F-FF72-1AFD474CF13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9C73CA3-A114-BF96-3AB6-109E528C4908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the Python library for data science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0BFDFAC-2F80-794E-FD86-98D48E6192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What is Pandas?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04D3870-F300-EDB3-85C7-AEB80CA06D6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3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3B97849-7B16-CB34-1AF0-FFF9DA986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D4D78F8-CE7E-4F14-D0C8-8D58B8B5399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C3FDB2B-B44C-E8C8-C220-5AEB9232638E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the Python library for data science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513F794-DE14-6BA5-9A2F-ED994F0E29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What is Pandas?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D329FB4-48B9-E73D-A2B5-53EE1F95679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BA550D-DB25-30DF-900D-A37C216599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804" t="47789" r="65000" b="46429"/>
          <a:stretch>
            <a:fillRect/>
          </a:stretch>
        </p:blipFill>
        <p:spPr>
          <a:xfrm>
            <a:off x="8610599" y="1969883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78706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DA0AA57-EB11-56EC-8784-4A53CF861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0504773-6EDF-D586-0E90-56C3C6B5B3F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AAE6B1E-8437-4F8F-D65F-C35403E07BB6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the Python library for data science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CB1CBDE-1530-1F26-4610-10834CA42B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What is Pandas?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21DC988-479B-E91E-0A46-A1856D32506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059E17-7B74-D469-D644-67B560040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277" y="3144950"/>
            <a:ext cx="3222173" cy="114407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4FCC54-A64B-5C8C-DA9D-7874CB0367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804" t="47789" r="65000" b="46429"/>
          <a:stretch>
            <a:fillRect/>
          </a:stretch>
        </p:blipFill>
        <p:spPr>
          <a:xfrm>
            <a:off x="8610599" y="1969883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87147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366CA71-B69E-DCC1-553B-2567A203E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95908D1-D38E-59CD-2868-C549EB4BC7A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9FA3309-535A-A273-5052-7FA162D922F0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the Python library for data science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Powerful Python library for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manipulation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1FEC7A6-1C6D-E5EC-6593-3CFED98C2E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What is Pandas?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252A9AF-FE65-5F71-CEE5-A4FB81285C8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349143-FBE3-5D5D-A321-A5312B678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277" y="3144950"/>
            <a:ext cx="3222173" cy="114407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2268F6-6689-6D61-DFE5-555F7D6A36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804" t="47789" r="65000" b="46429"/>
          <a:stretch>
            <a:fillRect/>
          </a:stretch>
        </p:blipFill>
        <p:spPr>
          <a:xfrm>
            <a:off x="8610599" y="1969883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92724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C42E34C-3B8B-5355-C6DE-4AD8FACC4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5F44E91-40E1-1FD0-B783-AFDAD27D767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67E3B4E-6E45-2F40-7D7D-1698CC0FA385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the Python library for data science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Powerful Python library for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manipulation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Works with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tabulated data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2C9771B-4BEF-2AF7-4C4F-7AC214A4A3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What is Pandas?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4DD2D94-AA53-3FE4-5D25-1C4418E84DB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629386-2324-A810-3AF5-DB12FE2D0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277" y="3144950"/>
            <a:ext cx="3222173" cy="114407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717702-46BE-C5A2-9FD3-61C1BBDF9D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804" t="47789" r="65000" b="46429"/>
          <a:stretch>
            <a:fillRect/>
          </a:stretch>
        </p:blipFill>
        <p:spPr>
          <a:xfrm>
            <a:off x="8610599" y="1969883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16663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1D55E6C-5FCA-0C97-303D-F2BA4FB74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7B65387-B4C5-B65A-E34E-29E437CDA38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E48E2F7-F4DD-1227-EA1C-83F01B3E282A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the Python library for data science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Powerful Python library for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manipulation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Works with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tabulated data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Combines features of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lists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numpy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arrays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dictionaries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B5F9CDD-0818-A542-8877-4629CC31DD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What is Pandas?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F77F0F7-3718-00AF-E6DE-E76D2232C79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D2CFEC-A3C8-FDB4-23D3-E625B7132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277" y="3144950"/>
            <a:ext cx="3222173" cy="114407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89D7FC-29ED-CAD7-9446-147115712E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804" t="47789" r="65000" b="46429"/>
          <a:stretch>
            <a:fillRect/>
          </a:stretch>
        </p:blipFill>
        <p:spPr>
          <a:xfrm>
            <a:off x="8610599" y="1969883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31134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BF9F5AB-3FAE-EE1D-BDD8-39427ED46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AFB1F50-A7B0-3AF7-A226-384BE5A553CD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5A3F731-7222-1572-0075-F9A4B1945A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1CB26B2-6DBB-051C-130F-D786E18D402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726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777C198-92D6-A678-CFC7-5D4D761FF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291852A-0301-5D61-713F-71752F832D44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FB405E5-A8EF-F227-5CA5-DC495A6613A3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us to store tabular data. 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7D24E0C-3E36-652A-AB53-309313409A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FAAC7D5-642C-2FCA-0239-0426ACF9D24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038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A60E93F-DE9A-F741-3D28-78BDD75D5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D0EE46E-7ED6-0B56-B918-2AAE7369A6E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23291D5-D853-A9B9-3440-840A742770B6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us to store tabular data. E.g.: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5FC9F40-BE73-06FB-4E37-14E862F122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800B124-3B76-8695-B9B3-49A1C464A03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342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01E83A2-85BF-22D3-5C29-512CDE1FB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FFD3338-B7D1-2C50-606D-1973FD838AB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66414EA-F755-AB17-C5EB-200DB162AE82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us to store tabular data. E.g.: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9A03A51-FD2B-74DE-17A8-946C7BB9A2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A73F8EF-EECF-EBF5-C160-0E92320DA26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3D04ECE-D864-043D-E9F7-462C2C87C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8728" y="2879161"/>
            <a:ext cx="3696381" cy="2621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0009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BB467EF-557F-2B68-7986-52E1C4D99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C7B87C9-D329-DD28-8C68-F7511CC629E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72AF7B4-BA78-870A-AA08-989751205117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us to store tabular data. E.g.: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line is an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observation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72E05AA-E575-9A49-760C-F2446C8346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80B305E-9422-7A7E-6026-9D650FF8640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ADDF15F-D0DF-EC26-4CCC-23CBF99A0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8728" y="2879161"/>
            <a:ext cx="3696381" cy="2621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0322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99BDC8D-FF3D-0CF2-F4AA-A4EBE6243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694AE36-0B7D-4FF6-95C7-61EDA57FD43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D3093CF-E417-E619-F32E-9F7F0FE08869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us to store tabular data. E.g.: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line is an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observation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column represents a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 of measurement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A025081-A88E-6F9C-4978-9B734782D1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AFE2BCA-9CE7-510B-7C56-A135F92DDB8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9BFA84-329F-E9D8-ACEB-BCF052420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8728" y="2879161"/>
            <a:ext cx="3696381" cy="2621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548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896E457-A3FB-5794-05F2-8EE766123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0096AEE-9B1D-0439-1349-2557C41A497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1571359-672A-4596-D9E9-14878E6A8356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us to store tabular data. E.g.: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line is an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observation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column represents a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 of measurement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necessarily numerical!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835B33D-31F5-8D70-9DF9-961986F2CD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3866173-80EA-E635-DA1B-C277C48D7BC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4D39E2-1ECF-1FAA-DD37-626EC245B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8728" y="2879161"/>
            <a:ext cx="3696381" cy="2621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4670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2A160D4-5F76-ADCC-B987-C4A5FF768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E3A6065-E6C5-1E41-B919-A2BF190176E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330FADD-362D-F57F-6FFE-3FF4124E9B99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us to store tabular data. E.g.: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line is an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observation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column represents a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 of measurement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necessarily numerical!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Tables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are a new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datatype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39388E6-69F5-AE8F-4322-53D8447101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69C86CA-34DB-9950-5D94-FFEFA2A0703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EF64579-6299-AB3D-C144-815C1AB2E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8728" y="2879161"/>
            <a:ext cx="3696381" cy="2621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8128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1FD1AB5-07FF-356C-85D9-6D6ACD06C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956776B-8B3E-09F7-0852-372439CBA58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81A62A2-2F79-44B1-7251-1EEA8BC0AB8F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us to store tabular data. E.g.: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line is an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observation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column represents a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 of measurement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necessarily numerical!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Tables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are a new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datatype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pandas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DataFrame</a:t>
            </a: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5AFF028-1CC3-B5DF-F60F-C88ED70431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8632950-80BF-D86B-1331-0F264FAFD2D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F13365-8C5F-5CD1-4864-7E0E33D99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8728" y="2879161"/>
            <a:ext cx="3696381" cy="2621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4798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04AE4B0-BA13-AF3F-4508-75BEAB5F1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3A82850-E76D-7FBC-D2F2-9480B6D951D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28FBC26-BAC7-5A97-4B31-135EDED68AA0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us to store tabular data. E.g.: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line is an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observation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column represents a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 of measurement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necessarily numerical!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Tables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are a new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datatype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pandas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DataFrame</a:t>
            </a: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Much like an array, but designed for arbitrary data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066B839-B7E8-2E6C-CAB9-A10EAA9530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02A7377-7F22-D318-3717-A3C4676B35E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E0F8BFA-2FE0-2E66-B13A-6C94A1661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8728" y="2879161"/>
            <a:ext cx="3696381" cy="2621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1396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3BDE6FA-1D54-4305-D54A-A95EF53BD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F035764-A26F-5D47-6D13-1C154E1FB44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5BB2BE4-6AE5-5848-BC45-E2E1E2892A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ECD635E-3108-5371-C56D-98190A96889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319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2C4DDC9-6504-057E-EB7E-383008C2D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3CEFDE8-E584-5B14-4923-E18619D48E34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04A6DA1-A97A-BE4B-8959-04D8DF7F4FEB}"/>
              </a:ext>
            </a:extLst>
          </p:cNvPr>
          <p:cNvSpPr txBox="1"/>
          <p:nvPr/>
        </p:nvSpPr>
        <p:spPr>
          <a:xfrm>
            <a:off x="1150369" y="1934694"/>
            <a:ext cx="80973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does not assume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table entries have a specific format/datatype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6002482-6ED8-C5C9-412F-FFE1389742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BF117F7-01F4-816F-EC5C-7B7005248C3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5532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EE0272F-7D97-312A-D339-B0C7BED2A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20F2A7F-6B2E-09B9-5341-A8DFA8A286BD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ABEB2ED-B2B1-F5DE-0E37-B28DB18E8B45}"/>
              </a:ext>
            </a:extLst>
          </p:cNvPr>
          <p:cNvSpPr txBox="1"/>
          <p:nvPr/>
        </p:nvSpPr>
        <p:spPr>
          <a:xfrm>
            <a:off x="1150369" y="1934694"/>
            <a:ext cx="80973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does not assume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table entries have a specific format/datatype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a result, it can be used to read a wide range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file types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formats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DDDEE9D-2C6E-CC52-CF71-93B66D7799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0EFB882-7F59-C47A-0695-21438B66941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0800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12FCF0C-1076-4D2F-F55F-A3761FCB7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0CED800-4C45-22F3-E81A-5415E897D3B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22F342A-131B-94BA-35B7-1E318225D071}"/>
              </a:ext>
            </a:extLst>
          </p:cNvPr>
          <p:cNvSpPr txBox="1"/>
          <p:nvPr/>
        </p:nvSpPr>
        <p:spPr>
          <a:xfrm>
            <a:off x="1150369" y="1934694"/>
            <a:ext cx="80973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does not assume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table entries have a specific format/datatype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a result, it can be used to read a wide range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file types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formats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A5E77CD-79AD-5512-F8D3-215AE95A2C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4B5CB4D-70CD-B29F-99EF-A74F08B9AD3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E5D17D8-3112-2E36-508D-D5924FB14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698" y="3226315"/>
            <a:ext cx="8398329" cy="264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B4F01E4A-0C1E-7FB5-9392-3A4341A222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4105275" y="3255707"/>
            <a:ext cx="6153150" cy="250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6C2A13-2608-879D-5EE1-AF983D147D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2162175" y="4962525"/>
            <a:ext cx="8176051" cy="85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E4526B-7638-6A69-6F25-DDD4453FB5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1773973" y="4256402"/>
            <a:ext cx="8176051" cy="85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4B6065-96BC-26D1-FBAD-3CB064536D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2865580" y="3402455"/>
            <a:ext cx="8176051" cy="85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65833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B4BA6F1-CD84-74B2-41B0-70FC745A5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EA4966F-E2FC-2F41-B0F4-0F01EC86849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9E6A722-27EB-657A-41F7-2AB704821C17}"/>
              </a:ext>
            </a:extLst>
          </p:cNvPr>
          <p:cNvSpPr txBox="1"/>
          <p:nvPr/>
        </p:nvSpPr>
        <p:spPr>
          <a:xfrm>
            <a:off x="1150369" y="1934694"/>
            <a:ext cx="80973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does not assume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table entries have a specific format/datatype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a result, it can be used to read a wide range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file types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formats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1F02F16-FCF7-D93F-C467-3EC7D85F04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CB584B8-BC65-3113-2BB1-BAA546B4090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E028BE4-E9E0-2DD0-6BFF-786C20581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698" y="3226315"/>
            <a:ext cx="8398329" cy="264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2A0E1AB8-9B80-19CB-CACA-273A4F9E99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4105275" y="3255707"/>
            <a:ext cx="6153150" cy="250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301E33-41AC-947D-4645-D43C913A61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2162175" y="4962525"/>
            <a:ext cx="8176051" cy="85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CAC426-4A42-7C03-ED59-BB4F7785C0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1773973" y="4256402"/>
            <a:ext cx="8176051" cy="85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5B8D69-39FA-1AEC-8220-031678205F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3467100" y="3402455"/>
            <a:ext cx="7574531" cy="85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95007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1940B2A-8027-7C3C-BFC0-C498071C8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6D13559-B0EE-9886-4D12-652A6284FA0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CE8507A-08AC-6387-867D-F4D4E08F47E1}"/>
              </a:ext>
            </a:extLst>
          </p:cNvPr>
          <p:cNvSpPr txBox="1"/>
          <p:nvPr/>
        </p:nvSpPr>
        <p:spPr>
          <a:xfrm>
            <a:off x="1150369" y="1934694"/>
            <a:ext cx="80973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does not assume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table entries have a specific format/datatype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a result, it can be used to read a wide range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file types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formats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7666759-7FD9-BE58-A5A6-D74132FD09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544BCE3-F5E2-D214-83A4-AA9449C9837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23C7785-B334-7137-2789-9443CFD91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698" y="3226315"/>
            <a:ext cx="8398329" cy="264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73EB9243-5A25-4725-8058-7B061873F8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4105275" y="3255707"/>
            <a:ext cx="6153150" cy="250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6D7013-75C9-5772-9A0F-680F4F79A9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2162175" y="4962525"/>
            <a:ext cx="8176051" cy="85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20B50D-8120-74AC-391A-610BF6A713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1773973" y="4256402"/>
            <a:ext cx="8176051" cy="85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03607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AE98B60-BCC1-AC54-4AFE-FD1403A49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7251B23-E8BC-E967-FFBE-B2CE499BA20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346BB9D-A6E5-7587-071E-B7D90CF92DDA}"/>
              </a:ext>
            </a:extLst>
          </p:cNvPr>
          <p:cNvSpPr txBox="1"/>
          <p:nvPr/>
        </p:nvSpPr>
        <p:spPr>
          <a:xfrm>
            <a:off x="1150369" y="1934694"/>
            <a:ext cx="80973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does not assume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table entries have a specific format/datatype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a result, it can be used to read a wide range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file types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formats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AF85731-0397-4B57-8156-902B873795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6A12328-4215-DC79-FCD1-FAE38A5E97E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A6933AF-2A8A-C8DE-D341-2502911F5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698" y="3226315"/>
            <a:ext cx="8398329" cy="264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C65A3EFA-C76D-6521-E3AD-4627F9525C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4105275" y="3255707"/>
            <a:ext cx="6153150" cy="250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C04A33-967B-96AC-A38E-3BD6206E4D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2162175" y="4962525"/>
            <a:ext cx="8176051" cy="85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C84787-73CA-22EC-DEB5-D447A1E830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2847975" y="4256402"/>
            <a:ext cx="7130624" cy="85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1691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07F3D2A-D7CF-C0E1-EFDA-BD73E0A3A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A351B4C-7DB4-D549-1213-003EA82A2BC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2A109E8-A01B-0273-9EAA-228314A152CD}"/>
              </a:ext>
            </a:extLst>
          </p:cNvPr>
          <p:cNvSpPr txBox="1"/>
          <p:nvPr/>
        </p:nvSpPr>
        <p:spPr>
          <a:xfrm>
            <a:off x="1150369" y="1934694"/>
            <a:ext cx="80973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does not assume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table entries have a specific format/datatype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a result, it can be used to read a wide range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file types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formats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F9F61D2-5C8E-5E81-CA77-3CC283DFEB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364FAD6-81A9-FC19-2B3B-F8BD8A701F4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1EE36D5-4A31-5AC4-907A-F4B6CAC70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698" y="3226315"/>
            <a:ext cx="8398329" cy="264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94056ABD-211B-6D2B-2191-5B56DF548E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4105275" y="3255707"/>
            <a:ext cx="6153150" cy="250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832B05-809E-B376-09D1-1C8FBF5099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2162175" y="4962525"/>
            <a:ext cx="8176051" cy="85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EB974A-B15C-1F4B-630B-17B63323DC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3467099" y="4256402"/>
            <a:ext cx="6511499" cy="85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09101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4724F8E-109B-2004-6681-6E074E9CB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098A09E-0C74-34A9-A50E-D6945E7BDD6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A7686D9-A041-79C3-B73A-90EE2A0C4FE1}"/>
              </a:ext>
            </a:extLst>
          </p:cNvPr>
          <p:cNvSpPr txBox="1"/>
          <p:nvPr/>
        </p:nvSpPr>
        <p:spPr>
          <a:xfrm>
            <a:off x="1150369" y="1934694"/>
            <a:ext cx="80973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does not assume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table entries have a specific format/datatype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a result, it can be used to read a wide range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file types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formats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83AC733-E526-ED79-7A26-C12FA6F15B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259E4B3-CECA-7473-05B3-0021FA07398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6AACF84-4C70-55D4-FACC-9A44FF3EF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698" y="3226315"/>
            <a:ext cx="8398329" cy="264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4D5127E9-1210-04D5-7679-2CA9979050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4105275" y="3255707"/>
            <a:ext cx="6153150" cy="250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50FCB0-8F74-83F0-99AD-5D22681085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2162175" y="4962525"/>
            <a:ext cx="8176051" cy="85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73548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78077AF-4F8A-7E81-D422-48E11D9AB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CFCA5C4-FF91-7A40-0514-4DD4BD7F6B3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EA93FAA-3B6D-A1EE-CCDF-14B25E44245C}"/>
              </a:ext>
            </a:extLst>
          </p:cNvPr>
          <p:cNvSpPr txBox="1"/>
          <p:nvPr/>
        </p:nvSpPr>
        <p:spPr>
          <a:xfrm>
            <a:off x="1150369" y="1934694"/>
            <a:ext cx="80973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does not assume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table entries have a specific format/datatype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a result, it can be used to read a wide range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file types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formats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CC7EEEB-FD46-EECB-A189-232AA7DE44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03A5C8E-AC8B-98D5-FC3F-DF2261D6153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4C6FDD1-6123-B0EC-A46C-018C706FA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698" y="3226315"/>
            <a:ext cx="8398329" cy="264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43D39FCE-BF5D-3EEF-0B95-ACFC48465E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4105275" y="3255707"/>
            <a:ext cx="6153150" cy="250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88EDAE-3519-75EE-0AA0-CE75307E30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2857500" y="4962525"/>
            <a:ext cx="7480726" cy="85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11365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DF0BBBE-F233-E7FA-0348-B73E0EEBB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50D9FE1-8911-CB0C-D225-534D3D271D0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C46D485-67BC-64B9-554B-FE4B078487D9}"/>
              </a:ext>
            </a:extLst>
          </p:cNvPr>
          <p:cNvSpPr txBox="1"/>
          <p:nvPr/>
        </p:nvSpPr>
        <p:spPr>
          <a:xfrm>
            <a:off x="1150369" y="1934694"/>
            <a:ext cx="80973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does not assume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table entries have a specific format/datatype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a result, it can be used to read a wide range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file types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formats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8114D72-D65D-3159-0948-23CCD0693B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ACC87BB-14C5-6A44-4FB9-8132265BF76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22D7502-D204-383D-06D3-93D83BF3C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698" y="3226315"/>
            <a:ext cx="8398329" cy="264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FF017836-A421-CE6A-CA91-62D4BF87EA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4105275" y="3255707"/>
            <a:ext cx="6153150" cy="250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1140A8-956C-83D6-1ED5-C08B5ECE29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3486150" y="4962525"/>
            <a:ext cx="6852076" cy="85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54684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5AC7A14-5E5B-AEAF-B7D3-F3EE5649D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8E98A1D-C6F4-DD4F-C242-7F7150BB99D4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9E76010-9A23-EB47-2175-8D08B84D2E39}"/>
              </a:ext>
            </a:extLst>
          </p:cNvPr>
          <p:cNvSpPr txBox="1"/>
          <p:nvPr/>
        </p:nvSpPr>
        <p:spPr>
          <a:xfrm>
            <a:off x="1150369" y="1934694"/>
            <a:ext cx="80973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does not assume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table entries have a specific format/datatype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a result, it can be used to read a wide range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file types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formats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05CCC65-D097-4CE4-FBA7-D733580C81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BE394E4-DF8F-7201-CAA4-DB1432462FD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3AA26C4F-8392-8809-E602-7060E9149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698" y="3226315"/>
            <a:ext cx="8398329" cy="264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D5CAA8F8-0672-A7CB-C29E-C15D7001FF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4105275" y="3255707"/>
            <a:ext cx="6153150" cy="250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4464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B1EB111-466A-7AE9-E8D0-F6A73F852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2586040-ADD9-6CED-7BE2-850F5F257DF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8DFDDD1-BE42-722B-5642-725264E5F590}"/>
              </a:ext>
            </a:extLst>
          </p:cNvPr>
          <p:cNvSpPr txBox="1"/>
          <p:nvPr/>
        </p:nvSpPr>
        <p:spPr>
          <a:xfrm>
            <a:off x="1150369" y="1934694"/>
            <a:ext cx="80973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does not assume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table entries have a specific format/datatype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a result, it can be used to read a wide range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file types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formats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F56281F-C9EE-2EAD-6D33-B0EDFCE090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9483F4C-5798-9DD5-53E1-0E4638FD2E7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ED5838EF-6AEE-9044-9867-B20AC7D71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698" y="3226315"/>
            <a:ext cx="8398329" cy="264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48C14DD8-998B-F305-AAE7-449DEC91B2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4933949" y="3255707"/>
            <a:ext cx="5324475" cy="250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86530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7A5D7EC-731A-E23A-6558-CC04BAB79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9AE83E1-D109-1FF1-872F-D68C1FF9668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5008D4C-831D-548A-2E73-CCE76AC33077}"/>
              </a:ext>
            </a:extLst>
          </p:cNvPr>
          <p:cNvSpPr txBox="1"/>
          <p:nvPr/>
        </p:nvSpPr>
        <p:spPr>
          <a:xfrm>
            <a:off x="1150369" y="1934694"/>
            <a:ext cx="80973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does not assume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table entries have a specific format/datatype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a result, it can be used to read a wide range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file types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formats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A72E184-35DE-C6CF-4121-2D919F8C84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065E9E3-6D34-04DF-F177-E933F4CFD74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6219C77-E2DF-C2D4-D761-5136976CE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698" y="3226315"/>
            <a:ext cx="8398329" cy="264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DF6B8073-925B-AF9E-FADA-A1D76E82C6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7553325" y="3255707"/>
            <a:ext cx="2705099" cy="250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79487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E1DE8CB-EBCE-A243-7E0F-47FA0E2D2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C3BBEDD-7406-9FF6-AB95-FEB9E33428D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B8B412F-C6BF-CB2E-08F0-DE8313CB13A3}"/>
              </a:ext>
            </a:extLst>
          </p:cNvPr>
          <p:cNvSpPr txBox="1"/>
          <p:nvPr/>
        </p:nvSpPr>
        <p:spPr>
          <a:xfrm>
            <a:off x="1150369" y="1934694"/>
            <a:ext cx="80973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does not assume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table entries have a specific format/datatype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a result, it can be used to read a wide range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file types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formats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83D70C4-BD3E-EDC2-AE0F-AAC092C53B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31F7799-859E-4E7A-13F4-7C0C7818685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E05C4F22-A0D5-A4D6-2171-DB43FA876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698" y="3226315"/>
            <a:ext cx="8398329" cy="264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E00D6DCD-AA90-93C5-C405-1EA46A124F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1" t="68266" r="67341" b="3242"/>
          <a:stretch>
            <a:fillRect/>
          </a:stretch>
        </p:blipFill>
        <p:spPr bwMode="auto">
          <a:xfrm>
            <a:off x="8362949" y="3255707"/>
            <a:ext cx="1895475" cy="250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3012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623C437-1870-27EA-9933-9A7B2BACD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DDF0EE2-01BD-2D51-8A0C-F8310369A64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2A03DA8-2A15-70B4-D610-6BD3FD2499DB}"/>
              </a:ext>
            </a:extLst>
          </p:cNvPr>
          <p:cNvSpPr txBox="1"/>
          <p:nvPr/>
        </p:nvSpPr>
        <p:spPr>
          <a:xfrm>
            <a:off x="1150369" y="1934694"/>
            <a:ext cx="80973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does not assume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table entries have a specific format/datatype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a result, it can be used to read a wide range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file types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formats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63B3BE8-B6CD-E315-4E6C-2DA7C48DD8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Powerful Tables: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ABE824A-3540-C816-7C42-4C546C8905B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AAB8DB3-102C-BA1A-9BE4-6A66C58CB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698" y="3226315"/>
            <a:ext cx="8398329" cy="264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75478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7D92570-8A2F-033C-262F-B17D0D95E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8A529B4-BDCD-2E1F-FC8F-7C30382E971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8E4E77B-4239-A878-CEE5-6C78956C9E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Terminology: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DD83F7A-BE7E-711D-7FD6-8F8444F3899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6477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DDE4C19-3143-FE20-C7D1-406CCF388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FBE4A3E-38BB-A1C7-B39E-364113ECA73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734760A-EAC5-6571-2495-A6CCF1587E65}"/>
              </a:ext>
            </a:extLst>
          </p:cNvPr>
          <p:cNvSpPr txBox="1"/>
          <p:nvPr/>
        </p:nvSpPr>
        <p:spPr>
          <a:xfrm>
            <a:off x="1150369" y="2283037"/>
            <a:ext cx="41757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Pandas can be created from Python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dictionaries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94999ED-FD0A-3B80-B59C-73C717C4D8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Terminology: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0DFBCEA-EE6D-67A7-C603-29D961A9DCF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5528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51E04D5-0A7B-5DA3-5B73-84A80AF4B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B8E11AA-9A03-8794-C04A-EA0EBDD2BA5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5972D19-F8A7-75B0-3AC7-4848D59916D0}"/>
              </a:ext>
            </a:extLst>
          </p:cNvPr>
          <p:cNvSpPr txBox="1"/>
          <p:nvPr/>
        </p:nvSpPr>
        <p:spPr>
          <a:xfrm>
            <a:off x="1150369" y="2283037"/>
            <a:ext cx="41757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Pandas can be created from Python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dictionaries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B0497F3-75CD-5983-8F91-08FAC3BDC1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Terminology: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05E3462-D3DA-FBCE-D69B-262A901D779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0F0A87-DC71-AA09-1E17-40894FEF89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48470" r="27233" b="25850"/>
          <a:stretch>
            <a:fillRect/>
          </a:stretch>
        </p:blipFill>
        <p:spPr>
          <a:xfrm>
            <a:off x="5812971" y="2338331"/>
            <a:ext cx="5029993" cy="11867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462300-721A-C0CC-04CC-AA3EB422A6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29" t="63476" r="27233" b="25850"/>
          <a:stretch>
            <a:fillRect/>
          </a:stretch>
        </p:blipFill>
        <p:spPr>
          <a:xfrm>
            <a:off x="5832021" y="3015422"/>
            <a:ext cx="4994729" cy="493272"/>
          </a:xfrm>
          <a:prstGeom prst="rect">
            <a:avLst/>
          </a:prstGeom>
          <a:ln>
            <a:noFill/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0A69F9-2E2A-5004-03CA-E6E4FC545E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29" t="63476" r="27233" b="25850"/>
          <a:stretch>
            <a:fillRect/>
          </a:stretch>
        </p:blipFill>
        <p:spPr>
          <a:xfrm>
            <a:off x="5832021" y="2390776"/>
            <a:ext cx="4994729" cy="77628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87468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21E5429-8BD6-C124-69F8-317542F14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25803D2-682D-BFC3-20F0-704930BB5EB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CC53ACC-2E5A-D147-E59A-7EB7444B1327}"/>
              </a:ext>
            </a:extLst>
          </p:cNvPr>
          <p:cNvSpPr txBox="1"/>
          <p:nvPr/>
        </p:nvSpPr>
        <p:spPr>
          <a:xfrm>
            <a:off x="1150369" y="2283037"/>
            <a:ext cx="41757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Pandas can be created from Python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dictionaries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CA4C02E-C8AF-B90F-7C48-68BF9E529D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Terminology: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ECB2B2D-6833-58C4-E8D3-F5649522F21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D3EFD7-05C0-E0EE-FF20-2A8F3013E8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48470" r="27233" b="25850"/>
          <a:stretch>
            <a:fillRect/>
          </a:stretch>
        </p:blipFill>
        <p:spPr>
          <a:xfrm>
            <a:off x="5812971" y="2338331"/>
            <a:ext cx="5029993" cy="11867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6AF193-67C2-673A-F1EF-7CE757F605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29" t="63476" r="27233" b="25850"/>
          <a:stretch>
            <a:fillRect/>
          </a:stretch>
        </p:blipFill>
        <p:spPr>
          <a:xfrm>
            <a:off x="5832021" y="3015422"/>
            <a:ext cx="4994729" cy="493272"/>
          </a:xfrm>
          <a:prstGeom prst="rect">
            <a:avLst/>
          </a:prstGeom>
          <a:ln>
            <a:noFill/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EF8A2C-7757-2F1B-9999-F08BBB73F8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29" t="63476" r="27233" b="25850"/>
          <a:stretch>
            <a:fillRect/>
          </a:stretch>
        </p:blipFill>
        <p:spPr>
          <a:xfrm>
            <a:off x="7024688" y="2390776"/>
            <a:ext cx="3802062" cy="77628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30252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FD3F938-A801-1B8E-3C97-114C4151B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5027654-E79F-D038-D7C4-054B49101ED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A7093D7-8149-6CC8-43A5-DC701686CA37}"/>
              </a:ext>
            </a:extLst>
          </p:cNvPr>
          <p:cNvSpPr txBox="1"/>
          <p:nvPr/>
        </p:nvSpPr>
        <p:spPr>
          <a:xfrm>
            <a:off x="1150369" y="2283037"/>
            <a:ext cx="41757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Pandas can be created from Python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dictionaries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0902859-E457-4FA6-F769-4FA943059F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Terminology: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F468D8B-221D-833C-929F-06C9FE5E3F5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F3B470-EACE-B6FC-C642-1A36119ED3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48470" r="27233" b="25850"/>
          <a:stretch>
            <a:fillRect/>
          </a:stretch>
        </p:blipFill>
        <p:spPr>
          <a:xfrm>
            <a:off x="5812971" y="2338331"/>
            <a:ext cx="5029993" cy="11867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EA45C1-DD86-7099-4A3E-705CC5137F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29" t="63476" r="27233" b="25850"/>
          <a:stretch>
            <a:fillRect/>
          </a:stretch>
        </p:blipFill>
        <p:spPr>
          <a:xfrm>
            <a:off x="5832021" y="3015422"/>
            <a:ext cx="4994729" cy="493272"/>
          </a:xfrm>
          <a:prstGeom prst="rect">
            <a:avLst/>
          </a:prstGeom>
          <a:ln>
            <a:noFill/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3981CD-0213-9708-6A23-2580075022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29" t="63476" r="27233" b="25850"/>
          <a:stretch>
            <a:fillRect/>
          </a:stretch>
        </p:blipFill>
        <p:spPr>
          <a:xfrm>
            <a:off x="7024688" y="2590800"/>
            <a:ext cx="3802062" cy="57626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47901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95AC5D0-F59D-8C1F-A650-AEBB7764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699488A-B0D2-B191-89F0-9304C2A31F1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44B0C88-8176-AAFD-18DA-6D0E9EF3A1E1}"/>
              </a:ext>
            </a:extLst>
          </p:cNvPr>
          <p:cNvSpPr txBox="1"/>
          <p:nvPr/>
        </p:nvSpPr>
        <p:spPr>
          <a:xfrm>
            <a:off x="1150369" y="2283037"/>
            <a:ext cx="41757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Pandas can be created from Python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dictionaries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95E851F-087B-78E7-D930-F6BBD8C737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Terminology: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91C60C5-F884-AC9A-F64B-921A7FCE75B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919D86-239D-CA99-379F-84265535F6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48470" r="27233" b="25850"/>
          <a:stretch>
            <a:fillRect/>
          </a:stretch>
        </p:blipFill>
        <p:spPr>
          <a:xfrm>
            <a:off x="5812971" y="2338331"/>
            <a:ext cx="5029993" cy="11867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1B32C8-6BB6-470E-93A6-1884E4B3C4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29" t="63476" r="27233" b="25850"/>
          <a:stretch>
            <a:fillRect/>
          </a:stretch>
        </p:blipFill>
        <p:spPr>
          <a:xfrm>
            <a:off x="5832021" y="3015422"/>
            <a:ext cx="4994729" cy="493272"/>
          </a:xfrm>
          <a:prstGeom prst="rect">
            <a:avLst/>
          </a:prstGeom>
          <a:ln>
            <a:noFill/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560441-B657-67AF-0F71-8B0F64CE16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29" t="63476" r="27233" b="25850"/>
          <a:stretch>
            <a:fillRect/>
          </a:stretch>
        </p:blipFill>
        <p:spPr>
          <a:xfrm>
            <a:off x="7024688" y="2752724"/>
            <a:ext cx="3802062" cy="41433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04677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18835E1-6176-873D-6671-A7F89E0A4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79B07D6-CEC9-A953-C7E1-F4F55802E88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32625F6-4C16-2807-268D-C38A59205D2D}"/>
              </a:ext>
            </a:extLst>
          </p:cNvPr>
          <p:cNvSpPr txBox="1"/>
          <p:nvPr/>
        </p:nvSpPr>
        <p:spPr>
          <a:xfrm>
            <a:off x="1150369" y="2283037"/>
            <a:ext cx="41757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Pandas can be created from Python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dictionaries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F34A5D1-7471-7102-5CD2-9995E996F2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Terminology: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34222F2-65B3-D9F3-749E-A1E6C545931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234006-E2DC-96ED-C6A3-AA92E500B0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48470" r="27233" b="25850"/>
          <a:stretch>
            <a:fillRect/>
          </a:stretch>
        </p:blipFill>
        <p:spPr>
          <a:xfrm>
            <a:off x="5812971" y="2338331"/>
            <a:ext cx="5029993" cy="11867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EAD5CE-6476-5639-BE12-3855326E92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29" t="63476" r="27233" b="25850"/>
          <a:stretch>
            <a:fillRect/>
          </a:stretch>
        </p:blipFill>
        <p:spPr>
          <a:xfrm>
            <a:off x="5832021" y="3015422"/>
            <a:ext cx="4994729" cy="49327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46344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B390C82-858D-ABB9-8AE0-E990D0D63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6E397CB-48E8-32C6-75A5-B62B7FA57B4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595833D-67C2-8BAF-AEBE-7D6B37D43A5E}"/>
              </a:ext>
            </a:extLst>
          </p:cNvPr>
          <p:cNvSpPr txBox="1"/>
          <p:nvPr/>
        </p:nvSpPr>
        <p:spPr>
          <a:xfrm>
            <a:off x="1150369" y="2283037"/>
            <a:ext cx="41757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Pandas can be created from Python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dictionaries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35C79CA-E9B7-9583-96EB-6574CB2B06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Terminology: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B41FE6E-EF45-6158-D92B-C37F25D8272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9DF258-B4BD-9CAE-682F-863B13D2EA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48470" r="27233" b="25850"/>
          <a:stretch>
            <a:fillRect/>
          </a:stretch>
        </p:blipFill>
        <p:spPr>
          <a:xfrm>
            <a:off x="5812971" y="2338331"/>
            <a:ext cx="5029993" cy="11867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510C42-9C82-05B3-C1A1-7BFA40082B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29" t="63476" r="27233" b="25850"/>
          <a:stretch>
            <a:fillRect/>
          </a:stretch>
        </p:blipFill>
        <p:spPr>
          <a:xfrm>
            <a:off x="5832021" y="3338512"/>
            <a:ext cx="4994729" cy="17018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93505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D56BA8D-A1AA-0A11-B567-B2CC5C590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DE1E434-1866-0256-EAE0-82D3DBFD671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FC0402D-3308-98C3-4BF1-6F39638E5A47}"/>
              </a:ext>
            </a:extLst>
          </p:cNvPr>
          <p:cNvSpPr txBox="1"/>
          <p:nvPr/>
        </p:nvSpPr>
        <p:spPr>
          <a:xfrm>
            <a:off x="1150369" y="2283037"/>
            <a:ext cx="41757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Pandas can be created from Python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dictionaries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A4E179E-7588-E4FE-D715-15EE2D83AB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Terminology: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E980347-2507-2711-1555-724AE28FAD3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90EE88-AAF4-DCE8-3775-AF21BFC315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48470" r="27233" b="25850"/>
          <a:stretch>
            <a:fillRect/>
          </a:stretch>
        </p:blipFill>
        <p:spPr>
          <a:xfrm>
            <a:off x="5812971" y="2338331"/>
            <a:ext cx="5029993" cy="11867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060595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9E52BF1-76C8-B3DE-CF88-FA5B7780B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8772F0E-29AA-5627-B48C-06C61BAD1DA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17036FA-8F76-B021-CD92-F750483AD85D}"/>
              </a:ext>
            </a:extLst>
          </p:cNvPr>
          <p:cNvSpPr txBox="1"/>
          <p:nvPr/>
        </p:nvSpPr>
        <p:spPr>
          <a:xfrm>
            <a:off x="1150369" y="2283037"/>
            <a:ext cx="41757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Pandas can be created from Python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dictionaries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6D03520-EA79-9578-BDEB-4BD4470EAB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Terminology: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996E3E4-AA2E-2EA1-3B20-0814B7DEB9D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266D66-BAA7-FCE7-F754-3B00CC901D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48470" r="27233" b="25850"/>
          <a:stretch>
            <a:fillRect/>
          </a:stretch>
        </p:blipFill>
        <p:spPr>
          <a:xfrm>
            <a:off x="5812971" y="2338331"/>
            <a:ext cx="5029993" cy="11867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017DEE-E318-D93B-CC48-0F497FDEE5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57" t="57823" r="57321" b="16497"/>
          <a:stretch>
            <a:fillRect/>
          </a:stretch>
        </p:blipFill>
        <p:spPr>
          <a:xfrm>
            <a:off x="8148358" y="3848098"/>
            <a:ext cx="2694606" cy="13296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891308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0CACCE8-51A8-EBF7-9DE0-269CC6EB9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5AFAC17-63D6-A2EF-A1DB-1F20BE3E7E5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833B71A-C97D-EE52-8430-0649D35AD5AE}"/>
              </a:ext>
            </a:extLst>
          </p:cNvPr>
          <p:cNvSpPr txBox="1"/>
          <p:nvPr/>
        </p:nvSpPr>
        <p:spPr>
          <a:xfrm>
            <a:off x="1150369" y="2283037"/>
            <a:ext cx="41757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Pandas can be created from Python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dictionaries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Rows are accessed via labels known as </a:t>
            </a:r>
            <a:r>
              <a:rPr lang="en-GB" sz="16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indices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B57017E-D799-B574-95EC-78411A3D4D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Terminology: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31119E0-CB94-C0A2-47E0-35B251DCD30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07173E-2175-DDBD-7808-FE4980824D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48470" r="27233" b="25850"/>
          <a:stretch>
            <a:fillRect/>
          </a:stretch>
        </p:blipFill>
        <p:spPr>
          <a:xfrm>
            <a:off x="5812971" y="2338331"/>
            <a:ext cx="5029993" cy="11867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C47C9D-C0D7-FE91-EAB4-BD2C3DF062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57" t="57823" r="57321" b="16497"/>
          <a:stretch>
            <a:fillRect/>
          </a:stretch>
        </p:blipFill>
        <p:spPr>
          <a:xfrm>
            <a:off x="8148358" y="3848098"/>
            <a:ext cx="2694606" cy="13296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62917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5D7FA52-D148-AE8A-6E90-DD06CF619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A78091C-89CE-3F58-2413-979076C933F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F061840-EB2E-4852-0559-A3B618B332EC}"/>
              </a:ext>
            </a:extLst>
          </p:cNvPr>
          <p:cNvSpPr txBox="1"/>
          <p:nvPr/>
        </p:nvSpPr>
        <p:spPr>
          <a:xfrm>
            <a:off x="1150369" y="2283037"/>
            <a:ext cx="41757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Pandas can be created from Python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dictionaries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Rows are accessed via labels known as </a:t>
            </a:r>
            <a:r>
              <a:rPr lang="en-GB" sz="16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indices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Indices don’t have to be numerical!</a:t>
            </a:r>
            <a:b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8B4896A-3778-D0B0-F827-B08ECB0519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Terminology: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AFB90F4-B4E8-5D80-0E09-EB7749CC558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90ED2B-BB85-A881-A947-0C449194F6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48470" r="27233" b="25850"/>
          <a:stretch>
            <a:fillRect/>
          </a:stretch>
        </p:blipFill>
        <p:spPr>
          <a:xfrm>
            <a:off x="5812971" y="2338331"/>
            <a:ext cx="5029993" cy="11867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9E8C9F-3F73-53CA-6DA7-655EF3C95C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57" t="57823" r="57321" b="16497"/>
          <a:stretch>
            <a:fillRect/>
          </a:stretch>
        </p:blipFill>
        <p:spPr>
          <a:xfrm>
            <a:off x="8148358" y="3848098"/>
            <a:ext cx="2694606" cy="13296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534642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C55C754-F353-7F6D-B168-B1608165A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A65EB34-B4E6-6DA2-DF90-731F68048E7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07EFBDE-7E7C-EF8F-8872-CF00A246C612}"/>
              </a:ext>
            </a:extLst>
          </p:cNvPr>
          <p:cNvSpPr txBox="1"/>
          <p:nvPr/>
        </p:nvSpPr>
        <p:spPr>
          <a:xfrm>
            <a:off x="1150369" y="2283037"/>
            <a:ext cx="41757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Pandas can be created from Python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dictionaries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Rows are accessed via labels known as </a:t>
            </a:r>
            <a:r>
              <a:rPr lang="en-GB" sz="16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indices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Indices don’t have to be numerical!</a:t>
            </a:r>
            <a:b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Columns of a pandas </a:t>
            </a:r>
            <a:r>
              <a:rPr lang="en-GB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dataframe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known as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series</a:t>
            </a:r>
            <a:b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343D268-0A8D-E7A7-E9B0-AF4B15E3CF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Terminology: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99BD0B7-2F97-41AC-2658-461112DA7BF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A45625-D26E-786A-601C-9E08A73963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48470" r="27233" b="25850"/>
          <a:stretch>
            <a:fillRect/>
          </a:stretch>
        </p:blipFill>
        <p:spPr>
          <a:xfrm>
            <a:off x="5812971" y="2338331"/>
            <a:ext cx="5029993" cy="11867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C73008-B6B7-1534-53C4-9C0C671EB1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57" t="57823" r="57321" b="16497"/>
          <a:stretch>
            <a:fillRect/>
          </a:stretch>
        </p:blipFill>
        <p:spPr>
          <a:xfrm>
            <a:off x="8148358" y="3848098"/>
            <a:ext cx="2694606" cy="13296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327232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E5B13BD-562C-8050-BC0E-73DD3631C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F2754B2-9409-6391-0853-2D2D204D3AC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21D5591-1562-801F-4952-C4DDC4CB38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600" dirty="0"/>
              <a:t>Terminology: The Pandas </a:t>
            </a:r>
            <a:r>
              <a:rPr lang="en-GB" sz="4600" dirty="0" err="1"/>
              <a:t>DataFrame</a:t>
            </a:r>
            <a:endParaRPr lang="en-GB" sz="4600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CFA2DE8-FC4E-2E30-B1A8-DF47ECFE444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C8B901-5B54-BEF3-E354-9D375EECD1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57" t="57823" r="57321" b="16497"/>
          <a:stretch>
            <a:fillRect/>
          </a:stretch>
        </p:blipFill>
        <p:spPr>
          <a:xfrm>
            <a:off x="8148358" y="3848098"/>
            <a:ext cx="2694606" cy="13296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90897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F21A5A5-DCFC-07A9-D06A-E2950AE67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9350FDC-7743-232B-CFD0-808A3C82DAE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CC9C3BC-2E3D-68A8-93D9-35513ADDE5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Rows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CB5A16E-2390-4590-6EB0-372DFBECDEA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5951D2-AECA-9765-DAE2-FDA13BCAC1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57" t="57823" r="57321" b="16497"/>
          <a:stretch>
            <a:fillRect/>
          </a:stretch>
        </p:blipFill>
        <p:spPr>
          <a:xfrm>
            <a:off x="8148358" y="3848098"/>
            <a:ext cx="2694606" cy="13296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191007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BBDCF06-62FB-A266-6727-972CB7C77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A252BE3-2820-CC79-0C6E-F8EF9933228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AAA9378-2FF1-B658-F536-E599CD95DD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Rows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A427252-B84E-666A-CBF4-9F2CC0B1911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29CA86-84AB-727B-5CA4-7F58813D4C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57" t="57823" r="57321" b="16497"/>
          <a:stretch>
            <a:fillRect/>
          </a:stretch>
        </p:blipFill>
        <p:spPr>
          <a:xfrm>
            <a:off x="8343552" y="284303"/>
            <a:ext cx="2694606" cy="13296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211127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1178A67-8E45-3C65-DD62-48EFFC943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59C232A-010C-73A0-27B2-2904A1637BC4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F928AB2-B523-510A-9195-3823E00A5A69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access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rows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B0355A9-74AA-9C10-9413-26CB3707D4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Rows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681A688-DB70-9178-779C-5D767800CE7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B3C8E5-3942-706A-CCC5-691B8EE2B8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57" t="57823" r="57321" b="16497"/>
          <a:stretch>
            <a:fillRect/>
          </a:stretch>
        </p:blipFill>
        <p:spPr>
          <a:xfrm>
            <a:off x="8343552" y="284303"/>
            <a:ext cx="2694606" cy="13296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842205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BB07992-801C-3973-10AD-551C7060F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B2148E6-9DC2-7FA5-5FF9-C9FD2D4BF93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EA96D25-DA81-AA5F-05C9-6FCB331AAEC5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access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rows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default, the index is set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0,1,2,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7DE132A-FEA7-2502-5100-A053CAA197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Rows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91CF3BE-4F91-8A3D-2DF4-336DF6A1EE5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AFF1D7-D9E6-32F9-37C2-A10723F7E6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57" t="57823" r="57321" b="16497"/>
          <a:stretch>
            <a:fillRect/>
          </a:stretch>
        </p:blipFill>
        <p:spPr>
          <a:xfrm>
            <a:off x="8343552" y="284303"/>
            <a:ext cx="2694606" cy="13296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472500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4EF83B5-1869-C073-F06A-9A8D768E4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1B372BE-24C9-5125-30FD-A830715A355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5E72DB6-86F6-D851-63E6-FF72F74FA31F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access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rows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default, the index is set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0,1,2,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we can set meaningful labels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set_index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function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0D4FA0D-B9BB-93EB-4EF1-0CB7FD33BA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Rows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D0A1DB2-B8AB-1251-3A82-2A6D690346F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A68418-9221-B1EB-66B7-02687E8A9B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57" t="57823" r="57321" b="16497"/>
          <a:stretch>
            <a:fillRect/>
          </a:stretch>
        </p:blipFill>
        <p:spPr>
          <a:xfrm>
            <a:off x="8343552" y="284303"/>
            <a:ext cx="2694606" cy="13296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594743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C0CC8B4-9113-42C6-F56B-14A637BB7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8649FC5-BB8E-6CCE-9EC0-662CBABA7AA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60E4101-38E1-27BF-2470-88E87EB9664F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access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rows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default, the index is set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0,1,2,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we can set meaningful labels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set_index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function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001B956-E115-2FDC-BD94-4A42A5007F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Rows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7D1B83C-4A19-FDC6-E35B-2426EFD7886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6165F1-92EE-FDF6-D983-60AC939D1C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5510" r="56142" b="56803"/>
          <a:stretch>
            <a:fillRect/>
          </a:stretch>
        </p:blipFill>
        <p:spPr>
          <a:xfrm>
            <a:off x="7910451" y="1925274"/>
            <a:ext cx="3127707" cy="10286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0DB06D-A49F-7E5C-548F-77DDE941B0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57" t="57823" r="57321" b="16497"/>
          <a:stretch>
            <a:fillRect/>
          </a:stretch>
        </p:blipFill>
        <p:spPr>
          <a:xfrm>
            <a:off x="8343552" y="284303"/>
            <a:ext cx="2694606" cy="13296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5B15F1-CFB7-EBE3-12EC-1E2B95B1DA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253" t="39288" r="56142" b="56803"/>
          <a:stretch>
            <a:fillRect/>
          </a:stretch>
        </p:blipFill>
        <p:spPr>
          <a:xfrm>
            <a:off x="7913626" y="1956533"/>
            <a:ext cx="3075049" cy="9837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48166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CE21FCA-0F99-BA8D-6193-71960A91C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83C3F89-E957-882B-A1AC-5AB68696A47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CEB8343-9C9D-F0D2-1F52-AB2249A5C215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access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rows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default, the index is set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0,1,2,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we can set meaningful labels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set_index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function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A9B1D87-A373-CABF-923A-74CB63C0F5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Rows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3F284A0-3D5F-9AD0-F477-B7CCF042EC7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D700F8-910A-E708-37CB-85A01187A0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5510" r="56142" b="56803"/>
          <a:stretch>
            <a:fillRect/>
          </a:stretch>
        </p:blipFill>
        <p:spPr>
          <a:xfrm>
            <a:off x="7910451" y="1925274"/>
            <a:ext cx="3127707" cy="10286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399EB0-30CE-6413-FA65-DE71B5E087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57" t="57823" r="57321" b="16497"/>
          <a:stretch>
            <a:fillRect/>
          </a:stretch>
        </p:blipFill>
        <p:spPr>
          <a:xfrm>
            <a:off x="8343552" y="284303"/>
            <a:ext cx="2694606" cy="13296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098C12-5063-F429-9F9C-C25928906C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253" t="39288" r="56142" b="56803"/>
          <a:stretch>
            <a:fillRect/>
          </a:stretch>
        </p:blipFill>
        <p:spPr>
          <a:xfrm>
            <a:off x="7913626" y="2228047"/>
            <a:ext cx="3075049" cy="71218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97351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94AFA77-DE10-01D3-4FED-C9A6E6217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152A0DA-868E-DA7E-CDE8-56EC92BF082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43B0706-96C6-7C26-9B44-2AA3B8D7D890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access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rows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default, the index is set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0,1,2,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we can set meaningful labels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set_index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function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C098880-2864-B828-61AF-21D28669A8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Rows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D0617A5-107A-C6F4-3247-C4C1E4FD50C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70298D-98CF-1EBD-2994-63CFF84185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5510" r="56142" b="56803"/>
          <a:stretch>
            <a:fillRect/>
          </a:stretch>
        </p:blipFill>
        <p:spPr>
          <a:xfrm>
            <a:off x="7910451" y="1925274"/>
            <a:ext cx="3127707" cy="10286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5FF14F-C979-5A21-4853-E92A08A81B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57" t="57823" r="57321" b="16497"/>
          <a:stretch>
            <a:fillRect/>
          </a:stretch>
        </p:blipFill>
        <p:spPr>
          <a:xfrm>
            <a:off x="8343552" y="284303"/>
            <a:ext cx="2694606" cy="13296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380D8C-51FF-CA0C-B565-76E6CE5E38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253" t="39288" r="56142" b="56803"/>
          <a:stretch>
            <a:fillRect/>
          </a:stretch>
        </p:blipFill>
        <p:spPr>
          <a:xfrm>
            <a:off x="7913626" y="2428875"/>
            <a:ext cx="3075049" cy="5113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32538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978E0EB-EC3F-95E4-BF64-668F6946B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4048568-8747-3901-A7CC-8902C0D1DF5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A2E1862-CF04-473D-1602-012F59585F54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access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rows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default, the index is set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0,1,2,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we can set meaningful labels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set_index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function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2E852D8-3D8A-47B6-4E5A-48EC105C87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Rows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14745A7-2BEF-E63F-9DD7-F2E3DC34460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95641D-5463-778C-DF59-E3EC856484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5510" r="56142" b="56803"/>
          <a:stretch>
            <a:fillRect/>
          </a:stretch>
        </p:blipFill>
        <p:spPr>
          <a:xfrm>
            <a:off x="7910451" y="1925274"/>
            <a:ext cx="3127707" cy="10286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A1229C-C283-0941-B9CC-593080BACF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57" t="57823" r="57321" b="16497"/>
          <a:stretch>
            <a:fillRect/>
          </a:stretch>
        </p:blipFill>
        <p:spPr>
          <a:xfrm>
            <a:off x="8343552" y="284303"/>
            <a:ext cx="2694606" cy="13296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A62FFD-E2F1-C714-BBDA-B2A088C5BF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227" t="58874" r="62809" b="11377"/>
          <a:stretch>
            <a:fillRect/>
          </a:stretch>
        </p:blipFill>
        <p:spPr>
          <a:xfrm>
            <a:off x="8578393" y="3126669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399DE5-6EBB-5C0D-FB4A-0B054AF783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253" t="39288" r="56142" b="56803"/>
          <a:stretch>
            <a:fillRect/>
          </a:stretch>
        </p:blipFill>
        <p:spPr>
          <a:xfrm>
            <a:off x="7913626" y="2428875"/>
            <a:ext cx="3075049" cy="5113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28869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8DD8B58-EB18-4B96-FA53-BF0E935F0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D9E9454-2673-91EF-2F5F-C986958A57D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F060170-0309-7953-7A4E-3840C7C4B393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access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rows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default, the index is set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0,1,2,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we can set meaningful labels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set_index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function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 then access rows via these labels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.loc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function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9C6BB75-D347-7ADB-F4DD-741C9A4F1F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Rows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20880F4-2148-5AF6-6DCF-01762BFDD8F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DDCBDC-2114-9862-0C03-5E5796AD0B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5510" r="56142" b="56803"/>
          <a:stretch>
            <a:fillRect/>
          </a:stretch>
        </p:blipFill>
        <p:spPr>
          <a:xfrm>
            <a:off x="7910451" y="1925274"/>
            <a:ext cx="3127707" cy="10286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7D823F-0CA3-7C14-352B-3707E502A5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57" t="57823" r="57321" b="16497"/>
          <a:stretch>
            <a:fillRect/>
          </a:stretch>
        </p:blipFill>
        <p:spPr>
          <a:xfrm>
            <a:off x="8343552" y="284303"/>
            <a:ext cx="2694606" cy="13296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2EFBC7-36E4-BDCB-D58C-5333A346A14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227" t="58874" r="62809" b="11377"/>
          <a:stretch>
            <a:fillRect/>
          </a:stretch>
        </p:blipFill>
        <p:spPr>
          <a:xfrm>
            <a:off x="8578393" y="3126669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C0FC33-EA94-6C73-D1BD-C5D478D510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253" t="39288" r="56142" b="56803"/>
          <a:stretch>
            <a:fillRect/>
          </a:stretch>
        </p:blipFill>
        <p:spPr>
          <a:xfrm>
            <a:off x="7913626" y="2428875"/>
            <a:ext cx="3075049" cy="5113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90199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D1828F0-F9EE-EF49-96CF-E536347F3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DF229EC-F3B1-2770-7278-6539B5E818A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507F336-C588-2081-CA6F-2379F6B82271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access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rows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default, the index is set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0,1,2,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we can set meaningful labels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set_index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function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 then access rows via these labels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.loc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function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5A59006-ACCB-9377-D131-2C96FBCBFD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Rows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552EAF7-0F84-8CF0-B654-5580F3DABE3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5FDE0F-52D3-D732-D408-C230A213EA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5510" r="56142" b="56803"/>
          <a:stretch>
            <a:fillRect/>
          </a:stretch>
        </p:blipFill>
        <p:spPr>
          <a:xfrm>
            <a:off x="7910451" y="1925274"/>
            <a:ext cx="3127707" cy="10286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086AE2-C517-55AF-BDF9-183C0D455D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57" t="57823" r="57321" b="16497"/>
          <a:stretch>
            <a:fillRect/>
          </a:stretch>
        </p:blipFill>
        <p:spPr>
          <a:xfrm>
            <a:off x="8343552" y="284303"/>
            <a:ext cx="2694606" cy="13296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0E2E55-B5EB-1378-D3C1-B06CBA162C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227" t="58874" r="62809" b="11377"/>
          <a:stretch>
            <a:fillRect/>
          </a:stretch>
        </p:blipFill>
        <p:spPr>
          <a:xfrm>
            <a:off x="8578393" y="3126669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C5977A-ABB2-A69C-9DDE-91DE3F61DB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253" t="39288" r="56142" b="56803"/>
          <a:stretch>
            <a:fillRect/>
          </a:stretch>
        </p:blipFill>
        <p:spPr>
          <a:xfrm>
            <a:off x="7913626" y="2714761"/>
            <a:ext cx="3075049" cy="22547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6196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AFEAFBD-F848-1515-2EDD-10F4DC1D0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20F3C7A-E116-7CD7-0ED4-D660C80F9A2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CD08B95-5FB0-DD33-DF71-2855E5677873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access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rows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default, the index is set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0,1,2,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we can set meaningful labels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set_index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function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 then access rows via these labels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.loc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function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FE47F20-87E6-B476-75CC-4C333C7C40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Rows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178A2E7-6FFF-5DB9-0B44-9F8FA8770E8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B07838-AB80-EB32-85E9-E6D52DD625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5510" r="56142" b="56803"/>
          <a:stretch>
            <a:fillRect/>
          </a:stretch>
        </p:blipFill>
        <p:spPr>
          <a:xfrm>
            <a:off x="7910451" y="1925274"/>
            <a:ext cx="3127707" cy="10286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67A3E3-FFD8-7FA0-57A4-85B10AB553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57" t="57823" r="57321" b="16497"/>
          <a:stretch>
            <a:fillRect/>
          </a:stretch>
        </p:blipFill>
        <p:spPr>
          <a:xfrm>
            <a:off x="8343552" y="284303"/>
            <a:ext cx="2694606" cy="13296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5226FD-2802-017E-8138-93AE6DDDBC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227" t="58874" r="62809" b="11377"/>
          <a:stretch>
            <a:fillRect/>
          </a:stretch>
        </p:blipFill>
        <p:spPr>
          <a:xfrm>
            <a:off x="8578393" y="3126669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113863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C2B1E2B-3DBB-2153-A58C-D2691C2F0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0FEC196-7AA3-DA93-B36D-424892DE944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5350495-A6C6-5325-FCB6-7527F2F1CA0D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access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rows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default, the index is set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0,1,2,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we can set meaningful labels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set_index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function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 then access rows via these labels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.loc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function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6310E83-5E00-4DA7-4319-33BDC2F21D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Rows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3A7866E-24F1-7389-F008-128B0D140EC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59B5E8-8722-B68C-121B-F7F549D54D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5510" r="56142" b="56803"/>
          <a:stretch>
            <a:fillRect/>
          </a:stretch>
        </p:blipFill>
        <p:spPr>
          <a:xfrm>
            <a:off x="7910451" y="1925274"/>
            <a:ext cx="3127707" cy="10286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A38DE6-7759-39FC-3AAC-6EDB8B0429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68866" r="57589" b="7247"/>
          <a:stretch>
            <a:fillRect/>
          </a:stretch>
        </p:blipFill>
        <p:spPr>
          <a:xfrm>
            <a:off x="8865503" y="4972352"/>
            <a:ext cx="2172654" cy="10172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15CD11-089E-3193-5397-95AB1345AE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57" t="57823" r="57321" b="16497"/>
          <a:stretch>
            <a:fillRect/>
          </a:stretch>
        </p:blipFill>
        <p:spPr>
          <a:xfrm>
            <a:off x="8343552" y="284303"/>
            <a:ext cx="2694606" cy="13296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46A973-9C00-956F-3DAE-9ACEDF24EBF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227" t="58874" r="62809" b="11377"/>
          <a:stretch>
            <a:fillRect/>
          </a:stretch>
        </p:blipFill>
        <p:spPr>
          <a:xfrm>
            <a:off x="8578393" y="3126669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5871976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7F5F924-2EE5-24E8-1943-5E5E98E47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2A9A2AC-2320-98A8-DE67-9F7CECFFE52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723C454-4D19-8EEB-B5D0-E5469A093B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Rows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54510C3-F191-2A94-8CC8-742C3F643BA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078747-E320-E630-0D3D-57ED7ABE34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27" t="58874" r="62809" b="11377"/>
          <a:stretch>
            <a:fillRect/>
          </a:stretch>
        </p:blipFill>
        <p:spPr>
          <a:xfrm>
            <a:off x="8578393" y="3126669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4293060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ADF7401-E5EE-632A-5050-B1B34F4F5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01F519F-7DE3-C7D7-D0E6-F5A5AD4FB5C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1BC51E2-261C-D461-DA97-6528E7299C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Columns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5BFAB38-488C-611F-A359-2B7D4BAA157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C9AFC5-06EE-2353-0785-E36BC8A381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27" t="58874" r="62809" b="11377"/>
          <a:stretch>
            <a:fillRect/>
          </a:stretch>
        </p:blipFill>
        <p:spPr>
          <a:xfrm>
            <a:off x="8578393" y="3126669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603848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4C134C1-EA20-F8FD-8282-DD1A6075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4D5C42A-5287-88D7-A252-DBEFA388B65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58C8414-0F2E-9D3F-4EF8-D8A9971AFE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Columns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5F00F03-B4B5-CD7D-E65B-46FBA3D916B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FD7115-6CEA-80BB-E145-0F8CF87359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3851611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425AB3E-B9EF-1CC4-6F8E-8F9FE5E35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5F3E61E-9804-2F64-88CA-7D894619814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29AB8B6-45E1-2E92-1F3C-0DFC57024BC4}"/>
              </a:ext>
            </a:extLst>
          </p:cNvPr>
          <p:cNvSpPr txBox="1"/>
          <p:nvPr/>
        </p:nvSpPr>
        <p:spPr>
          <a:xfrm>
            <a:off x="1159797" y="1934694"/>
            <a:ext cx="465654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Columns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accessed using their names and square brackets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FF65914-6E2F-3317-328B-53965E3EC5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Columns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9189230-9769-698C-A443-A188D7E8E0E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3E69E8-C6FD-7FD8-BB08-734FDE0CC1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9318660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EE13883-C61F-BC85-DF56-1B82F57B9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B228114-BBC8-6B7D-7038-492BBB0CCC1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B922D4B-D43C-DE44-2A7A-058ED583876A}"/>
              </a:ext>
            </a:extLst>
          </p:cNvPr>
          <p:cNvSpPr txBox="1"/>
          <p:nvPr/>
        </p:nvSpPr>
        <p:spPr>
          <a:xfrm>
            <a:off x="1159797" y="1934694"/>
            <a:ext cx="465654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Columns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accessed using their names and square brackets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dataframe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column_name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]</a:t>
            </a: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A9425F2-D5AF-0449-8701-2A4A0E4512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Columns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2B4A356-8EC7-9348-9882-088129CD2B5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812789-7131-C70E-62CC-3C2E95ADC3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1586319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A346FC9-06E9-67F5-DE40-94B1956F7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30DD577-FD8E-C7B6-D127-FC0D22B01F2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15ECF20-3E00-FFCD-5CE4-BD186CEC8296}"/>
              </a:ext>
            </a:extLst>
          </p:cNvPr>
          <p:cNvSpPr txBox="1"/>
          <p:nvPr/>
        </p:nvSpPr>
        <p:spPr>
          <a:xfrm>
            <a:off x="1159797" y="1934694"/>
            <a:ext cx="465654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Columns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accessed using their names and square brackets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dataframe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column_name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]</a:t>
            </a: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E3F2B60-5558-5EAC-4926-63DBFA462C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Columns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5AB0321-4F8D-F509-7017-E7125284660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20090C-2321-FE8E-AD2C-2671E5CED0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0095" r="47589" b="52218"/>
          <a:stretch>
            <a:fillRect/>
          </a:stretch>
        </p:blipFill>
        <p:spPr>
          <a:xfrm>
            <a:off x="7368357" y="2428494"/>
            <a:ext cx="3663846" cy="9248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E624B7-F6C2-83D2-073A-A7EAD35C6E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EAEB63-E102-3911-1B27-23B494D02D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621" t="30095" r="47589" b="61154"/>
          <a:stretch>
            <a:fillRect/>
          </a:stretch>
        </p:blipFill>
        <p:spPr>
          <a:xfrm>
            <a:off x="7400925" y="2442464"/>
            <a:ext cx="3615402" cy="88811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24213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4D1012D-D60D-F63F-1625-9A190BBA6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16CBD1B-0C1A-8E9D-1EEF-118EDAC24A7D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1414FAD-DAD5-0C37-2D6C-FD5B01A4FE6E}"/>
              </a:ext>
            </a:extLst>
          </p:cNvPr>
          <p:cNvSpPr txBox="1"/>
          <p:nvPr/>
        </p:nvSpPr>
        <p:spPr>
          <a:xfrm>
            <a:off x="1159797" y="1934694"/>
            <a:ext cx="465654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Columns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accessed using their names and square brackets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dataframe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column_name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]</a:t>
            </a: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6F5563C-1841-883A-10B0-013F371725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Columns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00FB3D3-4A2A-9C41-7E74-A09D9C06EA0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4786CE-FC8C-54ED-7472-4F1CA85679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0095" r="47589" b="52218"/>
          <a:stretch>
            <a:fillRect/>
          </a:stretch>
        </p:blipFill>
        <p:spPr>
          <a:xfrm>
            <a:off x="7368357" y="2428494"/>
            <a:ext cx="3663846" cy="9248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BAF96D-F0A4-A66F-5213-503CA5B6B2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581AE9-4186-1C0D-B7C5-C6057619EC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621" t="30095" r="47589" b="61154"/>
          <a:stretch>
            <a:fillRect/>
          </a:stretch>
        </p:blipFill>
        <p:spPr>
          <a:xfrm>
            <a:off x="7400925" y="2647950"/>
            <a:ext cx="3615402" cy="6826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172527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A049F27-02F0-1296-74B4-B8B2D9A81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69450AC-D3C2-4140-6039-279713BB4CAD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C86E965-AB9A-FE2A-A37E-EF23D96686CF}"/>
              </a:ext>
            </a:extLst>
          </p:cNvPr>
          <p:cNvSpPr txBox="1"/>
          <p:nvPr/>
        </p:nvSpPr>
        <p:spPr>
          <a:xfrm>
            <a:off x="1159797" y="1934694"/>
            <a:ext cx="465654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Columns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accessed using their names and square brackets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dataframe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column_name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]</a:t>
            </a: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9280ED7-440B-E1C1-08C6-FF15536CA3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Columns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6E01D2C-BB4B-8471-C9E6-F3759D32E77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A2923C-7243-5E16-BFA3-1EC645EAF6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0095" r="47589" b="52218"/>
          <a:stretch>
            <a:fillRect/>
          </a:stretch>
        </p:blipFill>
        <p:spPr>
          <a:xfrm>
            <a:off x="7368357" y="2428494"/>
            <a:ext cx="3663846" cy="9248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DC7EEF-F774-2F45-1218-D7FA8DA01F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9BAC94-B5B8-D4AE-5F90-6A5DB3292C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621" t="30095" r="47589" b="61154"/>
          <a:stretch>
            <a:fillRect/>
          </a:stretch>
        </p:blipFill>
        <p:spPr>
          <a:xfrm>
            <a:off x="7400925" y="2879725"/>
            <a:ext cx="3615402" cy="4508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845395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0D3D23B-D168-0A3E-DA91-8CB02DB72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A665384-165E-9ADC-E4E1-A0D1F876F5F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9EDCB97-D861-BA57-89EA-4381C3593441}"/>
              </a:ext>
            </a:extLst>
          </p:cNvPr>
          <p:cNvSpPr txBox="1"/>
          <p:nvPr/>
        </p:nvSpPr>
        <p:spPr>
          <a:xfrm>
            <a:off x="1159797" y="1934694"/>
            <a:ext cx="465654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Columns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accessed using their names and square brackets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dataframe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column_name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]</a:t>
            </a: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9793433-1AFB-8BF9-C87F-6467512913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Columns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D00A57E-666D-BF05-B49E-53ECDFF8405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59AD9E-A70F-949C-FAD9-D5077737B7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0095" r="47589" b="52218"/>
          <a:stretch>
            <a:fillRect/>
          </a:stretch>
        </p:blipFill>
        <p:spPr>
          <a:xfrm>
            <a:off x="7368357" y="2428494"/>
            <a:ext cx="3663846" cy="9248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A8B277-6637-C8A4-09C1-C95089AAF0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946CF2-5E06-01E0-84E6-B3600BE001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621" t="30095" r="47589" b="61154"/>
          <a:stretch>
            <a:fillRect/>
          </a:stretch>
        </p:blipFill>
        <p:spPr>
          <a:xfrm>
            <a:off x="7400925" y="3069999"/>
            <a:ext cx="3615402" cy="26057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026070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34BDAC2-2EB2-E07A-4CB6-7A58D61E0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1778E47-ADD8-4DAF-00C8-08FF3B89845C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E401E4C-1743-32B8-90BB-939262D4E048}"/>
              </a:ext>
            </a:extLst>
          </p:cNvPr>
          <p:cNvSpPr txBox="1"/>
          <p:nvPr/>
        </p:nvSpPr>
        <p:spPr>
          <a:xfrm>
            <a:off x="1159797" y="1934694"/>
            <a:ext cx="465654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Columns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accessed using their names and square brackets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dataframe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column_name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]</a:t>
            </a: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7ED9910-5128-2518-5DEE-B663D861C2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Columns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6C44292-6CF3-5454-B037-B637A1EF959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04A529-E57E-CEE8-8AA2-59402CDCB2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0095" r="47589" b="52218"/>
          <a:stretch>
            <a:fillRect/>
          </a:stretch>
        </p:blipFill>
        <p:spPr>
          <a:xfrm>
            <a:off x="7368357" y="2428494"/>
            <a:ext cx="3663846" cy="9248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4629B3-5940-A7D4-631E-690B50D9B8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3965775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3861717-B6F2-49F2-7C6F-26B3D982D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D490DB6-C3D3-2A37-DE38-6946CDCFD07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52E1F34-09BA-A7B8-63B9-CB9606B04AE5}"/>
              </a:ext>
            </a:extLst>
          </p:cNvPr>
          <p:cNvSpPr txBox="1"/>
          <p:nvPr/>
        </p:nvSpPr>
        <p:spPr>
          <a:xfrm>
            <a:off x="1159797" y="1934694"/>
            <a:ext cx="465654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Columns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accessed using their names and square brackets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dataframe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column_name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]</a:t>
            </a: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DDEE00E-C63C-313B-1A83-20DDBD6009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Columns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4B4B710-188B-4366-AD4E-73BBD344187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EC9D11-03B6-A565-289B-7C50AD7893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0095" r="47589" b="52218"/>
          <a:stretch>
            <a:fillRect/>
          </a:stretch>
        </p:blipFill>
        <p:spPr>
          <a:xfrm>
            <a:off x="7368357" y="2428494"/>
            <a:ext cx="3663846" cy="9248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B2E6B8-AEB2-28FF-318E-D1A79413EE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15" t="48599" r="42888" b="20757"/>
          <a:stretch>
            <a:fillRect/>
          </a:stretch>
        </p:blipFill>
        <p:spPr>
          <a:xfrm>
            <a:off x="7368357" y="3811057"/>
            <a:ext cx="3663846" cy="14136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F59E0B-A4A0-0D55-5F81-B21E8C8D02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5108164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9478849-8E09-C418-8849-67F835E57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97BAF95-6BDE-84E1-F640-B375F26DFA1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48CDFB0-F5D0-13A7-926B-1670B7ABE119}"/>
              </a:ext>
            </a:extLst>
          </p:cNvPr>
          <p:cNvSpPr txBox="1"/>
          <p:nvPr/>
        </p:nvSpPr>
        <p:spPr>
          <a:xfrm>
            <a:off x="1159797" y="1934694"/>
            <a:ext cx="465654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Columns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accessed using their names and square brackets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dataframe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column_name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]</a:t>
            </a: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single column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special object known as a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Series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743B4B2-5015-CFB4-AF44-35CADC5CF8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Columns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34EF281-E6CB-A822-551B-D4FFE0B5C13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66F87B-AA32-CB64-BFDB-3A5127DBD9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0095" r="47589" b="52218"/>
          <a:stretch>
            <a:fillRect/>
          </a:stretch>
        </p:blipFill>
        <p:spPr>
          <a:xfrm>
            <a:off x="7368357" y="2428494"/>
            <a:ext cx="3663846" cy="9248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A57E58-17A5-6450-1E23-23A8388889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15" t="48599" r="42888" b="20757"/>
          <a:stretch>
            <a:fillRect/>
          </a:stretch>
        </p:blipFill>
        <p:spPr>
          <a:xfrm>
            <a:off x="7368357" y="3811057"/>
            <a:ext cx="3663846" cy="14136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587B65-0DE6-7E19-E407-AAECFBBBEF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6822911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53DA196-BFD2-4D62-669F-A6DC218D2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DDDCBA4-E34E-3174-76BB-B5322BF482CC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69A0FD2-C411-ACF3-116C-AE3CBA9778AE}"/>
              </a:ext>
            </a:extLst>
          </p:cNvPr>
          <p:cNvSpPr txBox="1"/>
          <p:nvPr/>
        </p:nvSpPr>
        <p:spPr>
          <a:xfrm>
            <a:off x="1159797" y="1934694"/>
            <a:ext cx="465654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Columns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accessed using their names and square brackets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dataframe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column_name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]</a:t>
            </a: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single column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special object known as a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Series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Series:</a:t>
            </a:r>
            <a: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single 1-D column of data with an index</a:t>
            </a:r>
            <a:b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BC3FC0B-103C-2BAF-B1B6-40108AFF7F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Columns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728F97A-2D7B-6AB5-D871-F54ECD1E5F8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EC6C8D-ED9F-9710-A8B4-3D42AB7ECA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0095" r="47589" b="52218"/>
          <a:stretch>
            <a:fillRect/>
          </a:stretch>
        </p:blipFill>
        <p:spPr>
          <a:xfrm>
            <a:off x="7368357" y="2428494"/>
            <a:ext cx="3663846" cy="9248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A95759-D388-DD72-34ED-A5FF3F2AF9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15" t="48599" r="42888" b="20757"/>
          <a:stretch>
            <a:fillRect/>
          </a:stretch>
        </p:blipFill>
        <p:spPr>
          <a:xfrm>
            <a:off x="7368357" y="3811057"/>
            <a:ext cx="3663846" cy="14136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B1D8E6-ED18-F5B7-4F61-6304CD6B70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1920894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89B8BE4-BA54-B0ED-EC48-4572159EA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5C5A80E-8E69-1044-3920-9D2437A3262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DCC728F-18F9-AE18-D345-1820A557C0DB}"/>
              </a:ext>
            </a:extLst>
          </p:cNvPr>
          <p:cNvSpPr txBox="1"/>
          <p:nvPr/>
        </p:nvSpPr>
        <p:spPr>
          <a:xfrm>
            <a:off x="1159797" y="1934694"/>
            <a:ext cx="465654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Columns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accessed using their names and square brackets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dataframe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column_name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]</a:t>
            </a: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single column of a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special object known as a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Series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Series:</a:t>
            </a:r>
            <a: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single 1-D column of data with an index</a:t>
            </a:r>
            <a:b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DataFrame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collection of 1-D Series stored under a common index and viewed as a table</a:t>
            </a:r>
            <a:b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E4FDF84-1338-7567-F25E-2E381198DB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Columns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15D0AC6-2337-1D59-AEC5-CA373275634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76CDC1-116E-302D-09AC-FDE4FA4F1A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0095" r="47589" b="52218"/>
          <a:stretch>
            <a:fillRect/>
          </a:stretch>
        </p:blipFill>
        <p:spPr>
          <a:xfrm>
            <a:off x="7368357" y="2428494"/>
            <a:ext cx="3663846" cy="9248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1770FB-CFF0-745B-1132-5FF4DEF9CA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15" t="48599" r="42888" b="20757"/>
          <a:stretch>
            <a:fillRect/>
          </a:stretch>
        </p:blipFill>
        <p:spPr>
          <a:xfrm>
            <a:off x="7368357" y="3811057"/>
            <a:ext cx="3663846" cy="14136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3F01AF-06A7-66F1-1A74-AD78859921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6881110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5496157-28A9-34D8-A2B0-D885B0432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6EFE3B-CD59-CE11-469D-B5B738F584E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CB07FD4-6320-618D-F11C-5E034CA845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Working with Columns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FEAEC80-2FE6-A7D7-CE94-48F5B8A3D83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472007-0624-391A-DD4A-CE22352F8F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9758148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0FF538D-B6D9-2F54-38EB-7B7B67B13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B2DEC59-23DE-A3D1-7645-B488A90C2BEC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9566F13-4604-30F3-9237-01FEAD9DB8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Accessing Individual Values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D0D2BBD-FA1A-077F-91BE-C5F61101BDB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91C359-43A8-FD32-52E1-F6ECC4EDB2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6622766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4D12F09-D79E-70E1-8919-A34ABEEF1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AAE6759-650C-C564-966D-8410BD3F0E4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4FBE606-34CA-4591-BCCF-D745286ECAAF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access individual values of a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.loc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AC54228-1A07-3494-3462-0CF07CC2CC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Accessing Individual Values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B10B078-1906-355B-EEF5-FF943618688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4D6752-68B9-2A6C-CB5B-70B2384236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770870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83A124F-92EF-85F8-3693-8FC031A5D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EBC1E3F-4BC4-AD04-C260-DB949623DAA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EFAC482-89E8-9081-6314-51344E572C20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access individual values of a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.loc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 </a:t>
            </a:r>
            <a:r>
              <a:rPr lang="en-GB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dataframe.loc</a:t>
            </a: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[row, column]</a:t>
            </a:r>
            <a:b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2FA262C-BD64-4A43-D4C4-F9CC4AF6C8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Accessing Individual Values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04B251E-943B-C6E1-707D-1EC1BDFCA78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97F7F7B-103F-0FEC-3814-D6DE571EB8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058748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818293A-4224-44FC-DF89-98F171354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928DF83-B810-7D4B-0B7D-BEA2F01A303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A88292B-8DDF-8A45-BE58-25B4BF1F05A6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access individual values of a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.loc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 </a:t>
            </a:r>
            <a:r>
              <a:rPr lang="en-GB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dataframe.loc</a:t>
            </a: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[row, column]</a:t>
            </a:r>
            <a:b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4A3E404-2F2D-5669-D593-A12953B0C3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Accessing Individual Values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7B38D1E-4072-734D-774B-C79FA5F0A8E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D053FA-96A1-BF7F-D717-63F3D0F31E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22EE61-C891-4C8E-00C4-F03096F960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625" t="37693" r="50798" b="52070"/>
          <a:stretch>
            <a:fillRect/>
          </a:stretch>
        </p:blipFill>
        <p:spPr>
          <a:xfrm>
            <a:off x="7817401" y="4520544"/>
            <a:ext cx="3214802" cy="5145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77524A-3F03-5427-EE53-75AB42DE32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413" t="44898" r="50798" b="52070"/>
          <a:stretch>
            <a:fillRect/>
          </a:stretch>
        </p:blipFill>
        <p:spPr>
          <a:xfrm>
            <a:off x="7855404" y="4559300"/>
            <a:ext cx="3136446" cy="43815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622990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7C79B8D-B4BE-2540-8BF0-2A49E2BDE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F7F973-1A10-D341-6735-3191226F02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7693" r="50798" b="52070"/>
          <a:stretch>
            <a:fillRect/>
          </a:stretch>
        </p:blipFill>
        <p:spPr>
          <a:xfrm>
            <a:off x="7817401" y="4520544"/>
            <a:ext cx="3214802" cy="5145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7A85530-3A93-6BC8-1378-36ECF7A1902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9333F2B-8D34-2BBA-970B-B5011B8DE712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access individual values of a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.loc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 </a:t>
            </a:r>
            <a:r>
              <a:rPr lang="en-GB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dataframe.loc</a:t>
            </a: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[row, column]</a:t>
            </a:r>
            <a:b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6BF1DC6-43DF-2FF8-2E75-AA70AF2EB4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Accessing Individual Values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3F3F045-74A6-0141-1A8B-16BD75E7721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954AD9-6F26-B6F9-79E7-FB480630BC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405CC51-3FA5-9B17-E7C0-58F21766F4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413" t="44898" r="50798" b="52070"/>
          <a:stretch>
            <a:fillRect/>
          </a:stretch>
        </p:blipFill>
        <p:spPr>
          <a:xfrm>
            <a:off x="7855404" y="4798219"/>
            <a:ext cx="1238590" cy="23256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947136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05071D4-B557-0F8A-2A3A-7637229A2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53E1E12-376E-1D49-B414-E30CAA929C8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DA60CC7-1D17-95FC-98A3-6F63862B66B9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access individual values of a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.loc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 </a:t>
            </a:r>
            <a:r>
              <a:rPr lang="en-GB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dataframe.loc</a:t>
            </a: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[row, column]</a:t>
            </a:r>
            <a:b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7F9B726-9E5F-1559-3D91-E2162FF669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Accessing Individual Values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9EB4C45-8F19-B18E-3158-A07446F8873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DF9394-C1BF-BD67-1BC5-C2E973672A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8CC883-4A41-4665-021F-1B613EAFF8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625" t="37693" r="50798" b="52070"/>
          <a:stretch>
            <a:fillRect/>
          </a:stretch>
        </p:blipFill>
        <p:spPr>
          <a:xfrm>
            <a:off x="7817401" y="4520544"/>
            <a:ext cx="3214802" cy="5145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3526011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A5C4981-A31D-2A79-9344-26372621F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8737A8F-8604-C821-0734-0BFB56048D5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291AAF9-7F33-BF32-A098-9F9C640C221B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access individual values of a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.loc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 </a:t>
            </a:r>
            <a:r>
              <a:rPr lang="en-GB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dataframe.loc</a:t>
            </a: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[row, column]</a:t>
            </a:r>
            <a:b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AA4CF2F-7A39-C6FE-293B-A4A6CFAC0A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Accessing Individual Values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4EF3420-23B8-A9AF-FE4A-9AA24BAA368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2B14B3-5537-7C1C-4717-987ADB5287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7693" r="50798" b="52070"/>
          <a:stretch>
            <a:fillRect/>
          </a:stretch>
        </p:blipFill>
        <p:spPr>
          <a:xfrm>
            <a:off x="7817401" y="4520544"/>
            <a:ext cx="3214802" cy="5145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B4590B-EEFB-5801-F384-1735834779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3258D0-AD4A-03A6-3C1F-E96CD0E9D3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735" t="40770" r="69531" b="50000"/>
          <a:stretch>
            <a:fillRect/>
          </a:stretch>
        </p:blipFill>
        <p:spPr>
          <a:xfrm>
            <a:off x="10512101" y="5337876"/>
            <a:ext cx="520102" cy="3258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0528917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1934DA8-8E11-2D3B-CDDF-9E116A601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D40EA6D-7E92-BFC8-1497-D5F644EB256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173529C-E240-4533-EEBC-DFE70E64D76C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access individual values of a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.loc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 </a:t>
            </a:r>
            <a:r>
              <a:rPr lang="en-GB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dataframe.loc</a:t>
            </a: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[row, column]</a:t>
            </a:r>
            <a:b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Indices are comma separated - this is a bit like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8E152A9-9A43-14A3-55AB-2E67C7E5D6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Accessing Individual Values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94DC874-123A-B90F-4826-142700BFADC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91986F-6950-6748-E4B1-0991DF4B2F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4B1190-9C51-B955-0960-70360459BE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625" t="37693" r="50798" b="52070"/>
          <a:stretch>
            <a:fillRect/>
          </a:stretch>
        </p:blipFill>
        <p:spPr>
          <a:xfrm>
            <a:off x="7817401" y="4520544"/>
            <a:ext cx="3214802" cy="5145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FF5286-F145-70EC-2509-9EE8E00ED2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735" t="40770" r="69531" b="50000"/>
          <a:stretch>
            <a:fillRect/>
          </a:stretch>
        </p:blipFill>
        <p:spPr>
          <a:xfrm>
            <a:off x="10512101" y="5337876"/>
            <a:ext cx="520102" cy="3258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8305800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CF61803-C895-8250-82F6-ED05F15CD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7871415-5F61-9D42-BC62-0B97D7E9531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866AF6E-77D9-9547-C4D0-8557D8DD6E52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access individual values of a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.loc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 </a:t>
            </a:r>
            <a:r>
              <a:rPr lang="en-GB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dataframe.loc</a:t>
            </a: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[row, column]</a:t>
            </a:r>
            <a:b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Indices are comma separated - this is a bit like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…but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row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column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are not necessarily numerical!</a:t>
            </a: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02DC32E-BEDF-36F0-F1FA-91FB4C589C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Accessing Individual Values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0912618-9157-0FF7-0F78-270E0D9DC1D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6A3048-BEA0-550E-8406-C5E69A4DBC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704B7F-7AD9-C9ED-0A96-C6AB56314F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625" t="37693" r="50798" b="52070"/>
          <a:stretch>
            <a:fillRect/>
          </a:stretch>
        </p:blipFill>
        <p:spPr>
          <a:xfrm>
            <a:off x="7817401" y="4520544"/>
            <a:ext cx="3214802" cy="5145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CC4D5B-C542-DEB8-E3FF-FD30E17F252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735" t="40770" r="69531" b="50000"/>
          <a:stretch>
            <a:fillRect/>
          </a:stretch>
        </p:blipFill>
        <p:spPr>
          <a:xfrm>
            <a:off x="10512101" y="5337876"/>
            <a:ext cx="520102" cy="3258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2929132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3B2BE15-37FA-BAFB-5ECE-5262D1513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D38183C-83AC-9CF0-AC33-10128EF7F18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2EB6AD2-099A-41B3-4BD0-0173A5A44D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Accessing Individual Values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C6E3EC8-071E-2351-684B-61DA43683B6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D8C1BF-52E8-630D-7A2D-5A4F85B040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7963551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26E9EF3-7A45-4752-A670-3D8AD223C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8525966-1200-3643-C0DD-E7367826164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63BFDA8-1DC8-97E2-D9EA-3E988F7410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Arithmetic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33D6F6A-E43B-4CEB-AA71-1654C17A059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B2771A-BD78-241C-AF87-928B99803C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0462887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7DF00AB-D764-9F89-331B-4CFCBE631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BAA8583-FFDA-A191-57B1-49D9EF2CAAA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03FB367-7C49-1879-170A-C6D18CE736E2}"/>
              </a:ext>
            </a:extLst>
          </p:cNvPr>
          <p:cNvSpPr txBox="1"/>
          <p:nvPr/>
        </p:nvSpPr>
        <p:spPr>
          <a:xfrm>
            <a:off x="1159796" y="1934694"/>
            <a:ext cx="529756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supports vectorised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9CFBE0C-2752-C3C8-9CBC-26FE8DFA92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Arithmetic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A331558-EFAF-CB55-D212-A21824D820E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34BC10-C167-AFC1-F715-729C0D3EC4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3561967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877ED9F-30F7-1D34-9C36-0AFC11D95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07C63C4-A836-65FE-5216-8E360B5D9D9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92DCC86-EADD-3B33-60D4-C8F703BA1D92}"/>
              </a:ext>
            </a:extLst>
          </p:cNvPr>
          <p:cNvSpPr txBox="1"/>
          <p:nvPr/>
        </p:nvSpPr>
        <p:spPr>
          <a:xfrm>
            <a:off x="1159796" y="1934694"/>
            <a:ext cx="529756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supports vectorised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I.e. you can apply the same operation to an entire column at once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68DB600-31F3-F26E-F420-F9C2186296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Arithmetic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5C96D9E-492A-48E4-D257-0E214AE8538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44EE9D-81DC-88F1-3B40-A6112F8986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3918451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7138B36-7E9E-3004-01FD-CCD73491B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C30C9AD-093A-8D0F-2CA8-CFD67C3254F4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1793673-9F83-19F1-6BDE-50310949D87F}"/>
              </a:ext>
            </a:extLst>
          </p:cNvPr>
          <p:cNvSpPr txBox="1"/>
          <p:nvPr/>
        </p:nvSpPr>
        <p:spPr>
          <a:xfrm>
            <a:off x="1159796" y="1934694"/>
            <a:ext cx="529756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supports vectorised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I.e. you can apply the same operation to an entire column at once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includes: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0093CBB-040D-7643-DF13-E3612DD1E9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Arithmetic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7D42E6E-3E3B-AFA7-DBBC-E2B045413D7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97A2B1-76A0-631C-4F74-9900660AD2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2063560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A34CD82-8F33-1506-69DF-B63BC2117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657D7AC-D2A5-3734-7D16-EBCD95DD90B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BE1B0BC-85A9-C4E6-4787-F70AA5BD7183}"/>
              </a:ext>
            </a:extLst>
          </p:cNvPr>
          <p:cNvSpPr txBox="1"/>
          <p:nvPr/>
        </p:nvSpPr>
        <p:spPr>
          <a:xfrm>
            <a:off x="1159796" y="1934694"/>
            <a:ext cx="529756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supports vectorised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I.e. you can apply the same operation to an entire column at once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includes: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Arithmetic operations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(+,-,*,//,/,^,…)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6226586-B2FE-90FF-2BE2-DDED356F1B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Arithmetic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8F26AE1-CC53-631A-6E8E-7B91135D544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71A412-9248-4213-BEB4-BE713DA1C0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3667723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CC4200A-BCC9-6020-5E94-906068705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A07AF59-A59C-3C9F-D926-9D4E778520C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29B7D04-FAB6-BB96-2981-2E53E9250376}"/>
              </a:ext>
            </a:extLst>
          </p:cNvPr>
          <p:cNvSpPr txBox="1"/>
          <p:nvPr/>
        </p:nvSpPr>
        <p:spPr>
          <a:xfrm>
            <a:off x="1159796" y="1934694"/>
            <a:ext cx="529756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supports vectorised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I.e. you can apply the same operation to an entire column at once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includes: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Arithmetic operations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(+,-,*,//,/,^,…)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D08E277-C03A-3D2E-3EBC-BBFF977BF6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Arithmetic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E4B12CB-095B-FAAA-9389-47FDB138A8E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C9EEE6-8106-CD86-98D2-9C07903821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3159" r="34101" b="37106"/>
          <a:stretch>
            <a:fillRect/>
          </a:stretch>
        </p:blipFill>
        <p:spPr>
          <a:xfrm>
            <a:off x="7296706" y="2490023"/>
            <a:ext cx="3735497" cy="11599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85167B-2797-B600-270C-81BACC1652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578780-D45C-D254-0558-B7A331B71F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455" t="33159" r="34101" b="54725"/>
          <a:stretch>
            <a:fillRect/>
          </a:stretch>
        </p:blipFill>
        <p:spPr>
          <a:xfrm>
            <a:off x="7303848" y="2524126"/>
            <a:ext cx="3709433" cy="111394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230857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3A5FF0D-0914-BE85-7195-7AE24DDDC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C73CB1B-A3F2-73AF-EAFF-30EA766A150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9E171AF-E72B-1BA2-5F60-265226C6C218}"/>
              </a:ext>
            </a:extLst>
          </p:cNvPr>
          <p:cNvSpPr txBox="1"/>
          <p:nvPr/>
        </p:nvSpPr>
        <p:spPr>
          <a:xfrm>
            <a:off x="1159796" y="1934694"/>
            <a:ext cx="529756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supports vectorised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I.e. you can apply the same operation to an entire column at once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includes: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Arithmetic operations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(+,-,*,//,/,^,…)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B65F0FF-B632-A303-BE2B-6A3D8DAE11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Arithmetic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2B3F753-8CDE-2C62-74C9-D3E3543D372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654406-042E-28CA-E302-4653ACCB29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3159" r="34101" b="37106"/>
          <a:stretch>
            <a:fillRect/>
          </a:stretch>
        </p:blipFill>
        <p:spPr>
          <a:xfrm>
            <a:off x="7296706" y="2490023"/>
            <a:ext cx="3735497" cy="11599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052371-1ADD-02E5-87BD-2CA179298E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493BF4-73E7-C5D5-6D96-5CFD9B243C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455" t="33159" r="34101" b="54725"/>
          <a:stretch>
            <a:fillRect/>
          </a:stretch>
        </p:blipFill>
        <p:spPr>
          <a:xfrm>
            <a:off x="7303848" y="2635250"/>
            <a:ext cx="3709433" cy="100917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876931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E62B95D-ED30-9192-CC59-597AE9928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48112C1-E22E-E245-6216-5674AC6EC08D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67A4F67-A197-4AED-3572-33128917AD2C}"/>
              </a:ext>
            </a:extLst>
          </p:cNvPr>
          <p:cNvSpPr txBox="1"/>
          <p:nvPr/>
        </p:nvSpPr>
        <p:spPr>
          <a:xfrm>
            <a:off x="1159796" y="1934694"/>
            <a:ext cx="529756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supports vectorised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I.e. you can apply the same operation to an entire column at once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includes: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Arithmetic operations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(+,-,*,//,/,^,…)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16CE97A-463A-7E78-AF86-6F7C06D624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Arithmetic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298C8E8-4AC8-E702-FA1C-68E749079AF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1CE85F-3DB9-83D0-FFB0-02A532EB4B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3159" r="34101" b="37106"/>
          <a:stretch>
            <a:fillRect/>
          </a:stretch>
        </p:blipFill>
        <p:spPr>
          <a:xfrm>
            <a:off x="7296706" y="2490023"/>
            <a:ext cx="3735497" cy="11599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AB6EA5-C7A4-D484-06EE-01B2C81034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F0FCAB-A493-AFEB-0237-D7589BF7A5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455" t="33159" r="34101" b="54725"/>
          <a:stretch>
            <a:fillRect/>
          </a:stretch>
        </p:blipFill>
        <p:spPr>
          <a:xfrm>
            <a:off x="7303848" y="2908300"/>
            <a:ext cx="3709433" cy="73612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859461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563B317-2EDF-157A-6C35-BF7E4ABEC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A267BB6-FF5C-A6CE-BE26-48EA39FEA43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7E2683F-3B87-C38A-2C10-A6A582CCECFE}"/>
              </a:ext>
            </a:extLst>
          </p:cNvPr>
          <p:cNvSpPr txBox="1"/>
          <p:nvPr/>
        </p:nvSpPr>
        <p:spPr>
          <a:xfrm>
            <a:off x="1159796" y="1934694"/>
            <a:ext cx="529756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supports vectorised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I.e. you can apply the same operation to an entire column at once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includes: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Arithmetic operations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(+,-,*,//,/,^,…)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C3AAEC4-C656-FA78-3E2F-9CA5E9495E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Arithmetic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262A7D0-9387-F252-F5F7-FC27B0346A0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13879B-9F9A-C489-1459-A51A4E3595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3159" r="34101" b="37106"/>
          <a:stretch>
            <a:fillRect/>
          </a:stretch>
        </p:blipFill>
        <p:spPr>
          <a:xfrm>
            <a:off x="7296706" y="2490023"/>
            <a:ext cx="3735497" cy="11599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C0089E-0F4C-9293-7002-177865C8F3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147B34-A715-C5A2-0442-1E734ACF18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455" t="33159" r="34101" b="54725"/>
          <a:stretch>
            <a:fillRect/>
          </a:stretch>
        </p:blipFill>
        <p:spPr>
          <a:xfrm>
            <a:off x="7303848" y="2908300"/>
            <a:ext cx="3709433" cy="736121"/>
          </a:xfrm>
          <a:prstGeom prst="rect">
            <a:avLst/>
          </a:prstGeom>
          <a:ln>
            <a:noFill/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0EEBA1-A747-40B2-3A19-F468AF3823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821" t="21725" r="53757" b="27265"/>
          <a:stretch>
            <a:fillRect/>
          </a:stretch>
        </p:blipFill>
        <p:spPr>
          <a:xfrm>
            <a:off x="8697456" y="4130764"/>
            <a:ext cx="2334747" cy="19898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BEEFFA-24C7-7717-A1CF-0036547B6EF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599" t="52939" r="53757" b="27265"/>
          <a:stretch>
            <a:fillRect/>
          </a:stretch>
        </p:blipFill>
        <p:spPr>
          <a:xfrm>
            <a:off x="8757675" y="4144259"/>
            <a:ext cx="2255605" cy="196684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750448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6A83CDE-6363-D474-49D8-27A63E4A9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D0D384E-91B2-38B2-5391-000333C57914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0F0B9C7-9C2A-8986-82D1-9DB09EB638DD}"/>
              </a:ext>
            </a:extLst>
          </p:cNvPr>
          <p:cNvSpPr txBox="1"/>
          <p:nvPr/>
        </p:nvSpPr>
        <p:spPr>
          <a:xfrm>
            <a:off x="1159796" y="1934694"/>
            <a:ext cx="529756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supports vectorised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I.e. you can apply the same operation to an entire column at once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includes: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Arithmetic operations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(+,-,*,//,/,^,…)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C5FC10A-EAB8-43EC-B91E-716E91B8AF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Arithmetic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BB13877-6060-0900-66C1-E652BB369AD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E0D993-B2FA-EA7E-285B-9D2B1FE00A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3159" r="34101" b="37106"/>
          <a:stretch>
            <a:fillRect/>
          </a:stretch>
        </p:blipFill>
        <p:spPr>
          <a:xfrm>
            <a:off x="7296706" y="2490023"/>
            <a:ext cx="3735497" cy="11599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289F5B-45DD-0F58-82B9-823581E477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A6DC2C-1038-0979-739B-7511D247B4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455" t="33159" r="34101" b="54725"/>
          <a:stretch>
            <a:fillRect/>
          </a:stretch>
        </p:blipFill>
        <p:spPr>
          <a:xfrm>
            <a:off x="7303848" y="2908300"/>
            <a:ext cx="3709433" cy="736121"/>
          </a:xfrm>
          <a:prstGeom prst="rect">
            <a:avLst/>
          </a:prstGeom>
          <a:ln>
            <a:noFill/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1D78EB-CDE3-F514-D4CF-469E54B3A2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821" t="21725" r="53757" b="27265"/>
          <a:stretch>
            <a:fillRect/>
          </a:stretch>
        </p:blipFill>
        <p:spPr>
          <a:xfrm>
            <a:off x="8697456" y="4130764"/>
            <a:ext cx="2334747" cy="19898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17C6E7-60CC-4B02-6661-2D228FF090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599" t="52939" r="53757" b="27265"/>
          <a:stretch>
            <a:fillRect/>
          </a:stretch>
        </p:blipFill>
        <p:spPr>
          <a:xfrm>
            <a:off x="8757676" y="5086101"/>
            <a:ext cx="1853174" cy="100595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56481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DD97A9B-7E23-B14D-1E35-B91C8F551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2B60315-4854-A4AC-B45B-FBE63261E93C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D0B341C-A65E-788C-A93D-5B8FB92DA4CC}"/>
              </a:ext>
            </a:extLst>
          </p:cNvPr>
          <p:cNvSpPr txBox="1"/>
          <p:nvPr/>
        </p:nvSpPr>
        <p:spPr>
          <a:xfrm>
            <a:off x="1159796" y="1934694"/>
            <a:ext cx="529756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supports vectorised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I.e. you can apply the same operation to an entire column at once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includes: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Arithmetic operations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(+,-,*,//,/,^,…)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A6F4787-7431-80EB-2193-3CDB805F96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Arithmetic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7E97FB1-6A6B-47EB-3EA6-59854CF3FC2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B13D4E-D4A6-EAE2-F497-1DDBDD190D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3159" r="34101" b="37106"/>
          <a:stretch>
            <a:fillRect/>
          </a:stretch>
        </p:blipFill>
        <p:spPr>
          <a:xfrm>
            <a:off x="7296706" y="2490023"/>
            <a:ext cx="3735497" cy="11599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9BCD87-9546-A2D7-ECDC-014AEFB369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D64522-A31A-6797-829E-C0050A224D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455" t="33159" r="34101" b="54725"/>
          <a:stretch>
            <a:fillRect/>
          </a:stretch>
        </p:blipFill>
        <p:spPr>
          <a:xfrm>
            <a:off x="7303848" y="3162300"/>
            <a:ext cx="3709433" cy="482121"/>
          </a:xfrm>
          <a:prstGeom prst="rect">
            <a:avLst/>
          </a:prstGeom>
          <a:ln>
            <a:noFill/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D554B4-66B4-21C2-1FE8-B01A8287E2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821" t="21725" r="53757" b="27265"/>
          <a:stretch>
            <a:fillRect/>
          </a:stretch>
        </p:blipFill>
        <p:spPr>
          <a:xfrm>
            <a:off x="8697456" y="4130764"/>
            <a:ext cx="2334747" cy="19898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6C064C-B3D0-B5D2-5ECB-341C49344A8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599" t="52939" r="53757" b="27265"/>
          <a:stretch>
            <a:fillRect/>
          </a:stretch>
        </p:blipFill>
        <p:spPr>
          <a:xfrm>
            <a:off x="8757676" y="5086101"/>
            <a:ext cx="1853174" cy="100595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335887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D638AAB-1B29-27FF-89C7-76C68D7B9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4FA3996-516D-DAA8-17A5-5602AA5FC86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CFD60E0-D734-BC31-D3A3-C84707153853}"/>
              </a:ext>
            </a:extLst>
          </p:cNvPr>
          <p:cNvSpPr txBox="1"/>
          <p:nvPr/>
        </p:nvSpPr>
        <p:spPr>
          <a:xfrm>
            <a:off x="1159796" y="1934694"/>
            <a:ext cx="529756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supports vectorised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I.e. you can apply the same operation to an entire column at once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includes: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Arithmetic operations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(+,-,*,//,/,^,…)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03DB868-D066-74B5-5F5E-AE2A938E2D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Arithmetic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AB139F5-F078-6763-F4E9-80DA6EACA66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456AE8-8BBB-7603-9D4A-9120D28EAA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3159" r="34101" b="37106"/>
          <a:stretch>
            <a:fillRect/>
          </a:stretch>
        </p:blipFill>
        <p:spPr>
          <a:xfrm>
            <a:off x="7296706" y="2490023"/>
            <a:ext cx="3735497" cy="11599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E89E5F-C18B-EF58-EC76-41CFEA56D1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61C5AF-32EB-305B-53F0-B9F6A8E1ED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455" t="33159" r="34101" b="54725"/>
          <a:stretch>
            <a:fillRect/>
          </a:stretch>
        </p:blipFill>
        <p:spPr>
          <a:xfrm>
            <a:off x="7303848" y="3314700"/>
            <a:ext cx="3709433" cy="329721"/>
          </a:xfrm>
          <a:prstGeom prst="rect">
            <a:avLst/>
          </a:prstGeom>
          <a:ln>
            <a:noFill/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26D8C3-EF32-CBC5-FF9E-BD3256F7F75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821" t="21725" r="53757" b="27265"/>
          <a:stretch>
            <a:fillRect/>
          </a:stretch>
        </p:blipFill>
        <p:spPr>
          <a:xfrm>
            <a:off x="8697456" y="4130764"/>
            <a:ext cx="2334747" cy="19898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942B03-9D90-91F6-D79B-1CBC7E38B4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599" t="52939" r="53757" b="27265"/>
          <a:stretch>
            <a:fillRect/>
          </a:stretch>
        </p:blipFill>
        <p:spPr>
          <a:xfrm>
            <a:off x="8757676" y="5086101"/>
            <a:ext cx="1853174" cy="100595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407558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9CC2DE4-8049-A47B-6686-66113141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B8F6724-20FE-7F86-9BF7-0AA364C47AE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6A7FD1D-D888-B7CD-70D0-E98C08CAEF64}"/>
              </a:ext>
            </a:extLst>
          </p:cNvPr>
          <p:cNvSpPr txBox="1"/>
          <p:nvPr/>
        </p:nvSpPr>
        <p:spPr>
          <a:xfrm>
            <a:off x="1159796" y="1934694"/>
            <a:ext cx="529756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supports vectorised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I.e. you can apply the same operation to an entire column at once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includes: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Arithmetic operations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(+,-,*,//,/,^,…)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1B609E4-0003-1765-7B3B-39B15DE682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Arithmetic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7141CC4-6337-A7AB-3197-E02260CFD87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F40C1A-0B52-A599-0B86-C75B0D9181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3159" r="34101" b="37106"/>
          <a:stretch>
            <a:fillRect/>
          </a:stretch>
        </p:blipFill>
        <p:spPr>
          <a:xfrm>
            <a:off x="7296706" y="2490023"/>
            <a:ext cx="3735497" cy="11599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302D8F-D487-11A5-356F-B73DDC0C9D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F91D41-8BF6-F6D4-0C55-884D6CD8A1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455" t="33159" r="34101" b="54725"/>
          <a:stretch>
            <a:fillRect/>
          </a:stretch>
        </p:blipFill>
        <p:spPr>
          <a:xfrm>
            <a:off x="7303848" y="3476625"/>
            <a:ext cx="3709433" cy="158271"/>
          </a:xfrm>
          <a:prstGeom prst="rect">
            <a:avLst/>
          </a:prstGeom>
          <a:ln>
            <a:noFill/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8A24D5-03B3-8B58-3AC5-D876825896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821" t="21725" r="53757" b="27265"/>
          <a:stretch>
            <a:fillRect/>
          </a:stretch>
        </p:blipFill>
        <p:spPr>
          <a:xfrm>
            <a:off x="8697456" y="4130764"/>
            <a:ext cx="2334747" cy="19898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107D9E-7C21-C3CA-66E9-EA4DCCA1750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599" t="52939" r="53757" b="27265"/>
          <a:stretch>
            <a:fillRect/>
          </a:stretch>
        </p:blipFill>
        <p:spPr>
          <a:xfrm>
            <a:off x="8757676" y="5086101"/>
            <a:ext cx="1853174" cy="100595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948377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B3209C7-7464-C403-DD27-CEF2111C1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DB7BB4B-DB4E-6B96-9726-BC3BAC700D8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375D7D4-7D6B-F8A2-E1D0-E3C75A06D9C3}"/>
              </a:ext>
            </a:extLst>
          </p:cNvPr>
          <p:cNvSpPr txBox="1"/>
          <p:nvPr/>
        </p:nvSpPr>
        <p:spPr>
          <a:xfrm>
            <a:off x="1159796" y="1934694"/>
            <a:ext cx="529756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supports vectorised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I.e. you can apply the same operation to an entire column at once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includes: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Arithmetic operations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(+,-,*,//,/,^,…)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768146E-4C79-4F36-7191-055D15CEED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Arithmetic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898B4CB-A33E-809D-3EAE-A7E161E20C0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FE377B-AC18-3DBD-9AD7-4F5BDBC432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3159" r="34101" b="37106"/>
          <a:stretch>
            <a:fillRect/>
          </a:stretch>
        </p:blipFill>
        <p:spPr>
          <a:xfrm>
            <a:off x="7296706" y="2490023"/>
            <a:ext cx="3735497" cy="11599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B13646-288B-8EB7-F006-17BA083FED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8B6045C-869D-F242-3A05-92C4C0520A3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821" t="21725" r="53757" b="27265"/>
          <a:stretch>
            <a:fillRect/>
          </a:stretch>
        </p:blipFill>
        <p:spPr>
          <a:xfrm>
            <a:off x="8697456" y="4130764"/>
            <a:ext cx="2334747" cy="19898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87C88C-7F5E-73C4-9E23-06CBDD6796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599" t="52939" r="53757" b="27265"/>
          <a:stretch>
            <a:fillRect/>
          </a:stretch>
        </p:blipFill>
        <p:spPr>
          <a:xfrm>
            <a:off x="8757676" y="5086101"/>
            <a:ext cx="1853174" cy="100595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996688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7F79333-8EEB-3D28-F99D-C4B8D79E2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0BD299E-F11D-925A-F20D-2815213D5D8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30DF000-ACB5-A20E-DCA5-DF3EB0EAEB81}"/>
              </a:ext>
            </a:extLst>
          </p:cNvPr>
          <p:cNvSpPr txBox="1"/>
          <p:nvPr/>
        </p:nvSpPr>
        <p:spPr>
          <a:xfrm>
            <a:off x="1159796" y="1934694"/>
            <a:ext cx="529756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supports vectorised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I.e. you can apply the same operation to an entire column at once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includes: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Arithmetic operations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(+,-,*,//,/,^,…)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83803AD-2534-E000-B891-5A54767C3F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Arithmetic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4DEB6B8-7563-8FB7-9227-4843AFEFBCD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A6D7D4-AE56-4D93-CE0A-7134580395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3159" r="34101" b="37106"/>
          <a:stretch>
            <a:fillRect/>
          </a:stretch>
        </p:blipFill>
        <p:spPr>
          <a:xfrm>
            <a:off x="7296706" y="2490023"/>
            <a:ext cx="3735497" cy="11599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3136C6-E358-9437-660F-1F595A3A01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1478A4-84EC-FFAB-0BB2-706EA2E133D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821" t="21725" r="53757" b="27265"/>
          <a:stretch>
            <a:fillRect/>
          </a:stretch>
        </p:blipFill>
        <p:spPr>
          <a:xfrm>
            <a:off x="8697456" y="4130764"/>
            <a:ext cx="2334747" cy="19898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5188879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58C259B-0F1B-DC46-38F7-F334F6E31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64E75D4-6481-B4DE-F2F8-28A5BEEF8B7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A9F4D7B-BDAB-048B-9AD6-033CE4AA2534}"/>
              </a:ext>
            </a:extLst>
          </p:cNvPr>
          <p:cNvSpPr txBox="1"/>
          <p:nvPr/>
        </p:nvSpPr>
        <p:spPr>
          <a:xfrm>
            <a:off x="1159796" y="1934694"/>
            <a:ext cx="529756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supports vectorised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I.e. you can apply the same operation to an entire column at once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includes: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Arithmetic operations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(+,-,*,//,/,^,…)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Boolean operations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(&lt;=,&gt;=,==,&gt;,…)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50662F1-A8EB-F0D0-ABC1-9821EE0387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Arithmetic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0A79D6A-E2E8-D8A0-5B20-358F2A14AB0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BBFA43-1287-8A2F-A36A-850FC26F55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3159" r="34101" b="37106"/>
          <a:stretch>
            <a:fillRect/>
          </a:stretch>
        </p:blipFill>
        <p:spPr>
          <a:xfrm>
            <a:off x="7296706" y="2490023"/>
            <a:ext cx="3735497" cy="11599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78875D-7FEC-92CC-EA99-FC201E8178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BD3BA6-F676-A363-9A36-CF173908FF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821" t="21725" r="53757" b="27265"/>
          <a:stretch>
            <a:fillRect/>
          </a:stretch>
        </p:blipFill>
        <p:spPr>
          <a:xfrm>
            <a:off x="8697456" y="4130764"/>
            <a:ext cx="2334747" cy="19898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6783376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A60FC79-EBBD-C029-2911-73EE2B69A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1CB905C-22AC-CEEF-9C95-661A2BAC6B1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83DF8B7-14EF-971B-E12C-AEA48F692E18}"/>
              </a:ext>
            </a:extLst>
          </p:cNvPr>
          <p:cNvSpPr txBox="1"/>
          <p:nvPr/>
        </p:nvSpPr>
        <p:spPr>
          <a:xfrm>
            <a:off x="1159796" y="1934694"/>
            <a:ext cx="529756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supports vectorised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I.e. you can apply the same operation to an entire column at once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includes: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Arithmetic operations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(+,-,*,//,/,^,…)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Boolean operations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(&lt;=,&gt;=,==,&gt;,…)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universal functions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np.sin,np.exp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…)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1B5200E-1B02-A1F1-EE7E-F15734821D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Arithmetic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FF00F41-E270-75ED-6BF2-30E60DFD128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B7E50E-8F73-FFB5-78B1-E87F7821C8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3159" r="34101" b="37106"/>
          <a:stretch>
            <a:fillRect/>
          </a:stretch>
        </p:blipFill>
        <p:spPr>
          <a:xfrm>
            <a:off x="7296706" y="2490023"/>
            <a:ext cx="3735497" cy="11599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FFD195-53DE-0523-A85F-F618738F58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34BE7A-4105-79F5-3D64-05D10D1524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821" t="21725" r="53757" b="27265"/>
          <a:stretch>
            <a:fillRect/>
          </a:stretch>
        </p:blipFill>
        <p:spPr>
          <a:xfrm>
            <a:off x="8697456" y="4130764"/>
            <a:ext cx="2334747" cy="19898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6846168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A835B3C-05A5-7643-D49D-C177001B4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2F72AE6-8F21-657E-BEF5-0E3C1BF0ABDC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1AB7C68-3D5F-B278-B788-CA2D589C7311}"/>
              </a:ext>
            </a:extLst>
          </p:cNvPr>
          <p:cNvSpPr txBox="1"/>
          <p:nvPr/>
        </p:nvSpPr>
        <p:spPr>
          <a:xfrm>
            <a:off x="1159796" y="1934694"/>
            <a:ext cx="529756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supports vectorised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I.e. you can apply the same operation to an entire column at once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includes: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Arithmetic operations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(+,-,*,//,/,^,…)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Boolean operations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(&lt;=,&gt;=,==,&gt;,…)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universal functions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np.sin,np.exp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…)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many more…</a:t>
            </a: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975664B-590D-8FB1-32BF-F35F46E235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Arithmetic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630435C-E621-FC12-51E3-26246E35723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40C08A-DA95-6609-217E-DE1940A4E2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3159" r="34101" b="37106"/>
          <a:stretch>
            <a:fillRect/>
          </a:stretch>
        </p:blipFill>
        <p:spPr>
          <a:xfrm>
            <a:off x="7296706" y="2490023"/>
            <a:ext cx="3735497" cy="11599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55D093-1594-F797-BE98-E9433ACE63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96F9C5-6DAE-3B81-A351-40E0BCD234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821" t="21725" r="53757" b="27265"/>
          <a:stretch>
            <a:fillRect/>
          </a:stretch>
        </p:blipFill>
        <p:spPr>
          <a:xfrm>
            <a:off x="8697456" y="4130764"/>
            <a:ext cx="2334747" cy="19898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9472177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4E8308C-3A10-AA1D-1FA5-57C753648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AA62FA3-51A3-D22D-8361-80D0FE1DD76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743A5E3-7324-CBED-B1BA-BFE9E8C15F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4400" dirty="0"/>
              <a:t>Arithmetic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73E9F42-9B97-00C0-3D75-0C5DBEA167C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683531-9212-8FD2-91F0-87FC566C87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4035947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A5B4690-2E52-342F-8551-3C5C0AEA5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26DB614-B57A-CAAB-2246-35089246378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00ADA66-1BCC-B716-112D-947BFB6535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Statistical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FBF1CA0-761A-8C42-8046-B9AC1419F6D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B76851-02A7-7229-0C1B-FB7E85B4D3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3848091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3E89B38-38BD-018B-AB62-C053592FB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EC6A6FA-C909-A91F-EED6-74CED58B1E9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A83F95E-AB58-9DE4-D601-FD8F5CCACC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Statistical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A429835-5DB2-7EE5-6B40-FC4BB9CDACF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30017A2A-2C14-BDC7-4ECE-96C320260B28}"/>
              </a:ext>
            </a:extLst>
          </p:cNvPr>
          <p:cNvSpPr txBox="1"/>
          <p:nvPr/>
        </p:nvSpPr>
        <p:spPr>
          <a:xfrm>
            <a:off x="1159796" y="1934694"/>
            <a:ext cx="529756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also be used to perform statistical analyses on datasets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F9F1CD-80E2-6D17-E9C2-7266B2288E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7061872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1F8C0E1-41F9-605E-6521-B1104C096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26C3E98-D7BE-8384-6A0A-B773E216328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9F7F8D5-C82C-5764-3F85-3BC19F72C7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Statistical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0E2102A-EFC2-6867-0ADC-AB2B818A17C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7713D6FD-3F14-50AA-783B-F40A4A5FD94C}"/>
              </a:ext>
            </a:extLst>
          </p:cNvPr>
          <p:cNvSpPr txBox="1"/>
          <p:nvPr/>
        </p:nvSpPr>
        <p:spPr>
          <a:xfrm>
            <a:off x="1159796" y="1934694"/>
            <a:ext cx="529756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also be used to perform statistical analyses on datasets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Built-in statistical methods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295EA0-C087-654B-7574-F00C7B1B18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4738429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FFEB074-F538-98E5-20CD-D8F242075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B380099-CEA1-9A31-F1C1-7A98F898452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9125F97-62E2-D30C-A77D-C0C0C083C8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Statistical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7FBABA0-0EFC-9E92-2E08-E80E67E5009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937EFAD7-8C6A-6F64-2E92-B641B4046D51}"/>
              </a:ext>
            </a:extLst>
          </p:cNvPr>
          <p:cNvSpPr txBox="1"/>
          <p:nvPr/>
        </p:nvSpPr>
        <p:spPr>
          <a:xfrm>
            <a:off x="1159796" y="1934694"/>
            <a:ext cx="529756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also be used to perform statistical analyses on datasets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Built-in statistical methods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.describe()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provides summary statistics for numerical columns</a:t>
            </a: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BF993D-2D52-8B04-37BA-3759870AB8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3430883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12B88A4-9C8A-027D-450C-645777E82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E51BA58-37A9-5A13-D050-1CB312A7060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5ABFE78-2F2A-3873-72B8-F7E0D4D870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Statistical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B63F8C6-8913-26BC-8A01-E0D106D3D3F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1" name="Picture 3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AAF1B6-F93D-7EBF-E385-47934BBE6A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3189" r="70542" b="71342"/>
          <a:stretch>
            <a:fillRect/>
          </a:stretch>
        </p:blipFill>
        <p:spPr>
          <a:xfrm>
            <a:off x="9345851" y="2201365"/>
            <a:ext cx="1686351" cy="3500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8B4C1FA7-27D7-404B-4B17-DC134B544830}"/>
              </a:ext>
            </a:extLst>
          </p:cNvPr>
          <p:cNvSpPr txBox="1"/>
          <p:nvPr/>
        </p:nvSpPr>
        <p:spPr>
          <a:xfrm>
            <a:off x="1159796" y="1934694"/>
            <a:ext cx="529756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also be used to perform statistical analyses on datasets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Built-in statistical methods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.describe()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provides summary statistics for numerical columns</a:t>
            </a: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95084A2-CE28-0D81-11DC-F38E5BD3B4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9892988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A5B0462-668B-80A1-992A-C82AA2E0C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78F3EE6-4F26-1E8B-A80E-73EB2844FB8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17B2CCE-A3E9-81C9-8389-7EB6E5239D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Statistical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C2F9597-F6E7-89DA-6A98-3986965C1EC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1" name="Picture 3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51E6AE-B574-8E27-0612-98359BC403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3189" r="70542" b="71342"/>
          <a:stretch>
            <a:fillRect/>
          </a:stretch>
        </p:blipFill>
        <p:spPr>
          <a:xfrm>
            <a:off x="9345851" y="2201365"/>
            <a:ext cx="1686351" cy="3500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2" name="Picture 3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ECDB93-D062-699A-0171-1533ECFC52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4146" r="68722" b="10142"/>
          <a:stretch>
            <a:fillRect/>
          </a:stretch>
        </p:blipFill>
        <p:spPr>
          <a:xfrm>
            <a:off x="9345852" y="2854171"/>
            <a:ext cx="1686351" cy="31510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5E2F2D62-0EC5-C927-9D09-63B307868671}"/>
              </a:ext>
            </a:extLst>
          </p:cNvPr>
          <p:cNvSpPr txBox="1"/>
          <p:nvPr/>
        </p:nvSpPr>
        <p:spPr>
          <a:xfrm>
            <a:off x="1159796" y="1934694"/>
            <a:ext cx="529756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also be used to perform statistical analyses on datasets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Built-in statistical methods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.describe()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provides summary statistics for numerical columns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DEA900-FD05-FD36-4948-1AC6B016D0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1576362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51940A6-7B25-0E22-0476-53AE3DC27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86A5565-79C3-C0A0-61E7-AE13C125321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D739B81-7553-DD52-196E-144AEA8FDC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Statistical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55D13A1-3E94-98FB-0DF0-3069854E1D9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1" name="Picture 3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38993C-8A9C-665C-EECA-5791DC6520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3189" r="70542" b="71342"/>
          <a:stretch>
            <a:fillRect/>
          </a:stretch>
        </p:blipFill>
        <p:spPr>
          <a:xfrm>
            <a:off x="9345851" y="2201365"/>
            <a:ext cx="1686351" cy="3500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2" name="Picture 3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F06818-DA83-2F9C-1F01-ABAD312F7A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4146" r="68722" b="10142"/>
          <a:stretch>
            <a:fillRect/>
          </a:stretch>
        </p:blipFill>
        <p:spPr>
          <a:xfrm>
            <a:off x="9345852" y="2854171"/>
            <a:ext cx="1686351" cy="31510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51C6A973-5B03-4E01-591E-C04591CC1E70}"/>
              </a:ext>
            </a:extLst>
          </p:cNvPr>
          <p:cNvSpPr txBox="1"/>
          <p:nvPr/>
        </p:nvSpPr>
        <p:spPr>
          <a:xfrm>
            <a:off x="1159796" y="1934694"/>
            <a:ext cx="529756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also be used to perform statistical analyses on datasets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Built-in statistical methods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.describe()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provides summary statistics for numerical columns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.mean(),.max(),.sum(),.min(),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etc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E2E6BD-E8C6-6772-2FC1-FFD3F3677E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4707006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6F53D4F-829A-B49B-8596-6E22331B8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27A6228-ABEB-9593-B12B-31EDF20706A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0FE94AD-9E9C-AF5C-420F-2732619A04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Statistical Operations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B901134-6B11-8AF5-896A-FAE35A40E88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1" name="Picture 3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31AC33-E992-D0F8-ADD4-165CCEFD72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3189" r="70542" b="71342"/>
          <a:stretch>
            <a:fillRect/>
          </a:stretch>
        </p:blipFill>
        <p:spPr>
          <a:xfrm>
            <a:off x="9345851" y="2201365"/>
            <a:ext cx="1686351" cy="3500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2" name="Picture 3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126257-1265-02EF-618D-CEF0613B4D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34146" r="68722" b="10142"/>
          <a:stretch>
            <a:fillRect/>
          </a:stretch>
        </p:blipFill>
        <p:spPr>
          <a:xfrm>
            <a:off x="9345852" y="2854171"/>
            <a:ext cx="1686351" cy="31510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52EA2B9F-65CB-7E94-0D24-5877D669FE88}"/>
              </a:ext>
            </a:extLst>
          </p:cNvPr>
          <p:cNvSpPr txBox="1"/>
          <p:nvPr/>
        </p:nvSpPr>
        <p:spPr>
          <a:xfrm>
            <a:off x="1159796" y="1934694"/>
            <a:ext cx="529756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also be used to perform statistical analyses on datasets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Built-in statistical methods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.describe()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provides summary statistics for numerical columns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.mean(),.max(),.sum(),.min(),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etc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.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idxmax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()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returns the index of the maximum value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1A0399-CB79-84A0-302F-96BD339075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7" t="58874" r="62809" b="11377"/>
          <a:stretch>
            <a:fillRect/>
          </a:stretch>
        </p:blipFill>
        <p:spPr>
          <a:xfrm>
            <a:off x="8572437" y="296260"/>
            <a:ext cx="2459766" cy="1672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2384492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8DD3771-EE02-54AF-7913-14935AC7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D29FA91-6A22-1DD2-86FB-E7AE89AD9D2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4867234-6F5A-3423-0BD4-2408FD9610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Expanding </a:t>
            </a:r>
            <a:r>
              <a:rPr lang="en-GB" dirty="0" err="1"/>
              <a:t>DataFrames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66C2A53-E588-21E7-319B-B5F93BDD25F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807301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BA47E80-BB2A-F92B-731B-17E43381C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6DA2A02-9116-A80F-FEC8-012AF23BFF5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E067207-CF84-0ED5-9A7C-CDAF6D163655}"/>
              </a:ext>
            </a:extLst>
          </p:cNvPr>
          <p:cNvSpPr txBox="1"/>
          <p:nvPr/>
        </p:nvSpPr>
        <p:spPr>
          <a:xfrm>
            <a:off x="1150369" y="1934694"/>
            <a:ext cx="49456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assign new columns to a pandas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dictionary-like syntax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D9E0288-C12C-7E2B-E381-0C5FC4F2EA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Expanding </a:t>
            </a:r>
            <a:r>
              <a:rPr lang="en-GB" dirty="0" err="1"/>
              <a:t>DataFrames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8F16419-DD99-D0C3-A00E-18E79A65D26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799641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8CAEBC4-1276-FD6F-5F78-EEA76B525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430BCAF-F0F1-7A42-4A85-32920CC057B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505288D-2456-A144-349C-18B0D2FBA5C1}"/>
              </a:ext>
            </a:extLst>
          </p:cNvPr>
          <p:cNvSpPr txBox="1"/>
          <p:nvPr/>
        </p:nvSpPr>
        <p:spPr>
          <a:xfrm>
            <a:off x="1150369" y="1934694"/>
            <a:ext cx="50980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assign new columns to a pandas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dictionary-like syntax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new_col_name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] =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new_col_data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BEE5102-A3F1-9F92-8047-D17CEB5E6C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Expanding </a:t>
            </a:r>
            <a:r>
              <a:rPr lang="en-GB" dirty="0" err="1"/>
              <a:t>DataFrames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71399E8-8FD0-C467-FB82-83D63228E1F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07192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18E5876-2F32-3A6C-9A97-3A0A3E4BC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C3207D8-DA21-2812-DE09-AFFABABA837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BC2750D-7F2D-64F9-7FDD-C11663434CB2}"/>
              </a:ext>
            </a:extLst>
          </p:cNvPr>
          <p:cNvSpPr txBox="1"/>
          <p:nvPr/>
        </p:nvSpPr>
        <p:spPr>
          <a:xfrm>
            <a:off x="1150369" y="1934694"/>
            <a:ext cx="50726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assign new columns to a pandas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dictionary-like syntax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new_col_name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] =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new_col_data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1A29E5C-A6AC-89ED-134C-5A2D34AF97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Expanding </a:t>
            </a:r>
            <a:r>
              <a:rPr lang="en-GB" dirty="0" err="1"/>
              <a:t>DataFrames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0123ED0-26F6-5E32-655F-B963708E565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4" name="Picture 3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82948B-7D12-B4E1-BB66-14D3F9B7A9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4129" r="24268" b="34059"/>
          <a:stretch>
            <a:fillRect/>
          </a:stretch>
        </p:blipFill>
        <p:spPr>
          <a:xfrm>
            <a:off x="6709066" y="2237466"/>
            <a:ext cx="4738074" cy="1730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B56176-F324-0367-2BDE-87FF8D41B8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4" t="45051" r="34346" b="50762"/>
          <a:stretch>
            <a:fillRect/>
          </a:stretch>
        </p:blipFill>
        <p:spPr>
          <a:xfrm>
            <a:off x="6726985" y="2252705"/>
            <a:ext cx="4687140" cy="170750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991415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C93890C-1A57-F8D1-F7E9-2ECD58215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4652EDD-D04C-9146-970D-FEE2EF0286E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2700517-7B00-2C23-337B-EB5976DF2353}"/>
              </a:ext>
            </a:extLst>
          </p:cNvPr>
          <p:cNvSpPr txBox="1"/>
          <p:nvPr/>
        </p:nvSpPr>
        <p:spPr>
          <a:xfrm>
            <a:off x="1150369" y="1934694"/>
            <a:ext cx="50726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assign new columns to a pandas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dictionary-like syntax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new_col_name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] =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new_col_data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D9E34C4-8154-D447-71EE-5BE13F408A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Expanding </a:t>
            </a:r>
            <a:r>
              <a:rPr lang="en-GB" dirty="0" err="1"/>
              <a:t>DataFrames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3217251-FBEE-0C6E-D41C-4B76D300B03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4" name="Picture 3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DBD295-6B2A-DBC4-95C5-FC222C74F6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4129" r="24268" b="34059"/>
          <a:stretch>
            <a:fillRect/>
          </a:stretch>
        </p:blipFill>
        <p:spPr>
          <a:xfrm>
            <a:off x="6709066" y="2237466"/>
            <a:ext cx="4738074" cy="1730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7C3E1D-701E-4866-4C57-88A86D3ABB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4" t="45051" r="34346" b="50762"/>
          <a:stretch>
            <a:fillRect/>
          </a:stretch>
        </p:blipFill>
        <p:spPr>
          <a:xfrm>
            <a:off x="6726985" y="2438400"/>
            <a:ext cx="4687140" cy="1521810"/>
          </a:xfrm>
          <a:prstGeom prst="rect">
            <a:avLst/>
          </a:prstGeom>
          <a:ln>
            <a:noFill/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502D59-2E5F-8DA8-25B1-272F97DB28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4" t="45051" r="34346" b="50762"/>
          <a:stretch>
            <a:fillRect/>
          </a:stretch>
        </p:blipFill>
        <p:spPr>
          <a:xfrm>
            <a:off x="7462838" y="2246991"/>
            <a:ext cx="3878262" cy="152181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790457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2C2A696-A1D7-111F-AED6-08BABF795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CA9B45F-5E33-C40F-C4AC-75D8A36C23B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A830085-A03D-A921-EC5F-00A9F76DFDF0}"/>
              </a:ext>
            </a:extLst>
          </p:cNvPr>
          <p:cNvSpPr txBox="1"/>
          <p:nvPr/>
        </p:nvSpPr>
        <p:spPr>
          <a:xfrm>
            <a:off x="1150369" y="1934694"/>
            <a:ext cx="50726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assign new columns to a pandas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dictionary-like syntax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new_col_name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] =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new_col_data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010F781-3FE4-C989-0B55-A7FBB5508A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Expanding </a:t>
            </a:r>
            <a:r>
              <a:rPr lang="en-GB" dirty="0" err="1"/>
              <a:t>DataFrames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A13E55D-48D0-A5DF-42F8-37561D3EFC3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4" name="Picture 3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C12AEF-3994-6908-5154-A5929FEDF0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4129" r="24268" b="34059"/>
          <a:stretch>
            <a:fillRect/>
          </a:stretch>
        </p:blipFill>
        <p:spPr>
          <a:xfrm>
            <a:off x="6709066" y="2237466"/>
            <a:ext cx="4738074" cy="1730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620140-8EFD-8D60-6FB1-3C2D33714F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4" t="45051" r="34346" b="50762"/>
          <a:stretch>
            <a:fillRect/>
          </a:stretch>
        </p:blipFill>
        <p:spPr>
          <a:xfrm>
            <a:off x="6726985" y="2428973"/>
            <a:ext cx="4687140" cy="152181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80926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702C920-FC71-AA50-7454-DCE23C276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A3D07DF-65F1-D084-AC7F-CB0D055B7AF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F0D22BF-1F1D-8A0E-71C5-0FF3102FC0E5}"/>
              </a:ext>
            </a:extLst>
          </p:cNvPr>
          <p:cNvSpPr txBox="1"/>
          <p:nvPr/>
        </p:nvSpPr>
        <p:spPr>
          <a:xfrm>
            <a:off x="1150369" y="1934694"/>
            <a:ext cx="50726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assign new columns to a pandas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dictionary-like syntax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new_col_name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] =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new_col_data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68F9F8F-C47C-BC4A-58A3-6EF04F0BF2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Expanding </a:t>
            </a:r>
            <a:r>
              <a:rPr lang="en-GB" dirty="0" err="1"/>
              <a:t>DataFrames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63C7694-F8A5-79AE-55A0-66EA51CBED2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4" name="Picture 3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8E7CA1-A06C-6D9D-61EE-8271DF5836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4129" r="24268" b="34059"/>
          <a:stretch>
            <a:fillRect/>
          </a:stretch>
        </p:blipFill>
        <p:spPr>
          <a:xfrm>
            <a:off x="6709066" y="2237466"/>
            <a:ext cx="4738074" cy="1730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837035-D865-F839-3AF4-C93D304BA6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4" t="45051" r="34346" b="50762"/>
          <a:stretch>
            <a:fillRect/>
          </a:stretch>
        </p:blipFill>
        <p:spPr>
          <a:xfrm>
            <a:off x="6726985" y="2575559"/>
            <a:ext cx="4687140" cy="138465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917575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713CACF-A510-B707-49CA-AB9495E57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C833F3F-CB09-D548-6A43-E905AA21073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C78E4F6-0B34-BBDB-462D-69DD6F73A82C}"/>
              </a:ext>
            </a:extLst>
          </p:cNvPr>
          <p:cNvSpPr txBox="1"/>
          <p:nvPr/>
        </p:nvSpPr>
        <p:spPr>
          <a:xfrm>
            <a:off x="1150369" y="1934694"/>
            <a:ext cx="50726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assign new columns to a pandas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dictionary-like syntax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new_col_name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] =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new_col_data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05E5DC8-5B34-7CD6-9F28-F0C836A139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Expanding </a:t>
            </a:r>
            <a:r>
              <a:rPr lang="en-GB" dirty="0" err="1"/>
              <a:t>DataFrames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B0C16E4-C155-F79C-E65A-6DFC3FC06AD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4" name="Picture 3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DEF7EB-613B-D5A6-24C4-990ECD205B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4129" r="24268" b="34059"/>
          <a:stretch>
            <a:fillRect/>
          </a:stretch>
        </p:blipFill>
        <p:spPr>
          <a:xfrm>
            <a:off x="6709066" y="2237466"/>
            <a:ext cx="4738074" cy="1730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746006-A4B2-19D7-3260-70A953ECF6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4" t="45051" r="34346" b="50762"/>
          <a:stretch>
            <a:fillRect/>
          </a:stretch>
        </p:blipFill>
        <p:spPr>
          <a:xfrm>
            <a:off x="6726985" y="2752725"/>
            <a:ext cx="4687140" cy="120748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567633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958772D-93B4-378C-837A-3CD8B95DB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A77B266-5DBB-660B-E89C-4D0F2A59961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42AFBEA-DC0E-9735-790D-C9CF2BEAD5DA}"/>
              </a:ext>
            </a:extLst>
          </p:cNvPr>
          <p:cNvSpPr txBox="1"/>
          <p:nvPr/>
        </p:nvSpPr>
        <p:spPr>
          <a:xfrm>
            <a:off x="1150369" y="1934694"/>
            <a:ext cx="50726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assign new columns to a pandas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dictionary-like syntax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new_col_name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] =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new_col_data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91353FA-6E39-D9F9-A350-F65FA5FBC9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Expanding </a:t>
            </a:r>
            <a:r>
              <a:rPr lang="en-GB" dirty="0" err="1"/>
              <a:t>DataFrames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F44F560-EDE2-EA82-1291-CFA13EF2903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4" name="Picture 3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5F587A-33C5-76B6-0635-63A8A173EA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4129" r="24268" b="34059"/>
          <a:stretch>
            <a:fillRect/>
          </a:stretch>
        </p:blipFill>
        <p:spPr>
          <a:xfrm>
            <a:off x="6709066" y="2237466"/>
            <a:ext cx="4738074" cy="1730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66CCAF-A0BC-7DD5-52B4-60A1FAC2CA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4" t="45051" r="34346" b="50762"/>
          <a:stretch>
            <a:fillRect/>
          </a:stretch>
        </p:blipFill>
        <p:spPr>
          <a:xfrm>
            <a:off x="6726985" y="2927350"/>
            <a:ext cx="4687140" cy="10328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676012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43270EA-2047-0C59-77A6-DDD68D395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61CDAB7-44CF-3A1E-E1BD-08F6A663EAE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9F11590-ABA8-849D-CCBB-8FE91D9BA0F2}"/>
              </a:ext>
            </a:extLst>
          </p:cNvPr>
          <p:cNvSpPr txBox="1"/>
          <p:nvPr/>
        </p:nvSpPr>
        <p:spPr>
          <a:xfrm>
            <a:off x="1150369" y="1934694"/>
            <a:ext cx="50726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assign new columns to a pandas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dictionary-like syntax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new_col_name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] =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new_col_data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36FC699-9E38-5C93-9BE1-70844AC374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Expanding </a:t>
            </a:r>
            <a:r>
              <a:rPr lang="en-GB" dirty="0" err="1"/>
              <a:t>DataFrames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0485EF9-3A36-29B1-2F96-310059E8399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4" name="Picture 3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BC7F23-EA68-E4E7-B8F0-4238E7D1EB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4129" r="24268" b="34059"/>
          <a:stretch>
            <a:fillRect/>
          </a:stretch>
        </p:blipFill>
        <p:spPr>
          <a:xfrm>
            <a:off x="6709066" y="2237466"/>
            <a:ext cx="4738074" cy="1730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44BF56-5BB6-AABB-8DAA-BC7FF25DCA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4" t="45051" r="34346" b="50762"/>
          <a:stretch>
            <a:fillRect/>
          </a:stretch>
        </p:blipFill>
        <p:spPr>
          <a:xfrm>
            <a:off x="6726985" y="3149600"/>
            <a:ext cx="4687140" cy="81061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207670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EE9908F-54E5-1104-891F-78F6647DF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924A013-5E3C-8DAF-F291-6304364DB79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6606E0D-51B5-A2C8-7270-26171C11F627}"/>
              </a:ext>
            </a:extLst>
          </p:cNvPr>
          <p:cNvSpPr txBox="1"/>
          <p:nvPr/>
        </p:nvSpPr>
        <p:spPr>
          <a:xfrm>
            <a:off x="1150369" y="1934694"/>
            <a:ext cx="50726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assign new columns to a pandas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dictionary-like syntax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new_col_name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] =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new_col_data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4340D22-6AF7-B2EF-0F52-867A1E5468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Expanding </a:t>
            </a:r>
            <a:r>
              <a:rPr lang="en-GB" dirty="0" err="1"/>
              <a:t>DataFrames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6ADBF61-9D2E-A65D-F3F0-C33BED090D2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4" name="Picture 3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2F23C3-7DB5-83A9-C5CE-3B11491D7E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4129" r="24268" b="34059"/>
          <a:stretch>
            <a:fillRect/>
          </a:stretch>
        </p:blipFill>
        <p:spPr>
          <a:xfrm>
            <a:off x="6709066" y="2237466"/>
            <a:ext cx="4738074" cy="1730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4D028A-6700-9B77-987E-49EC224DB8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4" t="45051" r="34346" b="50762"/>
          <a:stretch>
            <a:fillRect/>
          </a:stretch>
        </p:blipFill>
        <p:spPr>
          <a:xfrm>
            <a:off x="6726985" y="3429000"/>
            <a:ext cx="4687140" cy="53121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041394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88039EB-C7E1-3FB4-6494-1E0809392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E30F393-131B-0406-5345-31634BFCD04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892027C-97A4-8801-A0BB-3DA0C0F71389}"/>
              </a:ext>
            </a:extLst>
          </p:cNvPr>
          <p:cNvSpPr txBox="1"/>
          <p:nvPr/>
        </p:nvSpPr>
        <p:spPr>
          <a:xfrm>
            <a:off x="1150369" y="1934694"/>
            <a:ext cx="50726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assign new columns to a pandas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dictionary-like syntax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new_col_name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] =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new_col_data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C297247-97A7-651F-67B3-B17C1BBB7A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Expanding </a:t>
            </a:r>
            <a:r>
              <a:rPr lang="en-GB" dirty="0" err="1"/>
              <a:t>DataFrames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8D3A04C-13F1-8346-7815-AAF8673D9D0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4" name="Picture 3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858166-DF94-8783-189E-3E8B437AD2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4129" r="24268" b="34059"/>
          <a:stretch>
            <a:fillRect/>
          </a:stretch>
        </p:blipFill>
        <p:spPr>
          <a:xfrm>
            <a:off x="6709066" y="2237466"/>
            <a:ext cx="4738074" cy="1730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5E2649-DC71-122D-989B-2E4A0FFA12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4" t="45051" r="34346" b="50762"/>
          <a:stretch>
            <a:fillRect/>
          </a:stretch>
        </p:blipFill>
        <p:spPr>
          <a:xfrm>
            <a:off x="6726985" y="3606800"/>
            <a:ext cx="4687140" cy="35341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678264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F57330E-226F-984E-C2EF-5DB55CD34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64E92B5-BAB8-9BC5-6974-EED7DB59C6F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06856F5-220B-A5AA-3685-A233AB376BE6}"/>
              </a:ext>
            </a:extLst>
          </p:cNvPr>
          <p:cNvSpPr txBox="1"/>
          <p:nvPr/>
        </p:nvSpPr>
        <p:spPr>
          <a:xfrm>
            <a:off x="1150369" y="1934694"/>
            <a:ext cx="50726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assign new columns to a pandas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dictionary-like syntax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new_col_name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] =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new_col_data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5FA1502-E8C6-7343-3CD5-588236DB3F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Expanding </a:t>
            </a:r>
            <a:r>
              <a:rPr lang="en-GB" dirty="0" err="1"/>
              <a:t>DataFrames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2D2BD47-32AB-4776-BFAB-5070A01EC46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4" name="Picture 3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872EE7-8959-D938-6DAE-A4A4C5546B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4129" r="24268" b="34059"/>
          <a:stretch>
            <a:fillRect/>
          </a:stretch>
        </p:blipFill>
        <p:spPr>
          <a:xfrm>
            <a:off x="6709066" y="2237466"/>
            <a:ext cx="4738074" cy="1730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5805BE-7024-F1AB-128A-2EA34CB9B9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4" t="45051" r="34346" b="50762"/>
          <a:stretch>
            <a:fillRect/>
          </a:stretch>
        </p:blipFill>
        <p:spPr>
          <a:xfrm>
            <a:off x="6726985" y="3800474"/>
            <a:ext cx="4687140" cy="15973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841551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325B5DF-816E-F187-2D24-2FC1FA6D3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92D41E5-F33F-4C90-0A95-A71EFE16DF6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2534F8C-CFAC-FD6B-3E4D-8FEBCAE88997}"/>
              </a:ext>
            </a:extLst>
          </p:cNvPr>
          <p:cNvSpPr txBox="1"/>
          <p:nvPr/>
        </p:nvSpPr>
        <p:spPr>
          <a:xfrm>
            <a:off x="1150369" y="1934694"/>
            <a:ext cx="51107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assign new columns to a pandas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dictionary-like syntax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new_col_name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] =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new_col_data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482FC1A-072F-881A-2645-8480D0A420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Expanding </a:t>
            </a:r>
            <a:r>
              <a:rPr lang="en-GB" dirty="0" err="1"/>
              <a:t>DataFrames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F33E639-6367-C78A-57E8-9EBA1E5B281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4" name="Picture 3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214581-B7E4-438B-D103-E783D66F65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4129" r="24268" b="34059"/>
          <a:stretch>
            <a:fillRect/>
          </a:stretch>
        </p:blipFill>
        <p:spPr>
          <a:xfrm>
            <a:off x="6709066" y="2237466"/>
            <a:ext cx="4738074" cy="17303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452433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8CCDCCF-3628-3C1E-3CA5-33B2E865A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6072DE5-3C33-8B0D-51C4-801388F7A9F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1655084-B6C0-C53D-D682-3818B37CB340}"/>
              </a:ext>
            </a:extLst>
          </p:cNvPr>
          <p:cNvSpPr txBox="1"/>
          <p:nvPr/>
        </p:nvSpPr>
        <p:spPr>
          <a:xfrm>
            <a:off x="1150369" y="1934694"/>
            <a:ext cx="51107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assign new columns to a pandas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dictionary-like syntax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new_col_name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] =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new_col_data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C1A5A7A-7774-E59F-3CDD-35E2AA4EEB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Expanding </a:t>
            </a:r>
            <a:r>
              <a:rPr lang="en-GB" dirty="0" err="1"/>
              <a:t>DataFrames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867355A-A750-1040-8EDC-DA99F5C6776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4" name="Picture 3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C5990A-9001-4D6C-0140-BEA22D8FDB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4129" r="24268" b="34059"/>
          <a:stretch>
            <a:fillRect/>
          </a:stretch>
        </p:blipFill>
        <p:spPr>
          <a:xfrm>
            <a:off x="6709066" y="2237466"/>
            <a:ext cx="4738074" cy="1730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0AF54B-968D-2B8A-89B7-D412AEFE33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36" t="30095" r="41607" b="37195"/>
          <a:stretch>
            <a:fillRect/>
          </a:stretch>
        </p:blipFill>
        <p:spPr>
          <a:xfrm>
            <a:off x="7484208" y="4354757"/>
            <a:ext cx="3962932" cy="15879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1698630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E6E1445-5011-AC29-B585-C47422C9F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C0F9A2A-2E29-DB9F-332B-7B2656A67C7C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82C1EA8-F1B0-4425-E150-B42F244DEED2}"/>
              </a:ext>
            </a:extLst>
          </p:cNvPr>
          <p:cNvSpPr txBox="1"/>
          <p:nvPr/>
        </p:nvSpPr>
        <p:spPr>
          <a:xfrm>
            <a:off x="1150369" y="1934694"/>
            <a:ext cx="51107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assign new columns to a pandas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dictionary-like syntax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new_col_name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] =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new_col_data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Typically,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new_col_data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 Series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51459C1-0851-B5EC-336D-987321ED91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Expanding </a:t>
            </a:r>
            <a:r>
              <a:rPr lang="en-GB" dirty="0" err="1"/>
              <a:t>DataFrames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6DCBFFC-F409-C0E5-6024-1F50986C8FE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4" name="Picture 3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8D766D-204E-397D-5B59-AE49DCE993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4129" r="24268" b="34059"/>
          <a:stretch>
            <a:fillRect/>
          </a:stretch>
        </p:blipFill>
        <p:spPr>
          <a:xfrm>
            <a:off x="6709066" y="2237466"/>
            <a:ext cx="4738074" cy="1730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D98FCE-86A1-5ED0-FF53-5404159B6F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36" t="30095" r="41607" b="37195"/>
          <a:stretch>
            <a:fillRect/>
          </a:stretch>
        </p:blipFill>
        <p:spPr>
          <a:xfrm>
            <a:off x="7484208" y="4354757"/>
            <a:ext cx="3962932" cy="15879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7632620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0E14622-201D-4320-93FE-83FB83A6D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0803C0D-419C-4303-2629-EEEF346355E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616B319-4734-C72D-DF8D-2BC5B08D8926}"/>
              </a:ext>
            </a:extLst>
          </p:cNvPr>
          <p:cNvSpPr txBox="1"/>
          <p:nvPr/>
        </p:nvSpPr>
        <p:spPr>
          <a:xfrm>
            <a:off x="1150369" y="1934694"/>
            <a:ext cx="51107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assign new columns to a pandas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dictionary-like syntax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new_col_name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] =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new_col_data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Typically,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new_col_data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 Series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you can also use other datatypes such as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lists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 arrays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9BEB0D4-C06F-4021-301D-DD50B44574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Expanding </a:t>
            </a:r>
            <a:r>
              <a:rPr lang="en-GB" dirty="0" err="1"/>
              <a:t>DataFrames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4CA7DED-988D-036F-3152-19DF8515FA0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4" name="Picture 3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A023EC-7467-4988-F2BC-7DA36CFC8B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4129" r="24268" b="34059"/>
          <a:stretch>
            <a:fillRect/>
          </a:stretch>
        </p:blipFill>
        <p:spPr>
          <a:xfrm>
            <a:off x="6709066" y="2237466"/>
            <a:ext cx="4738074" cy="1730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45DCF7-89D8-0CF7-86CA-C63663F197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36" t="30095" r="41607" b="37195"/>
          <a:stretch>
            <a:fillRect/>
          </a:stretch>
        </p:blipFill>
        <p:spPr>
          <a:xfrm>
            <a:off x="7484208" y="4354757"/>
            <a:ext cx="3962932" cy="15879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7423341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D88C80D-0CF9-A1ED-328E-0DDAB06FD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5253AE7-EA53-28CE-4FA1-E28AECA66494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75429D3-08DE-1A05-8063-A24C83393D3F}"/>
              </a:ext>
            </a:extLst>
          </p:cNvPr>
          <p:cNvSpPr txBox="1"/>
          <p:nvPr/>
        </p:nvSpPr>
        <p:spPr>
          <a:xfrm>
            <a:off x="1150369" y="1934694"/>
            <a:ext cx="51107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assign new columns to a pandas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dictionary-like syntax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new_col_name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] =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new_col_data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Typically,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new_col_data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 Series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you can also use other datatypes such as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lists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 arrays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new data must have the same number of rows 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5A16E23-8652-3A74-6F17-91EA490430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Expanding </a:t>
            </a:r>
            <a:r>
              <a:rPr lang="en-GB" dirty="0" err="1"/>
              <a:t>DataFrames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AA17619-B715-B9C8-16C4-10F5FACEB25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4" name="Picture 3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998D90-1E83-45A4-4322-08311DDF84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4129" r="24268" b="34059"/>
          <a:stretch>
            <a:fillRect/>
          </a:stretch>
        </p:blipFill>
        <p:spPr>
          <a:xfrm>
            <a:off x="6709066" y="2237466"/>
            <a:ext cx="4738074" cy="1730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46699D-BF6B-25BC-4555-573FAA623A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36" t="30095" r="41607" b="37195"/>
          <a:stretch>
            <a:fillRect/>
          </a:stretch>
        </p:blipFill>
        <p:spPr>
          <a:xfrm>
            <a:off x="7484208" y="4354757"/>
            <a:ext cx="3962932" cy="15879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31606011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1ADCE6E-9A12-F533-ECF8-B20E5C911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8B12D03-27DF-EA62-BDC3-21950443960D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D7C16C6-A26A-B053-0FD2-6D46E66BD5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Filtering Data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1BDE1CB-9B42-96AD-C134-AD08068A987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34468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ABB242D-E35A-AB9F-8117-E11E9D130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077F0ED-9439-49D0-AEBB-8DB73AB70B6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3C132F9-20E2-4139-842E-17B7E9057A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Filtering Data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7D73708-DCBA-6C82-9B14-3C3948500EE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8" name="Google Shape;150;p19">
            <a:extLst>
              <a:ext uri="{FF2B5EF4-FFF2-40B4-BE49-F238E27FC236}">
                <a16:creationId xmlns:a16="http://schemas.microsoft.com/office/drawing/2014/main" id="{5A115C77-48AF-BE8D-26AA-C8061659FD25}"/>
              </a:ext>
            </a:extLst>
          </p:cNvPr>
          <p:cNvSpPr txBox="1"/>
          <p:nvPr/>
        </p:nvSpPr>
        <p:spPr>
          <a:xfrm>
            <a:off x="1150369" y="1934694"/>
            <a:ext cx="532584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also allows to filter data based on conditions, using Boolean statements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808622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A54F599-0BB6-2CF8-3FD2-FA27475E8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5C013A8-99BB-FF1B-D453-B9A2299F181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D42653B-9FE3-F751-323B-F5CEEABD92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Filtering Data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B6A9C8E-41BF-BFC6-72B7-B2BCFEB0CF3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8" name="Google Shape;150;p19">
            <a:extLst>
              <a:ext uri="{FF2B5EF4-FFF2-40B4-BE49-F238E27FC236}">
                <a16:creationId xmlns:a16="http://schemas.microsoft.com/office/drawing/2014/main" id="{8524A293-2F4B-2CE3-0484-9BD2A5B4B8F8}"/>
              </a:ext>
            </a:extLst>
          </p:cNvPr>
          <p:cNvSpPr txBox="1"/>
          <p:nvPr/>
        </p:nvSpPr>
        <p:spPr>
          <a:xfrm>
            <a:off x="1150369" y="1934694"/>
            <a:ext cx="532584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also allows to filter data based on conditions, using Boolean statements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create filters (masks) using comparison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390430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44F75F7-2F20-9E06-4B2E-A0C5DFA9C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23B913F-7CEB-8284-F908-09DB84838F44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BAB2B7D-6ED8-674F-2D03-79EBD86826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Filtering Data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6B2F8E0-5290-B7E4-5913-1634EBCEE33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9" name="Picture 3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05A529-A5DF-1B1E-3261-152921DF06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42068" r="39269" b="28274"/>
          <a:stretch>
            <a:fillRect/>
          </a:stretch>
        </p:blipFill>
        <p:spPr>
          <a:xfrm>
            <a:off x="7578623" y="981821"/>
            <a:ext cx="3705262" cy="12790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Google Shape;150;p19">
            <a:extLst>
              <a:ext uri="{FF2B5EF4-FFF2-40B4-BE49-F238E27FC236}">
                <a16:creationId xmlns:a16="http://schemas.microsoft.com/office/drawing/2014/main" id="{CDA47E05-7BC0-4496-46CB-CCA7BCB6F84A}"/>
              </a:ext>
            </a:extLst>
          </p:cNvPr>
          <p:cNvSpPr txBox="1"/>
          <p:nvPr/>
        </p:nvSpPr>
        <p:spPr>
          <a:xfrm>
            <a:off x="1150369" y="1934694"/>
            <a:ext cx="532584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also allows to filter data based on conditions, using Boolean statements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create filters (masks) using comparison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9CF5C2-0138-4D10-79FD-88E3350071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843" t="56589" r="39269" b="28274"/>
          <a:stretch>
            <a:fillRect/>
          </a:stretch>
        </p:blipFill>
        <p:spPr>
          <a:xfrm>
            <a:off x="7599373" y="990287"/>
            <a:ext cx="3684512" cy="126240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3269520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CD6FE84-1C76-7385-FE66-830EDBD16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BFF1010-B01A-6995-2478-94038C19991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4E75B4E-295C-265F-DABE-189A2487F9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Filtering Data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B37C3A3-A519-E98F-8F5C-DB93B4FD86E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9" name="Picture 3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EC2D43-CA19-A6B5-74F4-64C0733D8D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42068" r="39269" b="28274"/>
          <a:stretch>
            <a:fillRect/>
          </a:stretch>
        </p:blipFill>
        <p:spPr>
          <a:xfrm>
            <a:off x="7578623" y="981821"/>
            <a:ext cx="3705262" cy="12790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Google Shape;150;p19">
            <a:extLst>
              <a:ext uri="{FF2B5EF4-FFF2-40B4-BE49-F238E27FC236}">
                <a16:creationId xmlns:a16="http://schemas.microsoft.com/office/drawing/2014/main" id="{9D494569-9432-25DA-3495-AC15ADA242B3}"/>
              </a:ext>
            </a:extLst>
          </p:cNvPr>
          <p:cNvSpPr txBox="1"/>
          <p:nvPr/>
        </p:nvSpPr>
        <p:spPr>
          <a:xfrm>
            <a:off x="1150369" y="1934694"/>
            <a:ext cx="532584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also allows to filter data based on conditions, using Boolean statements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create filters (masks) using comparison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EA06F1-1F95-5736-EA12-9E7B99703C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843" t="56589" r="39269" b="28274"/>
          <a:stretch>
            <a:fillRect/>
          </a:stretch>
        </p:blipFill>
        <p:spPr>
          <a:xfrm>
            <a:off x="7599373" y="1178983"/>
            <a:ext cx="3684512" cy="107370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9663011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9E8CA84-1CC9-1C7B-5127-A5074141B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8463D17-6152-18E8-8B1A-6076362D81AD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F84A6FE-9045-8C41-298C-D75B48B50F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Filtering Data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8CA03CD-D628-9E70-47B5-C93765E702F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9" name="Picture 3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56FD62-55C7-02FB-94B3-3965CA2610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42068" r="39269" b="28274"/>
          <a:stretch>
            <a:fillRect/>
          </a:stretch>
        </p:blipFill>
        <p:spPr>
          <a:xfrm>
            <a:off x="7578623" y="981821"/>
            <a:ext cx="3705262" cy="12790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Google Shape;150;p19">
            <a:extLst>
              <a:ext uri="{FF2B5EF4-FFF2-40B4-BE49-F238E27FC236}">
                <a16:creationId xmlns:a16="http://schemas.microsoft.com/office/drawing/2014/main" id="{E34172E3-53C8-E50D-EBC4-71D615171733}"/>
              </a:ext>
            </a:extLst>
          </p:cNvPr>
          <p:cNvSpPr txBox="1"/>
          <p:nvPr/>
        </p:nvSpPr>
        <p:spPr>
          <a:xfrm>
            <a:off x="1150369" y="1934694"/>
            <a:ext cx="532584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also allows to filter data based on conditions, using Boolean statements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create filters (masks) using comparison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931E56-1DF1-F088-8BF6-7CA17214A4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843" t="56589" r="39269" b="28274"/>
          <a:stretch>
            <a:fillRect/>
          </a:stretch>
        </p:blipFill>
        <p:spPr>
          <a:xfrm>
            <a:off x="7599373" y="1358900"/>
            <a:ext cx="3684512" cy="88744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974106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59BC0C6-8F74-5F92-D84E-6D95256DE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8CFE2BC-DB97-3673-84DE-4161BDC86AB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6FAB0D9-7660-A543-9951-6E76EEA9EA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Filtering Data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909E6B7-3440-018F-42C6-EE0726B917D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9" name="Picture 3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63CB21-262D-76F7-95B2-3A47886D0B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42068" r="39269" b="28274"/>
          <a:stretch>
            <a:fillRect/>
          </a:stretch>
        </p:blipFill>
        <p:spPr>
          <a:xfrm>
            <a:off x="7578623" y="981821"/>
            <a:ext cx="3705262" cy="12790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Google Shape;150;p19">
            <a:extLst>
              <a:ext uri="{FF2B5EF4-FFF2-40B4-BE49-F238E27FC236}">
                <a16:creationId xmlns:a16="http://schemas.microsoft.com/office/drawing/2014/main" id="{E2E8E230-86AD-39F1-3537-7ADF076B923F}"/>
              </a:ext>
            </a:extLst>
          </p:cNvPr>
          <p:cNvSpPr txBox="1"/>
          <p:nvPr/>
        </p:nvSpPr>
        <p:spPr>
          <a:xfrm>
            <a:off x="1150369" y="1934694"/>
            <a:ext cx="532584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also allows to filter data based on conditions, using Boolean statements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create filters (masks) using comparison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C79F91-54B5-C181-6150-E10A056FB9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843" t="56589" r="39269" b="28274"/>
          <a:stretch>
            <a:fillRect/>
          </a:stretch>
        </p:blipFill>
        <p:spPr>
          <a:xfrm>
            <a:off x="7599373" y="1593534"/>
            <a:ext cx="3684512" cy="65280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5934690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88E5CE6-B6CF-8E1A-CED3-A8A704B61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9E2531F-41FB-5A30-B293-59EC91EBEAE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4D7B4BE-F150-16BD-242E-B77E534A2E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Filtering Data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600F7F7-34B1-24E6-9922-49CCDB6026E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9" name="Picture 3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F3202F-8904-1F2B-462E-616E5AC408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42068" r="39269" b="28274"/>
          <a:stretch>
            <a:fillRect/>
          </a:stretch>
        </p:blipFill>
        <p:spPr>
          <a:xfrm>
            <a:off x="7578623" y="981821"/>
            <a:ext cx="3705262" cy="12790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1" name="Picture 4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BCCA7A-8C8A-98DE-5005-DC6761E332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35" t="21826" r="53042" b="51933"/>
          <a:stretch>
            <a:fillRect/>
          </a:stretch>
        </p:blipFill>
        <p:spPr>
          <a:xfrm>
            <a:off x="8702737" y="2602791"/>
            <a:ext cx="2581148" cy="11316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Google Shape;150;p19">
            <a:extLst>
              <a:ext uri="{FF2B5EF4-FFF2-40B4-BE49-F238E27FC236}">
                <a16:creationId xmlns:a16="http://schemas.microsoft.com/office/drawing/2014/main" id="{EE0214B2-25FB-0674-3CA7-30B6A9F9B781}"/>
              </a:ext>
            </a:extLst>
          </p:cNvPr>
          <p:cNvSpPr txBox="1"/>
          <p:nvPr/>
        </p:nvSpPr>
        <p:spPr>
          <a:xfrm>
            <a:off x="1150369" y="1934694"/>
            <a:ext cx="532584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also allows to filter data based on conditions, using Boolean statements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create filters (masks) using comparison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2E193B-BA9F-5EA8-C70F-E9F0419C74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843" t="56589" r="39269" b="28274"/>
          <a:stretch>
            <a:fillRect/>
          </a:stretch>
        </p:blipFill>
        <p:spPr>
          <a:xfrm>
            <a:off x="7599373" y="1593534"/>
            <a:ext cx="3684512" cy="65280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197145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65C33BB-BA8E-F8CB-6509-21EFEB04E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823ACA0-AA73-FAE2-08E1-AEF535F25A5D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F0FF027-A610-F669-B697-BEDC536822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Filtering Data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A7B7132-F75B-37DE-AA00-35E79F696F3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9" name="Picture 3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84A003-FD1D-93EB-267C-A164B164DE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42068" r="39269" b="28274"/>
          <a:stretch>
            <a:fillRect/>
          </a:stretch>
        </p:blipFill>
        <p:spPr>
          <a:xfrm>
            <a:off x="7578623" y="981821"/>
            <a:ext cx="3705262" cy="12790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1" name="Picture 4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21B254-4697-B565-4730-1B211726F4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35" t="21826" r="53042" b="51933"/>
          <a:stretch>
            <a:fillRect/>
          </a:stretch>
        </p:blipFill>
        <p:spPr>
          <a:xfrm>
            <a:off x="8702737" y="2602791"/>
            <a:ext cx="2581148" cy="11316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Google Shape;150;p19">
            <a:extLst>
              <a:ext uri="{FF2B5EF4-FFF2-40B4-BE49-F238E27FC236}">
                <a16:creationId xmlns:a16="http://schemas.microsoft.com/office/drawing/2014/main" id="{7CC12D76-5A40-8595-E679-3B3E18C1B415}"/>
              </a:ext>
            </a:extLst>
          </p:cNvPr>
          <p:cNvSpPr txBox="1"/>
          <p:nvPr/>
        </p:nvSpPr>
        <p:spPr>
          <a:xfrm>
            <a:off x="1150369" y="1934694"/>
            <a:ext cx="532584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also allows to filter data based on conditions, using Boolean statements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create filters (masks) using comparison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contain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True/False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values for each row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41BE34-6BA7-9BDE-D260-FFF0BCC190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843" t="56589" r="39269" b="28274"/>
          <a:stretch>
            <a:fillRect/>
          </a:stretch>
        </p:blipFill>
        <p:spPr>
          <a:xfrm>
            <a:off x="7599373" y="1593534"/>
            <a:ext cx="3684512" cy="65280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555434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A5547A5-304C-F06A-2986-3D836B23E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10911EB-9D2D-6604-8F9F-DA2385BA90F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ADA6A08-E244-DD32-3D3B-DDF9D0528C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Filtering Data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1FB9253-6132-F374-896B-2866D5763AE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9" name="Picture 3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2E202D-8CC3-384A-7261-B8055A9CDB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42068" r="39269" b="28274"/>
          <a:stretch>
            <a:fillRect/>
          </a:stretch>
        </p:blipFill>
        <p:spPr>
          <a:xfrm>
            <a:off x="7578623" y="981821"/>
            <a:ext cx="3705262" cy="12790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1" name="Picture 4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7E5EF5-AA38-3921-AD32-07E64E823B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35" t="21826" r="53042" b="51933"/>
          <a:stretch>
            <a:fillRect/>
          </a:stretch>
        </p:blipFill>
        <p:spPr>
          <a:xfrm>
            <a:off x="8702737" y="2602791"/>
            <a:ext cx="2581148" cy="11316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Google Shape;150;p19">
            <a:extLst>
              <a:ext uri="{FF2B5EF4-FFF2-40B4-BE49-F238E27FC236}">
                <a16:creationId xmlns:a16="http://schemas.microsoft.com/office/drawing/2014/main" id="{CBE4B7EF-0371-616B-DEFC-5A934854BDF5}"/>
              </a:ext>
            </a:extLst>
          </p:cNvPr>
          <p:cNvSpPr txBox="1"/>
          <p:nvPr/>
        </p:nvSpPr>
        <p:spPr>
          <a:xfrm>
            <a:off x="1150369" y="1934694"/>
            <a:ext cx="532584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also allows to filter data based on conditions, using Boolean statements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create filters (masks) using comparison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contain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True/False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values for each row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then apply the filter to the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reduce to only the rows which satisfy the Boolean condition.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2EF4FB-9032-FA99-33F1-E69E0308E3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843" t="56589" r="39269" b="28274"/>
          <a:stretch>
            <a:fillRect/>
          </a:stretch>
        </p:blipFill>
        <p:spPr>
          <a:xfrm>
            <a:off x="7599373" y="1593534"/>
            <a:ext cx="3684512" cy="65280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507501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A79D88F-14D2-F36E-B6B3-752CF9CB6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E0A856-C7FC-0702-1B17-27DDBE5644C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C3023A9-DA3F-918C-3766-DAB6AD60D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Filtering Data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01AEE14-23DF-1EF2-1A80-796A78F10B6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9" name="Picture 3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71C7FF-99BE-3AB1-8A68-D94DF79BC9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42068" r="39269" b="28274"/>
          <a:stretch>
            <a:fillRect/>
          </a:stretch>
        </p:blipFill>
        <p:spPr>
          <a:xfrm>
            <a:off x="7578623" y="981821"/>
            <a:ext cx="3705262" cy="12790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1" name="Picture 4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FA3036-67A9-3258-2441-A6EE823430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35" t="21826" r="53042" b="51933"/>
          <a:stretch>
            <a:fillRect/>
          </a:stretch>
        </p:blipFill>
        <p:spPr>
          <a:xfrm>
            <a:off x="8702737" y="2602791"/>
            <a:ext cx="2581148" cy="11316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Google Shape;150;p19">
            <a:extLst>
              <a:ext uri="{FF2B5EF4-FFF2-40B4-BE49-F238E27FC236}">
                <a16:creationId xmlns:a16="http://schemas.microsoft.com/office/drawing/2014/main" id="{76B87054-F7D4-0D61-E873-9413B41EAD96}"/>
              </a:ext>
            </a:extLst>
          </p:cNvPr>
          <p:cNvSpPr txBox="1"/>
          <p:nvPr/>
        </p:nvSpPr>
        <p:spPr>
          <a:xfrm>
            <a:off x="1150369" y="1934694"/>
            <a:ext cx="532584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also allows to filter data based on conditions, using Boolean statements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create filters (masks) using comparison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contain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True/False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values for each row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then apply the filter to the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reduce to only the rows which satisfy the Boolean condition.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27085E-DDC9-6C0A-F579-C1378AAE20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843" t="56589" r="39269" b="28274"/>
          <a:stretch>
            <a:fillRect/>
          </a:stretch>
        </p:blipFill>
        <p:spPr>
          <a:xfrm>
            <a:off x="7596198" y="1864868"/>
            <a:ext cx="3684512" cy="37668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508953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C03EE6F-46F5-6BD5-BD65-42826EAFE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A02C554-BA8C-4981-7A5D-BC09590CC11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7A4E401-F7A0-1E86-24FC-9078887112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Filtering Data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D0C9496-A5F8-4453-3706-47373075D9C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9" name="Picture 3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11B76D-69C5-33D5-9BAC-F7396484BE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42068" r="39269" b="28274"/>
          <a:stretch>
            <a:fillRect/>
          </a:stretch>
        </p:blipFill>
        <p:spPr>
          <a:xfrm>
            <a:off x="7578623" y="981821"/>
            <a:ext cx="3705262" cy="12790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1" name="Picture 4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4431BC-2DFF-DA00-425E-81252E42C1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35" t="21826" r="53042" b="51933"/>
          <a:stretch>
            <a:fillRect/>
          </a:stretch>
        </p:blipFill>
        <p:spPr>
          <a:xfrm>
            <a:off x="8702737" y="2602791"/>
            <a:ext cx="2581148" cy="11316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Google Shape;150;p19">
            <a:extLst>
              <a:ext uri="{FF2B5EF4-FFF2-40B4-BE49-F238E27FC236}">
                <a16:creationId xmlns:a16="http://schemas.microsoft.com/office/drawing/2014/main" id="{47B17FF0-7CED-6278-441F-9FE35CB86912}"/>
              </a:ext>
            </a:extLst>
          </p:cNvPr>
          <p:cNvSpPr txBox="1"/>
          <p:nvPr/>
        </p:nvSpPr>
        <p:spPr>
          <a:xfrm>
            <a:off x="1150369" y="1934694"/>
            <a:ext cx="532584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also allows to filter data based on conditions, using Boolean statements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create filters (masks) using comparison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contain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True/False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values for each row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then apply the filter to the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reduce to only the rows which satisfy the Boolean condition.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4C4DC7-ABB6-C6AF-6E8E-59B53F0454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843" t="56589" r="39269" b="28274"/>
          <a:stretch>
            <a:fillRect/>
          </a:stretch>
        </p:blipFill>
        <p:spPr>
          <a:xfrm>
            <a:off x="7596198" y="2041524"/>
            <a:ext cx="3684512" cy="2000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636114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0F863EB-420B-C2E0-F41E-F6E74D71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2A44E34-BB0C-29B2-6370-2C26C174886C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5973E7A-14E8-BF4C-7100-DA0E857EE2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Filtering Data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E9A959C-16AD-7045-7128-F0E5DAFCD9C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9" name="Picture 3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B64A23-773B-B79C-28B5-6DF16FA03E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42068" r="39269" b="28274"/>
          <a:stretch>
            <a:fillRect/>
          </a:stretch>
        </p:blipFill>
        <p:spPr>
          <a:xfrm>
            <a:off x="7578623" y="981821"/>
            <a:ext cx="3705262" cy="12790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1" name="Picture 4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0115DA-D26C-5372-16AA-04E34C9676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35" t="21826" r="53042" b="51933"/>
          <a:stretch>
            <a:fillRect/>
          </a:stretch>
        </p:blipFill>
        <p:spPr>
          <a:xfrm>
            <a:off x="8702737" y="2602791"/>
            <a:ext cx="2581148" cy="11316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Google Shape;150;p19">
            <a:extLst>
              <a:ext uri="{FF2B5EF4-FFF2-40B4-BE49-F238E27FC236}">
                <a16:creationId xmlns:a16="http://schemas.microsoft.com/office/drawing/2014/main" id="{90B541AA-D8DD-5B32-29FA-893CEC336231}"/>
              </a:ext>
            </a:extLst>
          </p:cNvPr>
          <p:cNvSpPr txBox="1"/>
          <p:nvPr/>
        </p:nvSpPr>
        <p:spPr>
          <a:xfrm>
            <a:off x="1150369" y="1934694"/>
            <a:ext cx="532584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also allows to filter data based on conditions, using Boolean statements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create filters (masks) using comparison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contain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True/False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values for each row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then apply the filter to the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reduce to only the rows which satisfy the Boolean condition.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441980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E94DD17-B3C8-9179-98A7-418414850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47C246C-EB52-979E-D84F-47B6B54BA12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51A3FB6-2EEA-BD74-5C09-0526AB6DB2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Filtering Data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90F59EC-5C00-E43D-E818-3FE92A55B40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9" name="Picture 3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745163-229E-8A29-51B2-5070E41CCA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42068" r="39269" b="28274"/>
          <a:stretch>
            <a:fillRect/>
          </a:stretch>
        </p:blipFill>
        <p:spPr>
          <a:xfrm>
            <a:off x="7578623" y="981821"/>
            <a:ext cx="3705262" cy="12790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1" name="Picture 4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482AF6-0436-1C90-B614-C7AA00B5AA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35" t="21826" r="53042" b="51933"/>
          <a:stretch>
            <a:fillRect/>
          </a:stretch>
        </p:blipFill>
        <p:spPr>
          <a:xfrm>
            <a:off x="8702737" y="2602791"/>
            <a:ext cx="2581148" cy="11316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2" name="Picture 4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B06C4B-0E9B-2A42-1BA6-CF199B87FE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36" t="50062" r="43348" b="13825"/>
          <a:stretch>
            <a:fillRect/>
          </a:stretch>
        </p:blipFill>
        <p:spPr>
          <a:xfrm>
            <a:off x="7906418" y="4144605"/>
            <a:ext cx="3377467" cy="15574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Google Shape;150;p19">
            <a:extLst>
              <a:ext uri="{FF2B5EF4-FFF2-40B4-BE49-F238E27FC236}">
                <a16:creationId xmlns:a16="http://schemas.microsoft.com/office/drawing/2014/main" id="{B2FBBCB8-C602-8014-99A6-C614B7804DD1}"/>
              </a:ext>
            </a:extLst>
          </p:cNvPr>
          <p:cNvSpPr txBox="1"/>
          <p:nvPr/>
        </p:nvSpPr>
        <p:spPr>
          <a:xfrm>
            <a:off x="1150369" y="1934694"/>
            <a:ext cx="532584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also allows to filter data based on conditions, using Boolean statements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create filters (masks) using comparison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contain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True/False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values for each row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then apply the filter to the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reduce to only the rows which satisfy the Boolean condition.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398508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0DE7959-08DD-8C14-73D9-3A1C7C6ED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F9B5381-E64E-A978-6198-DEE2316B02F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35BBA06-A9E5-1CD8-275B-239C9F3BCB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Multiple Conditions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CFFABE0-D944-CFC0-84AD-C32EB9F9089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46905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BEED720-84E6-00D0-7B99-B2B50D654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89042F3-7D64-737D-F481-D5E986ABBFE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CCBE2D2-BC20-0479-C1BB-590149FCE8BE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can build more complex filters using Boolean operations</a:t>
            </a: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5509BB8-8B6B-0E6A-2273-90AA2FA474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Multiple Conditions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7073593-1F58-861B-8B22-AADDA286BC5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871928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96BBD20-515D-EF0D-EAC7-1CBB0AEFA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BA82558-5D87-57C1-EBF9-69F50EF673D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2D45A7A-246D-30F3-898C-0C2857568AF4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can build more complex filters using Boolean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&amp;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(and) or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|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(or)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4CE19AA-C734-E418-4AB4-D4C35D394E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Multiple Conditions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4FE9B10-22D2-5E31-B142-B70086B99EC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4367285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BFC0A32-1000-1FB4-5382-568A8B236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F5871E1-4911-01AD-C641-37FCBD8A880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62604F7-C093-E833-CB13-A0050681819B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can build more complex filters using Boolean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&amp;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(and) or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|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(or)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00163E4-8E16-0691-2DBB-072DE7D3C9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Multiple Conditions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EA04C40-C4AD-3FE9-DB91-FC2CAA236CF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4" name="Picture 4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742E31-D32C-DF5E-CA45-7F2835182F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27440" r="23036" b="58593"/>
          <a:stretch>
            <a:fillRect/>
          </a:stretch>
        </p:blipFill>
        <p:spPr>
          <a:xfrm>
            <a:off x="6815131" y="3039960"/>
            <a:ext cx="4440654" cy="5300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55996A-9C2D-14DD-A034-F8D51EAABA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409" t="37391" r="23036" b="58593"/>
          <a:stretch>
            <a:fillRect/>
          </a:stretch>
        </p:blipFill>
        <p:spPr>
          <a:xfrm>
            <a:off x="6841066" y="3055835"/>
            <a:ext cx="4309533" cy="48513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6860710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25E0C4E-A9AB-3034-1855-EFCF16294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EC0EB00-DD0C-69B2-9958-831454AE549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36CF26D-FD97-5732-36C6-F277295D7645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can build more complex filters using Boolean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&amp;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(and) or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|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(or)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86482C8-E79B-1DA8-B3E8-597FB0E47F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Multiple Conditions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6E37F12-D4B7-0A56-285E-39B5225A129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4" name="Picture 4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62B8A3-D55C-3EE4-5A38-31E61AE481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27440" r="23036" b="58593"/>
          <a:stretch>
            <a:fillRect/>
          </a:stretch>
        </p:blipFill>
        <p:spPr>
          <a:xfrm>
            <a:off x="6815131" y="3039960"/>
            <a:ext cx="4440654" cy="5300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9C42FD-7A8B-6FD1-45E0-CF957F7522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409" t="37391" r="23036" b="58593"/>
          <a:stretch>
            <a:fillRect/>
          </a:stretch>
        </p:blipFill>
        <p:spPr>
          <a:xfrm>
            <a:off x="6841066" y="3210559"/>
            <a:ext cx="4309533" cy="33040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6035335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1787E96-9ED7-E8DE-79A8-4DA38B9B3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96BC3C8-D7C4-FC89-4314-53DDD1BCD9E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8A5E3DC-890A-1EF1-A628-117A3D948F14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can build more complex filters using Boolean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&amp;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(and) or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|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(or)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CE049DB-EB75-A974-72DE-DD9D28D78B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Multiple Conditions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A718B2C-B5BA-0ACE-9397-42CC2982929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4" name="Picture 4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8AD54B-C279-5012-9E3C-5DC41558FD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27440" r="23036" b="58593"/>
          <a:stretch>
            <a:fillRect/>
          </a:stretch>
        </p:blipFill>
        <p:spPr>
          <a:xfrm>
            <a:off x="6815131" y="3039960"/>
            <a:ext cx="4440654" cy="5300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8E0947-26E2-2B3D-BDB4-EE3C46B94F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409" t="37391" r="23036" b="58593"/>
          <a:stretch>
            <a:fillRect/>
          </a:stretch>
        </p:blipFill>
        <p:spPr>
          <a:xfrm>
            <a:off x="6841066" y="3383280"/>
            <a:ext cx="4309533" cy="15768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131083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2D9BDB9-53D9-F400-E525-42CFC5C9D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DCB1192-5D2B-772C-823D-E225EF3D695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06A99F9-AA94-40E8-3F53-92CE60E683E6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can build more complex filters using Boolean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&amp;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(and) or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|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(or)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8D3AAA4-9034-16AC-650F-122BEB19B6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Multiple Conditions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163CBC1-4EA5-C519-EA61-71604EBEEDF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4" name="Picture 4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54BC6C-7D96-A8DE-1873-ED320B88E8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27440" r="23036" b="58593"/>
          <a:stretch>
            <a:fillRect/>
          </a:stretch>
        </p:blipFill>
        <p:spPr>
          <a:xfrm>
            <a:off x="6815131" y="3039960"/>
            <a:ext cx="4440654" cy="5300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71142678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6D00AF7-6B80-60F9-DCED-CE046B783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6E6567E-BAF7-C501-96AD-618C97DB9B9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236C715-4445-CE5A-5383-1E23C9A62A0A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can build more complex filters using Boolean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&amp;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(and) or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|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(or)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B60A6F2-38D4-581F-0F92-5E9A4BB3FF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Multiple Conditions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B3A5EAD-8D3F-DB37-AB34-1A2FAEDDFE5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4" name="Picture 4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9DAAC3-63A2-34B9-5E78-79D4A32012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27440" r="23036" b="58593"/>
          <a:stretch>
            <a:fillRect/>
          </a:stretch>
        </p:blipFill>
        <p:spPr>
          <a:xfrm>
            <a:off x="6815131" y="3039960"/>
            <a:ext cx="4440654" cy="5300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5" name="Picture 4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147F33-62E8-3559-35FF-5E73B0DCCD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46912" r="42039" b="21535"/>
          <a:stretch>
            <a:fillRect/>
          </a:stretch>
        </p:blipFill>
        <p:spPr>
          <a:xfrm>
            <a:off x="7478486" y="3802163"/>
            <a:ext cx="3777299" cy="14748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9475742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9B87E8F-5686-D874-84F6-52234AE12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F9A473D-8B75-6BA7-BDC8-0CC11151144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350D2E1-3D77-EB25-669D-CED436993C31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can build more complex filters using Boolean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&amp;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(and) or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|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(or)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C548641-4D14-5E00-27EF-44DDE3467C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Multiple Conditions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AA154EF-65F9-F0A3-E088-B7A44CC65EE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4" name="Picture 4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83A9F9-DE92-6FA4-125D-CC6B230CF7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27440" r="23036" b="58593"/>
          <a:stretch>
            <a:fillRect/>
          </a:stretch>
        </p:blipFill>
        <p:spPr>
          <a:xfrm>
            <a:off x="6815131" y="3039960"/>
            <a:ext cx="4440654" cy="5300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5" name="Picture 4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8E4C3E-180F-E135-998C-D98B8F30C1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46912" r="42039" b="21535"/>
          <a:stretch>
            <a:fillRect/>
          </a:stretch>
        </p:blipFill>
        <p:spPr>
          <a:xfrm>
            <a:off x="7478486" y="3802163"/>
            <a:ext cx="3777299" cy="14748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21C8EA0-10AB-7AA4-C37E-22B4180DD26A}"/>
              </a:ext>
            </a:extLst>
          </p:cNvPr>
          <p:cNvSpPr/>
          <p:nvPr/>
        </p:nvSpPr>
        <p:spPr>
          <a:xfrm>
            <a:off x="9137648" y="3211286"/>
            <a:ext cx="150283" cy="1838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5149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3197D40-5BE0-E93E-CC58-ED1D592A3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18497F2-9D3C-5FB0-8BD6-7F96809ACC1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C6DBE6F-1244-54D1-0B31-7C62CF595753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can build more complex filters using Boolean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&amp;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(and) or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|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(or)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00BF8A4-C520-F1D5-3A4E-6A811B025C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Multiple Conditions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14D8F21-C3E3-1897-850C-D9515B2DFF3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4" name="Picture 4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65DDA2-8399-3831-2256-E455356B13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27440" r="23036" b="58593"/>
          <a:stretch>
            <a:fillRect/>
          </a:stretch>
        </p:blipFill>
        <p:spPr>
          <a:xfrm>
            <a:off x="6815131" y="3039960"/>
            <a:ext cx="4440654" cy="5300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5" name="Picture 4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C98EED-00D6-632F-D8DF-E11B372514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46912" r="42039" b="21535"/>
          <a:stretch>
            <a:fillRect/>
          </a:stretch>
        </p:blipFill>
        <p:spPr>
          <a:xfrm>
            <a:off x="7478486" y="3802163"/>
            <a:ext cx="3777299" cy="14748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F77D92-0F1A-1D41-F9DC-B9B51A7CF8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354" t="51409" r="60541" b="43424"/>
          <a:stretch>
            <a:fillRect/>
          </a:stretch>
        </p:blipFill>
        <p:spPr>
          <a:xfrm>
            <a:off x="9124950" y="3057427"/>
            <a:ext cx="133350" cy="327124"/>
          </a:xfrm>
          <a:prstGeom prst="rect">
            <a:avLst/>
          </a:prstGeom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B06548-D7A8-0537-FB32-64C8D264BFA3}"/>
              </a:ext>
            </a:extLst>
          </p:cNvPr>
          <p:cNvSpPr/>
          <p:nvPr/>
        </p:nvSpPr>
        <p:spPr>
          <a:xfrm>
            <a:off x="9137648" y="3211286"/>
            <a:ext cx="150283" cy="1838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3849689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90ECBB8-5009-F275-77A5-18040DF1C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5AA95FC-6700-17F8-95AD-98EDA86607C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6EC0D0D-0796-B525-AA61-F887224E15CB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can build more complex filters using Boolean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&amp;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(and) or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|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(or)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D8D670B-7E87-815F-30CF-37A1170DBB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Multiple Conditions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17A0326-40D5-4ED6-CA6E-1A363B22CD3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4" name="Picture 4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1F5A50-28AD-6E40-A424-8EC8E258A4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27440" r="23036" b="58593"/>
          <a:stretch>
            <a:fillRect/>
          </a:stretch>
        </p:blipFill>
        <p:spPr>
          <a:xfrm>
            <a:off x="6815131" y="3039960"/>
            <a:ext cx="4440654" cy="5300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5" name="Picture 4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1EA7E4-BAE7-80DA-C748-07A7AD5F7B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46912" r="42039" b="21535"/>
          <a:stretch>
            <a:fillRect/>
          </a:stretch>
        </p:blipFill>
        <p:spPr>
          <a:xfrm>
            <a:off x="7478486" y="3802163"/>
            <a:ext cx="3777299" cy="14748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2962D9-F9EB-B784-187C-C66ED85E1C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354" t="51409" r="60541" b="43424"/>
          <a:stretch>
            <a:fillRect/>
          </a:stretch>
        </p:blipFill>
        <p:spPr>
          <a:xfrm>
            <a:off x="9124950" y="3057427"/>
            <a:ext cx="133350" cy="3271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66429349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BF2A366-952E-FBD4-8EC1-27A288AD9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B1606F3-95B1-4DC2-1DC0-683698DD76C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E69EF1B-0081-37F6-5458-72BC96486C02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can build more complex filters using Boolean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&amp;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(and) or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|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(or)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ACFE4C9-0EF5-C50D-6CAB-30159EAA1C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Multiple Conditions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CB8C62D-85CD-B4EA-BE36-30E47AE6BC7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4" name="Picture 4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5EBE74-7D7D-A793-B910-778684C91A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27440" r="23036" b="58593"/>
          <a:stretch>
            <a:fillRect/>
          </a:stretch>
        </p:blipFill>
        <p:spPr>
          <a:xfrm>
            <a:off x="6815131" y="3039960"/>
            <a:ext cx="4440654" cy="5300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5" name="Picture 4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117AF3-8F34-6D1C-6E95-A836F11003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46912" r="42039" b="21535"/>
          <a:stretch>
            <a:fillRect/>
          </a:stretch>
        </p:blipFill>
        <p:spPr>
          <a:xfrm>
            <a:off x="7478486" y="3802163"/>
            <a:ext cx="3777299" cy="14748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705804-D1D1-A227-BDCB-32A322A7B6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354" t="51409" r="60541" b="43424"/>
          <a:stretch>
            <a:fillRect/>
          </a:stretch>
        </p:blipFill>
        <p:spPr>
          <a:xfrm>
            <a:off x="9124950" y="3057427"/>
            <a:ext cx="133350" cy="327124"/>
          </a:xfrm>
          <a:prstGeom prst="rect">
            <a:avLst/>
          </a:prstGeom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9A79102-513D-3E37-F038-B6E2DB0336F6}"/>
              </a:ext>
            </a:extLst>
          </p:cNvPr>
          <p:cNvSpPr/>
          <p:nvPr/>
        </p:nvSpPr>
        <p:spPr>
          <a:xfrm>
            <a:off x="10796810" y="3211285"/>
            <a:ext cx="343630" cy="1838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350413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7FFB607-78BA-5836-B748-DA7C70516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70149D5-45B2-64C3-1E33-81B36ED04D6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47021D8-36A4-A438-A52B-197A310E2131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can build more complex filters using Boolean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&amp;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(and) or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|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(or)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FF5518B-43A2-ED4C-9D71-2603E3024E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Multiple Conditions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DD84D01-D7C0-0C52-A9C8-4C35C42AB50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4" name="Picture 4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8B1BF2-7AD7-BBFB-1147-BAB4B52E16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27440" r="23036" b="58593"/>
          <a:stretch>
            <a:fillRect/>
          </a:stretch>
        </p:blipFill>
        <p:spPr>
          <a:xfrm>
            <a:off x="6815131" y="3039960"/>
            <a:ext cx="4440654" cy="5300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5" name="Picture 4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51AC68-5EE3-A2E7-A1A2-6D09EAD016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46912" r="42039" b="21535"/>
          <a:stretch>
            <a:fillRect/>
          </a:stretch>
        </p:blipFill>
        <p:spPr>
          <a:xfrm>
            <a:off x="7478486" y="3802163"/>
            <a:ext cx="3777299" cy="14748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343352-E03D-1CA7-4D43-478312723C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303" t="51409" r="45420" b="43424"/>
          <a:stretch>
            <a:fillRect/>
          </a:stretch>
        </p:blipFill>
        <p:spPr>
          <a:xfrm>
            <a:off x="10807700" y="3057427"/>
            <a:ext cx="274750" cy="327124"/>
          </a:xfrm>
          <a:prstGeom prst="rect">
            <a:avLst/>
          </a:prstGeom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30DA1FB-C5F3-B9A4-9216-B0E548D94A96}"/>
              </a:ext>
            </a:extLst>
          </p:cNvPr>
          <p:cNvSpPr/>
          <p:nvPr/>
        </p:nvSpPr>
        <p:spPr>
          <a:xfrm>
            <a:off x="10796810" y="3211285"/>
            <a:ext cx="343630" cy="1838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59BAE1-2842-0579-85CE-25D45FE9D8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354" t="51409" r="60541" b="43424"/>
          <a:stretch>
            <a:fillRect/>
          </a:stretch>
        </p:blipFill>
        <p:spPr>
          <a:xfrm>
            <a:off x="9124950" y="3057427"/>
            <a:ext cx="133350" cy="3271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2394592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3A3AEC7-3FEE-A899-FBC4-5B35587E4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28BC0C2-045E-602B-2534-43ACB4BBCB3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B7EF5FC-41D9-5B6F-D8F4-DDBACC55E17B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can build more complex filters using Boolean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&amp;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(and) or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|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(or)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92E18B8-4460-8D5B-6341-DEB7441DFD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Multiple Conditions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2E3301C-376E-AAE1-83D7-00AB654CBFB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4" name="Picture 4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88A150-6E4E-C784-D4CC-53999B943B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27440" r="23036" b="58593"/>
          <a:stretch>
            <a:fillRect/>
          </a:stretch>
        </p:blipFill>
        <p:spPr>
          <a:xfrm>
            <a:off x="6815131" y="3039960"/>
            <a:ext cx="4440654" cy="5300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5" name="Picture 4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DD3728-0B40-84BB-AAA6-6EC2BBF2EA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46912" r="42039" b="21535"/>
          <a:stretch>
            <a:fillRect/>
          </a:stretch>
        </p:blipFill>
        <p:spPr>
          <a:xfrm>
            <a:off x="7478486" y="3802163"/>
            <a:ext cx="3777299" cy="14748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FF80CF-F616-5181-547E-EA87A4D5AC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303" t="51409" r="45420" b="43424"/>
          <a:stretch>
            <a:fillRect/>
          </a:stretch>
        </p:blipFill>
        <p:spPr>
          <a:xfrm>
            <a:off x="10807700" y="3057427"/>
            <a:ext cx="274750" cy="327124"/>
          </a:xfrm>
          <a:prstGeom prst="rect">
            <a:avLst/>
          </a:prstGeom>
          <a:ln>
            <a:noFill/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271F61-E714-16BC-288E-84B2DF9DA2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354" t="51409" r="60541" b="43424"/>
          <a:stretch>
            <a:fillRect/>
          </a:stretch>
        </p:blipFill>
        <p:spPr>
          <a:xfrm>
            <a:off x="9124950" y="3057427"/>
            <a:ext cx="133350" cy="3271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0008120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BE2B10B-F6A6-0711-DDF4-363FC1DB4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7A55149-D53F-9A4E-789D-7893B0C87D54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F11216C-8F21-A885-6432-C59CDEDBCFA6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can build more complex filters using Boolean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&amp;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(and) or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|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(or)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226DBE4-5970-DB4C-AE4D-CB0241CD14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Multiple Conditions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646446D-DFC0-8151-1D8F-D04C32F5742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4" name="Picture 4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614862-48A3-EC38-CC90-A1CE8C0AC4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27440" r="23036" b="58593"/>
          <a:stretch>
            <a:fillRect/>
          </a:stretch>
        </p:blipFill>
        <p:spPr>
          <a:xfrm>
            <a:off x="6815131" y="3039960"/>
            <a:ext cx="4440654" cy="5300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2E9C3E-C160-A051-95DF-050C144CA4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303" t="51409" r="45420" b="43424"/>
          <a:stretch>
            <a:fillRect/>
          </a:stretch>
        </p:blipFill>
        <p:spPr>
          <a:xfrm>
            <a:off x="10807700" y="3057427"/>
            <a:ext cx="274750" cy="327124"/>
          </a:xfrm>
          <a:prstGeom prst="rect">
            <a:avLst/>
          </a:prstGeom>
          <a:ln>
            <a:noFill/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7716F9-30FE-FF28-C91B-CEC680910F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354" t="51409" r="60541" b="43424"/>
          <a:stretch>
            <a:fillRect/>
          </a:stretch>
        </p:blipFill>
        <p:spPr>
          <a:xfrm>
            <a:off x="9124950" y="3057427"/>
            <a:ext cx="133350" cy="3271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6894172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C0BDC8D-4358-1010-73FE-B4EF2C790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85E0D0B-141B-AA91-3C1B-D6561FFC3BF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A035B95-89C7-5CCE-A9E9-B2649FBE45FB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can build more complex filters using Boolean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&amp;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(and) or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|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(or)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B9DC1F1-AFE8-DF11-B432-B8C25B1BD3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Multiple Conditions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B98D431-A6D7-13F9-FB70-89756D0CBB0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4" name="Picture 4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286393-A8E7-8667-FCFC-91AB5149BA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27440" r="23036" b="58593"/>
          <a:stretch>
            <a:fillRect/>
          </a:stretch>
        </p:blipFill>
        <p:spPr>
          <a:xfrm>
            <a:off x="6815131" y="3039960"/>
            <a:ext cx="4440654" cy="5300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4636EF-C387-D78D-35C7-12B368208F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303" t="51409" r="45420" b="43424"/>
          <a:stretch>
            <a:fillRect/>
          </a:stretch>
        </p:blipFill>
        <p:spPr>
          <a:xfrm>
            <a:off x="10807700" y="3057427"/>
            <a:ext cx="274750" cy="327124"/>
          </a:xfrm>
          <a:prstGeom prst="rect">
            <a:avLst/>
          </a:prstGeom>
          <a:ln>
            <a:noFill/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7872DB-AC36-FD8A-59BA-FBB21BA7A0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354" t="51409" r="60541" b="43424"/>
          <a:stretch>
            <a:fillRect/>
          </a:stretch>
        </p:blipFill>
        <p:spPr>
          <a:xfrm>
            <a:off x="9124950" y="3057427"/>
            <a:ext cx="133350" cy="327124"/>
          </a:xfrm>
          <a:prstGeom prst="rect">
            <a:avLst/>
          </a:prstGeom>
          <a:ln>
            <a:noFill/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271EE5-295F-176F-2B7D-B3FF93409F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427" t="62961" r="56670" b="25334"/>
          <a:stretch>
            <a:fillRect/>
          </a:stretch>
        </p:blipFill>
        <p:spPr>
          <a:xfrm>
            <a:off x="7478486" y="3802163"/>
            <a:ext cx="3777299" cy="9321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26696806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A0C9A38-4D70-647B-16F4-BB2C34315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0283AF1-20C4-7E65-60DA-FCE29ACDBBE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48CAC5C-3DC9-94AF-E3FB-1A31D2097E11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can build more complex filters using Boolean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&amp;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(and) or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|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(or)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Each condition in parentheses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EDE3865-8B7A-3A6E-AD96-1193DCBA6D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Multiple Conditions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0135584-0FAB-7335-D2D5-5415C4C5AEA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AD34B7-8B32-7AEF-4506-534FE24FE4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27440" r="23036" b="58593"/>
          <a:stretch>
            <a:fillRect/>
          </a:stretch>
        </p:blipFill>
        <p:spPr>
          <a:xfrm>
            <a:off x="6815131" y="3039960"/>
            <a:ext cx="4440654" cy="5300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87E248-7DEB-F28D-D8A5-AA78A2B6C6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303" t="51409" r="45420" b="43424"/>
          <a:stretch>
            <a:fillRect/>
          </a:stretch>
        </p:blipFill>
        <p:spPr>
          <a:xfrm>
            <a:off x="10807700" y="3057427"/>
            <a:ext cx="274750" cy="327124"/>
          </a:xfrm>
          <a:prstGeom prst="rect">
            <a:avLst/>
          </a:prstGeom>
          <a:ln>
            <a:noFill/>
          </a:ln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15C2A1-6BF5-AF2B-A5E5-97BC752CEE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354" t="51409" r="60541" b="43424"/>
          <a:stretch>
            <a:fillRect/>
          </a:stretch>
        </p:blipFill>
        <p:spPr>
          <a:xfrm>
            <a:off x="9124950" y="3057427"/>
            <a:ext cx="133350" cy="327124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BF2338-A463-1A92-478E-EAE3BB5346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427" t="62961" r="56670" b="25334"/>
          <a:stretch>
            <a:fillRect/>
          </a:stretch>
        </p:blipFill>
        <p:spPr>
          <a:xfrm>
            <a:off x="7478486" y="3802163"/>
            <a:ext cx="3777299" cy="9321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05802136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202C9FF-8DC5-55D5-5E71-84AF9964F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4A0BD51-E20C-6957-CAFC-53FB853C36F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1CB0037-3454-9FD0-ED5B-476B93298102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can build more complex filters using Boolean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&amp;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(and) or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|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(or)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Each condition in parentheses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Combine multiple column filters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C29969C-AAE5-D9AE-F1FF-2F72E9B02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Multiple Conditions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2EA6801-2ADF-0101-4453-D1B4E173AE5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F9CC32-BED5-B388-E30F-1CD7AB1122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27440" r="23036" b="58593"/>
          <a:stretch>
            <a:fillRect/>
          </a:stretch>
        </p:blipFill>
        <p:spPr>
          <a:xfrm>
            <a:off x="6815131" y="3039960"/>
            <a:ext cx="4440654" cy="5300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ABD05D-C37D-3756-D48F-F058EB1DE3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303" t="51409" r="45420" b="43424"/>
          <a:stretch>
            <a:fillRect/>
          </a:stretch>
        </p:blipFill>
        <p:spPr>
          <a:xfrm>
            <a:off x="10807700" y="3057427"/>
            <a:ext cx="274750" cy="327124"/>
          </a:xfrm>
          <a:prstGeom prst="rect">
            <a:avLst/>
          </a:prstGeom>
          <a:ln>
            <a:noFill/>
          </a:ln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280E70-78B4-B934-7766-B67E92100F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354" t="51409" r="60541" b="43424"/>
          <a:stretch>
            <a:fillRect/>
          </a:stretch>
        </p:blipFill>
        <p:spPr>
          <a:xfrm>
            <a:off x="9124950" y="3057427"/>
            <a:ext cx="133350" cy="327124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A99A7A-663F-BE63-0A70-0624E883B8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427" t="62961" r="56670" b="25334"/>
          <a:stretch>
            <a:fillRect/>
          </a:stretch>
        </p:blipFill>
        <p:spPr>
          <a:xfrm>
            <a:off x="7478486" y="3802163"/>
            <a:ext cx="3777299" cy="9321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08572677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BC2F5DC-BA73-1BEE-406F-31F0564DC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DE2952-9B5B-E29C-A4A8-ABFE12BD5F0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E0BF71D-EFF0-3E4E-C70A-70FDCA1FEE05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can build more complex filters using Boolean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&amp;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(and) or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|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(or)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Each condition in parentheses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Combine multiple column filters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 uses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&amp;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|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rather than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and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or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!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C10D995-0F8D-B0BA-23E0-9D3F9BFBCF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Multiple Conditions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7E36526-B4F9-6FAB-0060-57CC84D1AB1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607717-958F-28A6-ADEB-E7C6F4B693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27440" r="23036" b="58593"/>
          <a:stretch>
            <a:fillRect/>
          </a:stretch>
        </p:blipFill>
        <p:spPr>
          <a:xfrm>
            <a:off x="6815131" y="3039960"/>
            <a:ext cx="4440654" cy="5300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7DF9B5-274B-4C96-1CEB-4F7CFFE428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303" t="51409" r="45420" b="43424"/>
          <a:stretch>
            <a:fillRect/>
          </a:stretch>
        </p:blipFill>
        <p:spPr>
          <a:xfrm>
            <a:off x="10807700" y="3057427"/>
            <a:ext cx="274750" cy="327124"/>
          </a:xfrm>
          <a:prstGeom prst="rect">
            <a:avLst/>
          </a:prstGeom>
          <a:ln>
            <a:noFill/>
          </a:ln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0BB2BA-271E-0AF0-0037-530652762A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354" t="51409" r="60541" b="43424"/>
          <a:stretch>
            <a:fillRect/>
          </a:stretch>
        </p:blipFill>
        <p:spPr>
          <a:xfrm>
            <a:off x="9124950" y="3057427"/>
            <a:ext cx="133350" cy="327124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2CCA12-ABB1-4F2D-4877-C731EC9FA6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427" t="62961" r="56670" b="25334"/>
          <a:stretch>
            <a:fillRect/>
          </a:stretch>
        </p:blipFill>
        <p:spPr>
          <a:xfrm>
            <a:off x="7478486" y="3802163"/>
            <a:ext cx="3777299" cy="9321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35783051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3006B7B-2654-04E7-1AF1-F9751EF13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62005EA-F48C-3054-30F0-3467D52B03B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EBBEDBF-0CBB-D4A2-7C3B-63CDBEB84FD5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can build more complex filters using Boolean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&amp;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(and) or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|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(or)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Each condition in parentheses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Combine multiple column filters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 uses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&amp;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|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rather than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and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or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!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to avoid confusion with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Truthy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Falsey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values 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873ADB5-F7B0-EED6-593B-17470105C5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Multiple Conditions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70B362D-B17E-217D-AF2E-D84AC7F9F96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8B7D70-2E92-2237-74DD-4825BE0F81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27440" r="23036" b="58593"/>
          <a:stretch>
            <a:fillRect/>
          </a:stretch>
        </p:blipFill>
        <p:spPr>
          <a:xfrm>
            <a:off x="6815131" y="3039960"/>
            <a:ext cx="4440654" cy="5300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C50BFB-3341-063D-2E43-A876B12969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303" t="51409" r="45420" b="43424"/>
          <a:stretch>
            <a:fillRect/>
          </a:stretch>
        </p:blipFill>
        <p:spPr>
          <a:xfrm>
            <a:off x="10807700" y="3057427"/>
            <a:ext cx="274750" cy="327124"/>
          </a:xfrm>
          <a:prstGeom prst="rect">
            <a:avLst/>
          </a:prstGeom>
          <a:ln>
            <a:noFill/>
          </a:ln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61BD8D-D84E-3F15-8F20-BC278CFBF0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354" t="51409" r="60541" b="43424"/>
          <a:stretch>
            <a:fillRect/>
          </a:stretch>
        </p:blipFill>
        <p:spPr>
          <a:xfrm>
            <a:off x="9124950" y="3057427"/>
            <a:ext cx="133350" cy="327124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3AE8E1-749D-202C-2F69-B29973F698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427" t="62961" r="56670" b="25334"/>
          <a:stretch>
            <a:fillRect/>
          </a:stretch>
        </p:blipFill>
        <p:spPr>
          <a:xfrm>
            <a:off x="7478486" y="3802163"/>
            <a:ext cx="3777299" cy="9321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43091503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784D7FC-CCAB-0D4B-BEEA-B2583646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99FFCA3-59F0-265A-E70B-D03E9BCC004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9D990F8-A96F-EC93-87CD-6BAB964211C6}"/>
              </a:ext>
            </a:extLst>
          </p:cNvPr>
          <p:cNvSpPr txBox="1"/>
          <p:nvPr/>
        </p:nvSpPr>
        <p:spPr>
          <a:xfrm>
            <a:off x="1150369" y="1934694"/>
            <a:ext cx="632811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Much like 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 can build more complex filters using Boolean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&amp;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(and) or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|</a:t>
            </a: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(or) operators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Each condition in parentheses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Combine multiple column filters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 uses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&amp;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|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rather than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and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or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!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to avoid confusion with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Truthy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Falsey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values 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(see Week 2 advanced notebook for further detail on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Truthy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Falsey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01C93F4-89CD-14A6-F48D-707C373882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Multiple Conditions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9990267-A292-9F3B-99AE-929EECE6DCE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1ABF58-351F-3384-4B54-6A306FDA33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7" t="27440" r="23036" b="58593"/>
          <a:stretch>
            <a:fillRect/>
          </a:stretch>
        </p:blipFill>
        <p:spPr>
          <a:xfrm>
            <a:off x="6815131" y="3039960"/>
            <a:ext cx="4440654" cy="5300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2B9CEF-7DC9-938B-EAA0-737BC23D47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303" t="51409" r="45420" b="43424"/>
          <a:stretch>
            <a:fillRect/>
          </a:stretch>
        </p:blipFill>
        <p:spPr>
          <a:xfrm>
            <a:off x="10807700" y="3057427"/>
            <a:ext cx="274750" cy="327124"/>
          </a:xfrm>
          <a:prstGeom prst="rect">
            <a:avLst/>
          </a:prstGeom>
          <a:ln>
            <a:noFill/>
          </a:ln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E8AA72-8A73-9CE7-4A76-732EA2720A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354" t="51409" r="60541" b="43424"/>
          <a:stretch>
            <a:fillRect/>
          </a:stretch>
        </p:blipFill>
        <p:spPr>
          <a:xfrm>
            <a:off x="9124950" y="3057427"/>
            <a:ext cx="133350" cy="327124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D34259-175B-2C97-DABF-5CA3FD6047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427" t="62961" r="56670" b="25334"/>
          <a:stretch>
            <a:fillRect/>
          </a:stretch>
        </p:blipFill>
        <p:spPr>
          <a:xfrm>
            <a:off x="7478486" y="3802163"/>
            <a:ext cx="3777299" cy="9321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06771632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198C3CC-672A-795D-9E6D-437C993C0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B7FA797-EC7D-0C81-E2F7-537DB2C7DC7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86DA71D-FD15-D309-9521-FD8578A4BA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Reading CSV Files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76A915F-FB37-BC64-D63A-BBC059B2409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614150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AB4CE2F-647B-11EB-30C8-EBA7E3E4C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DABBF4F-47D2-4DBB-AF14-672A6EE984B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921E56F-2DAB-CB0D-5D95-64B8454B2941}"/>
              </a:ext>
            </a:extLst>
          </p:cNvPr>
          <p:cNvSpPr txBox="1"/>
          <p:nvPr/>
        </p:nvSpPr>
        <p:spPr>
          <a:xfrm>
            <a:off x="1150369" y="1934694"/>
            <a:ext cx="59743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created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from dictionaries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3292302-7788-8D65-3859-C3AE75D741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Reading CSV Files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4F2CFE9-24DC-0A36-E56B-ADDC8615B35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807236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9D905C5-2543-6DD1-9401-0E275D3BD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86B639C-4D90-2DCA-8A93-337125EB01A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EFC0D75-45E9-E152-B3B4-F647686BDCAE}"/>
              </a:ext>
            </a:extLst>
          </p:cNvPr>
          <p:cNvSpPr txBox="1"/>
          <p:nvPr/>
        </p:nvSpPr>
        <p:spPr>
          <a:xfrm>
            <a:off x="1150369" y="1934694"/>
            <a:ext cx="59743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created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from dictionaries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Real-world data is often stored in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other tabulated data file-types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3F5DABC-73FD-DAE5-196B-B073790119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Reading CSV Files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FC327F5-ABA9-349A-FA68-9752C6AC73F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967091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81839BF-B847-0CEC-4C26-8341F3BAA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511E126-13F8-0AE3-CB94-EB6BFFD04F2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FC8C101-3BBF-2B31-3A08-76D3AAE97DA0}"/>
              </a:ext>
            </a:extLst>
          </p:cNvPr>
          <p:cNvSpPr txBox="1"/>
          <p:nvPr/>
        </p:nvSpPr>
        <p:spPr>
          <a:xfrm>
            <a:off x="1150369" y="1934694"/>
            <a:ext cx="59743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created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from dictionaries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Real-world data is often stored in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other tabulated data file-types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Pandas provides easy-to-use functions to read these files into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36A9D3E-75A0-A0F6-21B9-6FD6561133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Reading CSV Files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7FB9591-5461-040D-20F5-4E8D7124931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950237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8BB7B90-B222-8B1C-29B0-73E9B4C38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EEDF4AA-DFA9-AADE-9DA2-B45A2CE8EBA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898A8CE-F508-71A9-3E60-0BD87759831E}"/>
              </a:ext>
            </a:extLst>
          </p:cNvPr>
          <p:cNvSpPr txBox="1"/>
          <p:nvPr/>
        </p:nvSpPr>
        <p:spPr>
          <a:xfrm>
            <a:off x="1150369" y="1934694"/>
            <a:ext cx="59743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created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from dictionaries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Real-world data is often stored in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other tabulated data file-types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Pandas provides easy-to-use functions to read these files into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= Comma Separated Values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F439EE2-72A6-1841-C427-4FF19B3BFF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Reading CSV Files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2443A89-F4A3-DD98-3333-4D89C86FE7E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15442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F3A917E-E485-AFA1-2AE6-2BE72D46E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5FB8C6C-D67E-6EC7-C0CC-2F7065DFD5D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B649E1A-8D59-55C9-7240-FC0049EBE54F}"/>
              </a:ext>
            </a:extLst>
          </p:cNvPr>
          <p:cNvSpPr txBox="1"/>
          <p:nvPr/>
        </p:nvSpPr>
        <p:spPr>
          <a:xfrm>
            <a:off x="1150369" y="1934694"/>
            <a:ext cx="59743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created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from dictionaries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Real-world data is often stored in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other tabulated data file-types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Pandas provides easy-to-use functions to read these files into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= Comma Separated Values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pd.read_csv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(filename)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653C362-959A-7104-1C9C-0EE7550144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Reading CSV Files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091171E-F571-E244-6478-421EF6DD8E9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740721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2BF192A-FD2B-9DAB-AF9F-85A89C1B6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E306E32-9A40-AEB4-986B-07E7AF2552FC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FDFADA0-5584-CB1E-D4C2-71E2FD6EA845}"/>
              </a:ext>
            </a:extLst>
          </p:cNvPr>
          <p:cNvSpPr txBox="1"/>
          <p:nvPr/>
        </p:nvSpPr>
        <p:spPr>
          <a:xfrm>
            <a:off x="1150369" y="1934694"/>
            <a:ext cx="59743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created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from dictionaries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Real-world data is often stored in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other tabulated data file-types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Pandas provides easy-to-use functions to read these files into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= Comma Separated Values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pd.read_csv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(filename)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4BB748F-8A0F-4518-0708-3A755518A0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Reading CSV Files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88650BF-168E-48A7-A062-B23E843BB35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7" name="Picture 4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A16D57-6F8E-450B-579E-8D4556C9C9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1167" r="44510" b="37196"/>
          <a:stretch>
            <a:fillRect/>
          </a:stretch>
        </p:blipFill>
        <p:spPr>
          <a:xfrm>
            <a:off x="7553318" y="1774371"/>
            <a:ext cx="3909707" cy="21438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2B1E31-D249-2CF0-6290-3FE5A9BC29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283" t="41097" r="47891" b="49657"/>
          <a:stretch>
            <a:fillRect/>
          </a:stretch>
        </p:blipFill>
        <p:spPr>
          <a:xfrm>
            <a:off x="7581901" y="1815839"/>
            <a:ext cx="3851491" cy="208967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5241732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3F6FA6F-87C7-DBAE-AFFB-3BCCA7DAD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384EAD-A530-C3F1-407D-21A1352C040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C2716AD-C26B-38BE-6EAD-B1FE304342D7}"/>
              </a:ext>
            </a:extLst>
          </p:cNvPr>
          <p:cNvSpPr txBox="1"/>
          <p:nvPr/>
        </p:nvSpPr>
        <p:spPr>
          <a:xfrm>
            <a:off x="1150369" y="1934694"/>
            <a:ext cx="59743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created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from dictionaries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Real-world data is often stored in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other tabulated data file-types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Pandas provides easy-to-use functions to read these files into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= Comma Separated Values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pd.read_csv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(filename)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9090947-DF8E-1579-C867-604DDAC05D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Reading CSV Files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8726B78-BEC3-14B6-0C12-45F2CDFA77A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7" name="Picture 4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DB36CF-E954-6D36-32AA-B0C2B65733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1167" r="44510" b="37196"/>
          <a:stretch>
            <a:fillRect/>
          </a:stretch>
        </p:blipFill>
        <p:spPr>
          <a:xfrm>
            <a:off x="7553318" y="1774371"/>
            <a:ext cx="3909707" cy="21438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681A68-E1F5-6266-2185-283B05EFD9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283" t="41097" r="47891" b="49657"/>
          <a:stretch>
            <a:fillRect/>
          </a:stretch>
        </p:blipFill>
        <p:spPr>
          <a:xfrm>
            <a:off x="7581901" y="2124404"/>
            <a:ext cx="3851491" cy="178110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1796276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06E784B-C749-2700-591B-4FD8DCDB4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7AC24BB-01D5-F34F-67FF-9D5C983AF32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8B1659C-C630-303E-AD75-27760095F8B9}"/>
              </a:ext>
            </a:extLst>
          </p:cNvPr>
          <p:cNvSpPr txBox="1"/>
          <p:nvPr/>
        </p:nvSpPr>
        <p:spPr>
          <a:xfrm>
            <a:off x="1150369" y="1934694"/>
            <a:ext cx="59743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created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from dictionaries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Real-world data is often stored in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other tabulated data file-types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Pandas provides easy-to-use functions to read these files into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= Comma Separated Values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pd.read_csv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(filename)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26CD804-8AF1-6143-4AF8-0A1F211AC1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Reading CSV Files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1D94A48-CF78-34C9-AE5B-D7CF0AC2008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7" name="Picture 4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2F08DC-C77E-AC23-CD5A-B9908D2C9A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1167" r="44510" b="37196"/>
          <a:stretch>
            <a:fillRect/>
          </a:stretch>
        </p:blipFill>
        <p:spPr>
          <a:xfrm>
            <a:off x="7553318" y="1774371"/>
            <a:ext cx="3909707" cy="21438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18AC32-BDAC-AD61-D500-2AB7D0EBDE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283" t="41097" r="47891" b="49657"/>
          <a:stretch>
            <a:fillRect/>
          </a:stretch>
        </p:blipFill>
        <p:spPr>
          <a:xfrm>
            <a:off x="7581901" y="2427176"/>
            <a:ext cx="3851491" cy="147833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7955995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AB2713B-6EAF-566B-38E1-D0C9FCFEC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A2195F5-9AFE-8643-9169-509E5DAF3F0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5803C2B-71AB-DC07-8DF1-3AA900DCE243}"/>
              </a:ext>
            </a:extLst>
          </p:cNvPr>
          <p:cNvSpPr txBox="1"/>
          <p:nvPr/>
        </p:nvSpPr>
        <p:spPr>
          <a:xfrm>
            <a:off x="1150369" y="1934694"/>
            <a:ext cx="59743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created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from dictionaries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Real-world data is often stored in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other tabulated data file-types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Pandas provides easy-to-use functions to read these files into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= Comma Separated Values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pd.read_csv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(filename)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EDEAD34-D12A-DC07-7525-5405CA06DD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Reading CSV Files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36F37A8-F14E-AF96-BEA0-8FD6891C488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7" name="Picture 4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6FC490-13BD-D14A-C244-DE8079681F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1167" r="44510" b="37196"/>
          <a:stretch>
            <a:fillRect/>
          </a:stretch>
        </p:blipFill>
        <p:spPr>
          <a:xfrm>
            <a:off x="7553318" y="1774371"/>
            <a:ext cx="3909707" cy="21438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0E9E8A-AAA0-6417-D190-163CFF2FE1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283" t="41097" r="47891" b="49657"/>
          <a:stretch>
            <a:fillRect/>
          </a:stretch>
        </p:blipFill>
        <p:spPr>
          <a:xfrm>
            <a:off x="7581901" y="2622550"/>
            <a:ext cx="3851491" cy="128295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8299881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6885999-0CF9-C87E-930A-1FF20CA47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9D85F9F-F4FF-044F-439E-D5257275797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7660F7D-27FD-E761-00E2-441BD250C99B}"/>
              </a:ext>
            </a:extLst>
          </p:cNvPr>
          <p:cNvSpPr txBox="1"/>
          <p:nvPr/>
        </p:nvSpPr>
        <p:spPr>
          <a:xfrm>
            <a:off x="1150369" y="1934694"/>
            <a:ext cx="59743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created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from dictionaries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Real-world data is often stored in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other tabulated data file-types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Pandas provides easy-to-use functions to read these files into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= Comma Separated Values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pd.read_csv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(filename)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A332776-1A0A-A12A-0AB3-BCD3CB52E1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Reading CSV Files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3760744-54AD-E1EA-CCAB-A72E070AC6B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7" name="Picture 4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A23DC9-2472-1C11-69C1-6465E0669B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1167" r="44510" b="37196"/>
          <a:stretch>
            <a:fillRect/>
          </a:stretch>
        </p:blipFill>
        <p:spPr>
          <a:xfrm>
            <a:off x="7553318" y="1774371"/>
            <a:ext cx="3909707" cy="21438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47BC1B-A687-0BD7-9E12-2842D31681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283" t="41097" r="47891" b="49657"/>
          <a:stretch>
            <a:fillRect/>
          </a:stretch>
        </p:blipFill>
        <p:spPr>
          <a:xfrm>
            <a:off x="7581901" y="2851150"/>
            <a:ext cx="3851491" cy="105435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8661739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5935E7D-D415-EDBA-0155-103F711FC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6A238BB-BFF6-A7C0-9FE0-6840981D33A4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3E233BC-A607-FEC9-3D25-78C4ECCE4C7D}"/>
              </a:ext>
            </a:extLst>
          </p:cNvPr>
          <p:cNvSpPr txBox="1"/>
          <p:nvPr/>
        </p:nvSpPr>
        <p:spPr>
          <a:xfrm>
            <a:off x="1150369" y="1934694"/>
            <a:ext cx="59743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created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from dictionaries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Real-world data is often stored in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other tabulated data file-types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Pandas provides easy-to-use functions to read these files into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= Comma Separated Values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pd.read_csv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(filename)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1D8E58B-F071-6327-34BE-6577FBD7CF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Reading CSV Files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99E2542-DB76-7C97-3D26-A21F2735B02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7" name="Picture 4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87E373-46E0-4674-6E26-2C2B7E023E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1167" r="44510" b="37196"/>
          <a:stretch>
            <a:fillRect/>
          </a:stretch>
        </p:blipFill>
        <p:spPr>
          <a:xfrm>
            <a:off x="7553318" y="1774371"/>
            <a:ext cx="3909707" cy="21438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08BB9B-9921-E435-836B-E030CDE424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283" t="41097" r="47891" b="49657"/>
          <a:stretch>
            <a:fillRect/>
          </a:stretch>
        </p:blipFill>
        <p:spPr>
          <a:xfrm>
            <a:off x="7581901" y="3041650"/>
            <a:ext cx="3851491" cy="86385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0567121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07B0147-A375-445A-CBAC-BDD0D55EC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4E589BB-0DC5-05A2-FFED-5DE1A451D7E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27298B0-FAC6-344D-A866-96C12081700E}"/>
              </a:ext>
            </a:extLst>
          </p:cNvPr>
          <p:cNvSpPr txBox="1"/>
          <p:nvPr/>
        </p:nvSpPr>
        <p:spPr>
          <a:xfrm>
            <a:off x="1150369" y="1934694"/>
            <a:ext cx="59743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created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from dictionaries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Real-world data is often stored in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other tabulated data file-types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Pandas provides easy-to-use functions to read these files into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= Comma Separated Values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pd.read_csv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(filename)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8DC11AF-8217-5038-3DEB-169F77FF31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Reading CSV Files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6DE1C0B-B52A-D09C-3D1D-9E1843ECB33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7" name="Picture 4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0C43CD-44B3-2918-A8AE-3D10F77BC6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1167" r="44510" b="37196"/>
          <a:stretch>
            <a:fillRect/>
          </a:stretch>
        </p:blipFill>
        <p:spPr>
          <a:xfrm>
            <a:off x="7553318" y="1774371"/>
            <a:ext cx="3909707" cy="21438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F45BBE-E610-A5A0-6836-304FA40309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283" t="41097" r="47891" b="49657"/>
          <a:stretch>
            <a:fillRect/>
          </a:stretch>
        </p:blipFill>
        <p:spPr>
          <a:xfrm>
            <a:off x="7581901" y="3333750"/>
            <a:ext cx="3851491" cy="57175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9022908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FBBFFC9-030D-6F88-B4A4-3A3F7574E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A70F6C3-1EC0-F24D-8051-90DA9E7140A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EAFD123-7BBF-57CC-F718-1E01A881AB69}"/>
              </a:ext>
            </a:extLst>
          </p:cNvPr>
          <p:cNvSpPr txBox="1"/>
          <p:nvPr/>
        </p:nvSpPr>
        <p:spPr>
          <a:xfrm>
            <a:off x="1150369" y="1934694"/>
            <a:ext cx="59743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created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from dictionaries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Real-world data is often stored in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other tabulated data file-types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Pandas provides easy-to-use functions to read these files into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= Comma Separated Values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pd.read_csv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(filename)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6262E96-2BF1-67C8-35B1-7DC5576372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Reading CSV Files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AD86EDA-2CCB-EFC6-81D0-8EF3C95EE6F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7" name="Picture 4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733CE2-392A-51F8-7621-50AD924950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1167" r="44510" b="37196"/>
          <a:stretch>
            <a:fillRect/>
          </a:stretch>
        </p:blipFill>
        <p:spPr>
          <a:xfrm>
            <a:off x="7553318" y="1774371"/>
            <a:ext cx="3909707" cy="21438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29BF07-367C-2407-F49C-BDE76BC58B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283" t="41097" r="47891" b="49657"/>
          <a:stretch>
            <a:fillRect/>
          </a:stretch>
        </p:blipFill>
        <p:spPr>
          <a:xfrm>
            <a:off x="7581901" y="3714750"/>
            <a:ext cx="3851491" cy="19075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7639280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5DB9AB9-1772-1CF5-72B2-70AFEF246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99602DA-EBE7-14A7-9A77-7AC446C0E18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20F1FD6-D938-04D6-C060-E677596CCECA}"/>
              </a:ext>
            </a:extLst>
          </p:cNvPr>
          <p:cNvSpPr txBox="1"/>
          <p:nvPr/>
        </p:nvSpPr>
        <p:spPr>
          <a:xfrm>
            <a:off x="1150369" y="1934694"/>
            <a:ext cx="59743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created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from dictionaries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Real-world data is often stored in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other tabulated data file-types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Pandas provides easy-to-use functions to read these files into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= Comma Separated Values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pd.read_csv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(filename)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CE55D2C-C451-BAFD-4ED5-B860E71B64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Reading CSV Files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B490C48-7348-95C0-3697-97E197696B9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7" name="Picture 4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ABFB3C-BBC0-6C63-A6EA-F8019348B8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1167" r="44510" b="37196"/>
          <a:stretch>
            <a:fillRect/>
          </a:stretch>
        </p:blipFill>
        <p:spPr>
          <a:xfrm>
            <a:off x="7553318" y="1774371"/>
            <a:ext cx="3909707" cy="21438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89980752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91D4E0A-4448-0B0C-FC71-3DFB9DF30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F90E1C3-7541-7DDE-012D-46FF68835904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C588955-FBD9-2756-92F9-C3CCBF48A2B6}"/>
              </a:ext>
            </a:extLst>
          </p:cNvPr>
          <p:cNvSpPr txBox="1"/>
          <p:nvPr/>
        </p:nvSpPr>
        <p:spPr>
          <a:xfrm>
            <a:off x="1150369" y="1934694"/>
            <a:ext cx="59743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created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from dictionaries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Real-world data is often stored in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other tabulated data file-types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Pandas provides easy-to-use functions to read these files into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= Comma Separated Values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pd.read_csv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(filename)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70BB333-9B96-8C8E-2DB1-40EA348144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Reading CSV Files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058BF3C-4CA4-5CF8-8055-61105DD1922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7" name="Picture 4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75AE07-66F1-ABA2-B9A1-EC8F972B4F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1167" r="44510" b="37196"/>
          <a:stretch>
            <a:fillRect/>
          </a:stretch>
        </p:blipFill>
        <p:spPr>
          <a:xfrm>
            <a:off x="7553318" y="1774371"/>
            <a:ext cx="3909707" cy="21438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8" name="Picture 4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23B2A9-A9AF-10F6-EF90-B29CD974BE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4" t="67966" r="61296" b="5980"/>
          <a:stretch>
            <a:fillRect/>
          </a:stretch>
        </p:blipFill>
        <p:spPr>
          <a:xfrm>
            <a:off x="9322417" y="4232185"/>
            <a:ext cx="2140608" cy="12686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57328668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0E4AE1E-CC74-7DD0-B815-142F5343E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D72D0FB-4077-97E5-D82A-1921F4596CB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83B8EAA-6CAF-7E71-0E42-E3D0C5958406}"/>
              </a:ext>
            </a:extLst>
          </p:cNvPr>
          <p:cNvSpPr txBox="1"/>
          <p:nvPr/>
        </p:nvSpPr>
        <p:spPr>
          <a:xfrm>
            <a:off x="1150369" y="1934694"/>
            <a:ext cx="597433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 have created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from dictionaries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Real-world data is often stored in 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other tabulated data file-types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Pandas provides easy-to-use functions to read these files into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DataFrames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CSV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= Comma Separated Values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pd.read_csv</a:t>
            </a:r>
            <a: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(filename)</a:t>
            </a:r>
            <a:br>
              <a:rPr lang="en-GB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Options: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skiprows,sep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(delimiter)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B5E8921-B3F2-7AB2-AD97-31609A141F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Reading CSV Files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EB29857-CBE6-A479-E680-E599BAE395B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7" name="Picture 4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418710-5117-50E9-B4DB-DA1CF2027B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5" t="21167" r="44510" b="37196"/>
          <a:stretch>
            <a:fillRect/>
          </a:stretch>
        </p:blipFill>
        <p:spPr>
          <a:xfrm>
            <a:off x="7553318" y="1774371"/>
            <a:ext cx="3909707" cy="21438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8" name="Picture 4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160116-59B3-A063-6EAC-0C2A22DA5C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24" t="67966" r="61296" b="5980"/>
          <a:stretch>
            <a:fillRect/>
          </a:stretch>
        </p:blipFill>
        <p:spPr>
          <a:xfrm>
            <a:off x="9322417" y="4232185"/>
            <a:ext cx="2140608" cy="12686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98325568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5FEE909-D23C-9BF1-7980-EA6CF6E36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29EF28A-2BB1-EE6D-9B0F-3B958568C58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90E2F76-C73F-7AF7-9A2C-BAD64B030B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Summary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4D33D6A-2C7B-7A61-851A-9FB45B90DD0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287573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EE198D8-3D49-B570-E3F5-7E75BE663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7A98297-6D63-734F-44CE-930816A2F1E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6846091-1C05-00CF-3D7C-55F29E191A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Summary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8022BC5-4962-3D77-08A8-C2D6F6CE664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CF89DB-07E3-E85B-54D1-B198BA5D3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550" y="1126768"/>
            <a:ext cx="2633775" cy="93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53710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125C964-2241-57BD-6231-4E9783F1D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87E8B76-8F5A-342A-A78E-D1F562B9A1F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BDFF6B3-0A86-FDD0-FFF9-BA961CD285A5}"/>
              </a:ext>
            </a:extLst>
          </p:cNvPr>
          <p:cNvSpPr txBox="1"/>
          <p:nvPr/>
        </p:nvSpPr>
        <p:spPr>
          <a:xfrm>
            <a:off x="1150369" y="1934694"/>
            <a:ext cx="51170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powerful tool for working with tabulated data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AB4E299-D309-1679-45E4-77CE259610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Summary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1FBEA37-903E-527A-6E18-5B80F9F7144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8D5A4F-2E21-9820-237A-08F1923C7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550" y="1126768"/>
            <a:ext cx="2633775" cy="93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088405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0B3F10A-A81F-5B04-99A5-B1F8B66B9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AE43F6B-8744-6120-19E7-999B60B8A63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D487090-8C5D-D3FA-674A-9C25A82B651B}"/>
              </a:ext>
            </a:extLst>
          </p:cNvPr>
          <p:cNvSpPr txBox="1"/>
          <p:nvPr/>
        </p:nvSpPr>
        <p:spPr>
          <a:xfrm>
            <a:off x="1150369" y="1934694"/>
            <a:ext cx="51170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powerful tool for working with tabulated data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Much like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NumPy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pandas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contains many built-in functions for synthesizing and analysing data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2834203-427D-A110-55B1-268A9470E2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Summary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6DBD0A2-1B5C-42E9-F5DE-6B3CF0BC277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E8D546-DB0F-E687-012B-02BAF0E7A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550" y="1126768"/>
            <a:ext cx="2633775" cy="93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48072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51D7E26-EB3B-C66C-2372-3028C1680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AF76B55-2D42-5DE1-B85E-507918169064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827EE8A-4E33-EEE4-A523-D35388BCD5AA}"/>
              </a:ext>
            </a:extLst>
          </p:cNvPr>
          <p:cNvSpPr txBox="1"/>
          <p:nvPr/>
        </p:nvSpPr>
        <p:spPr>
          <a:xfrm>
            <a:off x="1150369" y="1934694"/>
            <a:ext cx="51170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powerful tool for working with tabulated data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Much like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NumPy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pandas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contains many built-in functions for synthesizing and analysing data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Unlike in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NumPy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data is not treated like a mathematical object (e.g. matrices, vectors,…)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338DB52-1438-C762-633A-2BD239D971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Summary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B6950B6-400E-319E-0C75-4EE87DC209F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48DC69-C2EE-A281-F3C2-967E4D043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550" y="1126768"/>
            <a:ext cx="2633775" cy="93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50634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92FAE0F-CF06-655F-7A06-F084EEBA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FE8D0CB-B7C6-8EAF-48FD-78ACCE0D0B2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9727D75-EDA9-2C8F-5409-9D66E721BA38}"/>
              </a:ext>
            </a:extLst>
          </p:cNvPr>
          <p:cNvSpPr txBox="1"/>
          <p:nvPr/>
        </p:nvSpPr>
        <p:spPr>
          <a:xfrm>
            <a:off x="1150369" y="1934694"/>
            <a:ext cx="51170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powerful tool for working with tabulated data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Much like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NumPy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pandas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contains many built-in functions for synthesizing and analysing data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Unlike in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NumPy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data is not treated like a mathematical object (e.g. matrices, vectors,…)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D419454-CDFE-49E6-A77C-5B8A08BBF2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Summary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955A847-DC0C-2685-3295-AFD4E91DBC8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1689AE-CF6B-F3FB-C2EA-4B8CF15E2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550" y="1126768"/>
            <a:ext cx="2633775" cy="935152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90C13A-3A45-70E3-721C-20433B0B19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624" t="67966" r="61296" b="5980"/>
          <a:stretch>
            <a:fillRect/>
          </a:stretch>
        </p:blipFill>
        <p:spPr>
          <a:xfrm>
            <a:off x="6892605" y="2530308"/>
            <a:ext cx="2140608" cy="12686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08465450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FDD2D71-4C9A-2A96-A93E-D9D535209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5C2EC94-0140-241B-40DC-EAA641933C4D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DF195B7-2570-8F16-D0DF-8102F67B55BE}"/>
              </a:ext>
            </a:extLst>
          </p:cNvPr>
          <p:cNvSpPr txBox="1"/>
          <p:nvPr/>
        </p:nvSpPr>
        <p:spPr>
          <a:xfrm>
            <a:off x="1150369" y="1934694"/>
            <a:ext cx="51170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powerful tool for working with tabulated data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Much like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NumPy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pandas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contains many built-in functions for synthesizing and analysing data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Unlike in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NumPy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data is not treated like a mathematical object (e.g. matrices, vectors,…)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in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pandas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can be any format and can be read in from many different file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A91FFEC-EDFC-A521-3D21-AE95CF2C82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Summary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6F39F49-92AD-8E35-08C8-AFF67DBE3B4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601EFC-C582-A675-9E5E-B33B70CFD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550" y="1126768"/>
            <a:ext cx="2633775" cy="935152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4110AB-0E0A-A079-AE01-9DF8A5379A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624" t="67966" r="61296" b="5980"/>
          <a:stretch>
            <a:fillRect/>
          </a:stretch>
        </p:blipFill>
        <p:spPr>
          <a:xfrm>
            <a:off x="6892605" y="2530308"/>
            <a:ext cx="2140608" cy="12686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99648165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4467F46-0A7A-FA97-9059-5AE5C5A6B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917A89D-1106-01F2-6886-7C770DE6C20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F0F7FD5-E18B-85B5-16D7-F835A3AC9A32}"/>
              </a:ext>
            </a:extLst>
          </p:cNvPr>
          <p:cNvSpPr txBox="1"/>
          <p:nvPr/>
        </p:nvSpPr>
        <p:spPr>
          <a:xfrm>
            <a:off x="1150369" y="1934694"/>
            <a:ext cx="51170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powerful tool for working with tabulated data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Much like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NumPy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pandas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contains many built-in functions for synthesizing and analysing data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Unlike in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NumPy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data is not treated like a mathematical object (e.g. matrices, vectors,…)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in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pandas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can be any format and can be read in from many different file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DDCE34F-D5BE-7065-CB45-AF0CE78B0D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Summary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D16A46F-5166-E743-5AE3-2738ACD2185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E49BC5-1634-77BA-9718-682D1D7AE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550" y="1126768"/>
            <a:ext cx="2633775" cy="9351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951FBF-69BF-245C-2325-AEF3FA8EA2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17"/>
          <a:stretch>
            <a:fillRect/>
          </a:stretch>
        </p:blipFill>
        <p:spPr bwMode="auto">
          <a:xfrm>
            <a:off x="9534525" y="2530308"/>
            <a:ext cx="1749360" cy="2237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2FF4DC-A21D-273A-262B-DF8D7CBE02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624" t="67966" r="61296" b="5980"/>
          <a:stretch>
            <a:fillRect/>
          </a:stretch>
        </p:blipFill>
        <p:spPr>
          <a:xfrm>
            <a:off x="6892605" y="2530308"/>
            <a:ext cx="2140608" cy="12686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88945893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22F0A17-CF93-9CE3-F5BA-C574A51B8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5000DCB-12BB-7CFE-96E2-D3CEC6EB17BD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D1CA424-EEDB-0F15-9D61-8882DDFFB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92DA4B6-6724-CA95-2A5A-2E3DBDE13F7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074836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9F5F937-F06B-AEDB-36D7-ED8B1C472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4D9D0A0-A709-623F-BD29-CE0D0D209CC1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46A6D87-F7B0-0578-4576-6E522A2FD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84E24C3-58EA-EB5C-AC17-905817E3B51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0651F0-80F1-6B7F-4602-AE108A23F5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9" t="12381" r="4168" b="8889"/>
          <a:stretch>
            <a:fillRect/>
          </a:stretch>
        </p:blipFill>
        <p:spPr>
          <a:xfrm>
            <a:off x="5771530" y="1382486"/>
            <a:ext cx="5995926" cy="4438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05128073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5926D5C-09FA-B091-738B-F0DC397EF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FDA3AA-8871-2A06-1058-C12B445A3A6D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020350C-E32E-BCF4-4772-24B6F76404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6A68BE9-AC71-5736-0FA8-D8534A8D40FA}"/>
              </a:ext>
            </a:extLst>
          </p:cNvPr>
          <p:cNvSpPr txBox="1"/>
          <p:nvPr/>
        </p:nvSpPr>
        <p:spPr>
          <a:xfrm>
            <a:off x="1259401" y="2004517"/>
            <a:ext cx="416712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E413906-7ADD-6F34-A4E1-BB8642943CA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FF45C4-D8E6-C254-D330-93EAF8CA09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9" t="12381" r="4168" b="8889"/>
          <a:stretch>
            <a:fillRect/>
          </a:stretch>
        </p:blipFill>
        <p:spPr>
          <a:xfrm>
            <a:off x="5771530" y="1382486"/>
            <a:ext cx="5995926" cy="4438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13867487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1D70DA8-33D5-9C7B-BA90-49F990A46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11F98A-777B-89C4-DF7F-C957708ACC1B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EF05E73-F353-E4C8-AE0A-E22A9BF1D4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562607C-9EBE-126F-95A2-86F7A83D432E}"/>
              </a:ext>
            </a:extLst>
          </p:cNvPr>
          <p:cNvSpPr txBox="1"/>
          <p:nvPr/>
        </p:nvSpPr>
        <p:spPr>
          <a:xfrm>
            <a:off x="1259401" y="2004517"/>
            <a:ext cx="416712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15E038D-AFB7-CC23-C888-DD52E4BC5ED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B1DCC9-8742-7839-485C-0C9D8CF819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9" t="12381" r="4168" b="8889"/>
          <a:stretch>
            <a:fillRect/>
          </a:stretch>
        </p:blipFill>
        <p:spPr>
          <a:xfrm>
            <a:off x="5771530" y="1382486"/>
            <a:ext cx="5995926" cy="4438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811279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F2FFBAA-9F9E-9B55-CD8B-B15F1C3A2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522C841-E335-4874-4907-F77129EE76A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828B96E-4F11-60D0-F9E2-54B11971CB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AB7B37D-1E21-DB44-28A1-0EE336B3389D}"/>
              </a:ext>
            </a:extLst>
          </p:cNvPr>
          <p:cNvSpPr txBox="1"/>
          <p:nvPr/>
        </p:nvSpPr>
        <p:spPr>
          <a:xfrm>
            <a:off x="1259401" y="2004517"/>
            <a:ext cx="416712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lecture_pandas.ipynb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0BDB948-E146-0F13-9A15-50009FD3A66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B5E286-E3E8-B458-09DD-45E23609FE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9" t="12381" r="4168" b="8889"/>
          <a:stretch>
            <a:fillRect/>
          </a:stretch>
        </p:blipFill>
        <p:spPr>
          <a:xfrm>
            <a:off x="5771530" y="1382486"/>
            <a:ext cx="5995926" cy="4438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25440850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AC852DC-37EA-857E-2393-A29C26124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0857E78-E0EA-5A3A-49DE-161BDF68D374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2DE7E04-08E2-4522-E695-DB71E53AA9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E36ACC7-C2AC-C1F7-536D-1A173FBF6728}"/>
              </a:ext>
            </a:extLst>
          </p:cNvPr>
          <p:cNvSpPr txBox="1"/>
          <p:nvPr/>
        </p:nvSpPr>
        <p:spPr>
          <a:xfrm>
            <a:off x="1259401" y="2004517"/>
            <a:ext cx="416712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lecture_pandas.ipynb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Work through the Pandas exercises in: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43E4F77-2CA3-B7F5-2B54-2C339653A6D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197E8E-CAB7-74B5-7A62-BD25C7BBB2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9" t="12381" r="4168" b="8889"/>
          <a:stretch>
            <a:fillRect/>
          </a:stretch>
        </p:blipFill>
        <p:spPr>
          <a:xfrm>
            <a:off x="5771530" y="1382486"/>
            <a:ext cx="5995926" cy="4438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30274291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12B29A9-6152-89D1-6150-742DC3B4F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269F1FC-EBB4-6C3E-3330-F9C2ACFD01EC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2E49B5F-A162-BC9A-E730-427ABA211F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7CB40EE-C1BB-7BAD-01FF-9D55B00EFD08}"/>
              </a:ext>
            </a:extLst>
          </p:cNvPr>
          <p:cNvSpPr txBox="1"/>
          <p:nvPr/>
        </p:nvSpPr>
        <p:spPr>
          <a:xfrm>
            <a:off x="1259401" y="2004517"/>
            <a:ext cx="416712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lecture_pandas.ipynb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Work through the Pandas exercises in: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exercises_pandas.ipynb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CD403DE-539B-2DD2-DF69-1738DAA1F90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5AEC7F-A42C-5AC2-5B4E-7406090207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9" t="12381" r="4168" b="8889"/>
          <a:stretch>
            <a:fillRect/>
          </a:stretch>
        </p:blipFill>
        <p:spPr>
          <a:xfrm>
            <a:off x="5771530" y="1382486"/>
            <a:ext cx="5995926" cy="4438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8882230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007733E-EB73-8E79-AAE0-A077AF5DA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0E12C5D-A822-BD93-6286-0F1083EE923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04714E2-8142-C5BF-98C5-39BE21DD25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43400CD-2528-9C40-5D4F-8285EE9DDD9E}"/>
              </a:ext>
            </a:extLst>
          </p:cNvPr>
          <p:cNvSpPr txBox="1"/>
          <p:nvPr/>
        </p:nvSpPr>
        <p:spPr>
          <a:xfrm>
            <a:off x="1259401" y="2004517"/>
            <a:ext cx="416712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lecture_pandas.ipynb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Work through the Pandas exercises in: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exercises_pandas.ipynb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supplementary_pandas.ipynb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6C8C942-A63D-1EF5-5ECE-EB150AADB5F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CBC3EE-A00E-A628-CB0D-3D72BA02B8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9" t="12381" r="4168" b="8889"/>
          <a:stretch>
            <a:fillRect/>
          </a:stretch>
        </p:blipFill>
        <p:spPr>
          <a:xfrm>
            <a:off x="5771530" y="1382486"/>
            <a:ext cx="5995926" cy="4438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3256252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Next Time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86F060B-22CF-5D76-9B92-2F8E9A616F7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17/17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3213;p184">
            <a:extLst>
              <a:ext uri="{FF2B5EF4-FFF2-40B4-BE49-F238E27FC236}">
                <a16:creationId xmlns:a16="http://schemas.microsoft.com/office/drawing/2014/main" id="{79A59161-4071-12E8-6797-1FD355E13BEA}"/>
              </a:ext>
            </a:extLst>
          </p:cNvPr>
          <p:cNvSpPr txBox="1"/>
          <p:nvPr/>
        </p:nvSpPr>
        <p:spPr>
          <a:xfrm>
            <a:off x="1211100" y="19164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11: Introduction to Pandas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What is Pandas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The Pandas </a:t>
            </a:r>
            <a:r>
              <a:rPr lang="en-GB" sz="1600" dirty="0" err="1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endParaRPr lang="en-GB" sz="8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Accessing Elements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12: Introduction to Pandas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Loading Data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Exploratory Investigation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Data Type Conversion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33484</TotalTime>
  <Words>6743</Words>
  <Application>Microsoft Office PowerPoint</Application>
  <PresentationFormat>Widescreen</PresentationFormat>
  <Paragraphs>1000</Paragraphs>
  <Slides>203</Slides>
  <Notes>203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203</vt:i4>
      </vt:variant>
    </vt:vector>
  </HeadingPairs>
  <TitlesOfParts>
    <vt:vector size="207" baseType="lpstr">
      <vt:lpstr>Courier New</vt:lpstr>
      <vt:lpstr>Calibri</vt:lpstr>
      <vt:lpstr>Arial</vt:lpstr>
      <vt:lpstr>Retrospect</vt:lpstr>
      <vt:lpstr>Lecture 11:   Introduction to Pandas</vt:lpstr>
      <vt:lpstr>Today’s Lecture</vt:lpstr>
      <vt:lpstr>Today’s Lecture</vt:lpstr>
      <vt:lpstr>Todays Lecture</vt:lpstr>
      <vt:lpstr>What is Pandas?</vt:lpstr>
      <vt:lpstr>What is Pandas?</vt:lpstr>
      <vt:lpstr>What is Pandas?</vt:lpstr>
      <vt:lpstr>What is Pandas?</vt:lpstr>
      <vt:lpstr>What is Pandas?</vt:lpstr>
      <vt:lpstr>What is Pandas?</vt:lpstr>
      <vt:lpstr>What is Pandas?</vt:lpstr>
      <vt:lpstr>Powerful Tables: The Pandas DataFrame</vt:lpstr>
      <vt:lpstr>Powerful Tables: The Pandas DataFrame</vt:lpstr>
      <vt:lpstr>Powerful Tables: The Pandas DataFrame</vt:lpstr>
      <vt:lpstr>Powerful Tables: The Pandas DataFrame</vt:lpstr>
      <vt:lpstr>Powerful Tables: The Pandas DataFrame</vt:lpstr>
      <vt:lpstr>Powerful Tables: The Pandas DataFrame</vt:lpstr>
      <vt:lpstr>Powerful Tables: The Pandas DataFrame</vt:lpstr>
      <vt:lpstr>Powerful Tables: The Pandas DataFrame</vt:lpstr>
      <vt:lpstr>Powerful Tables: The Pandas DataFrame</vt:lpstr>
      <vt:lpstr>Powerful Tables: The Pandas DataFrame</vt:lpstr>
      <vt:lpstr>Powerful Tables: The Pandas DataFrame</vt:lpstr>
      <vt:lpstr>Powerful Tables: The Pandas DataFrame</vt:lpstr>
      <vt:lpstr>Powerful Tables: The Pandas DataFrame</vt:lpstr>
      <vt:lpstr>Powerful Tables: The Pandas DataFrame</vt:lpstr>
      <vt:lpstr>Powerful Tables: The Pandas DataFrame</vt:lpstr>
      <vt:lpstr>Powerful Tables: The Pandas DataFrame</vt:lpstr>
      <vt:lpstr>Powerful Tables: The Pandas DataFrame</vt:lpstr>
      <vt:lpstr>Powerful Tables: The Pandas DataFrame</vt:lpstr>
      <vt:lpstr>Powerful Tables: The Pandas DataFrame</vt:lpstr>
      <vt:lpstr>Powerful Tables: The Pandas DataFrame</vt:lpstr>
      <vt:lpstr>Powerful Tables: The Pandas DataFrame</vt:lpstr>
      <vt:lpstr>Powerful Tables: The Pandas DataFrame</vt:lpstr>
      <vt:lpstr>Powerful Tables: The Pandas DataFrame</vt:lpstr>
      <vt:lpstr>Powerful Tables: The Pandas DataFrame</vt:lpstr>
      <vt:lpstr>Powerful Tables: The Pandas DataFrame</vt:lpstr>
      <vt:lpstr>Powerful Tables: The Pandas DataFrame</vt:lpstr>
      <vt:lpstr>Terminology: The Pandas DataFrame</vt:lpstr>
      <vt:lpstr>Terminology: The Pandas DataFrame</vt:lpstr>
      <vt:lpstr>Terminology: The Pandas DataFrame</vt:lpstr>
      <vt:lpstr>Terminology: The Pandas DataFrame</vt:lpstr>
      <vt:lpstr>Terminology: The Pandas DataFrame</vt:lpstr>
      <vt:lpstr>Terminology: The Pandas DataFrame</vt:lpstr>
      <vt:lpstr>Terminology: The Pandas DataFrame</vt:lpstr>
      <vt:lpstr>Terminology: The Pandas DataFrame</vt:lpstr>
      <vt:lpstr>Terminology: The Pandas DataFrame</vt:lpstr>
      <vt:lpstr>Terminology: The Pandas DataFrame</vt:lpstr>
      <vt:lpstr>Terminology: The Pandas DataFrame</vt:lpstr>
      <vt:lpstr>Terminology: The Pandas DataFrame</vt:lpstr>
      <vt:lpstr>Terminology: The Pandas DataFrame</vt:lpstr>
      <vt:lpstr>Terminology: The Pandas DataFrame</vt:lpstr>
      <vt:lpstr>Working with Rows</vt:lpstr>
      <vt:lpstr>Working with Rows</vt:lpstr>
      <vt:lpstr>Working with Rows</vt:lpstr>
      <vt:lpstr>Working with Rows</vt:lpstr>
      <vt:lpstr>Working with Rows</vt:lpstr>
      <vt:lpstr>Working with Rows</vt:lpstr>
      <vt:lpstr>Working with Rows</vt:lpstr>
      <vt:lpstr>Working with Rows</vt:lpstr>
      <vt:lpstr>Working with Rows</vt:lpstr>
      <vt:lpstr>Working with Rows</vt:lpstr>
      <vt:lpstr>Working with Rows</vt:lpstr>
      <vt:lpstr>Working with Rows</vt:lpstr>
      <vt:lpstr>Working with Rows</vt:lpstr>
      <vt:lpstr>Working with Rows</vt:lpstr>
      <vt:lpstr>Working with Columns</vt:lpstr>
      <vt:lpstr>Working with Columns</vt:lpstr>
      <vt:lpstr>Working with Columns</vt:lpstr>
      <vt:lpstr>Working with Columns</vt:lpstr>
      <vt:lpstr>Working with Columns</vt:lpstr>
      <vt:lpstr>Working with Columns</vt:lpstr>
      <vt:lpstr>Working with Columns</vt:lpstr>
      <vt:lpstr>Working with Columns</vt:lpstr>
      <vt:lpstr>Working with Columns</vt:lpstr>
      <vt:lpstr>Working with Columns</vt:lpstr>
      <vt:lpstr>Working with Columns</vt:lpstr>
      <vt:lpstr>Working with Columns</vt:lpstr>
      <vt:lpstr>Working with Columns</vt:lpstr>
      <vt:lpstr>Working with Columns</vt:lpstr>
      <vt:lpstr>Accessing Individual Values</vt:lpstr>
      <vt:lpstr>Accessing Individual Values</vt:lpstr>
      <vt:lpstr>Accessing Individual Values</vt:lpstr>
      <vt:lpstr>Accessing Individual Values</vt:lpstr>
      <vt:lpstr>Accessing Individual Values</vt:lpstr>
      <vt:lpstr>Accessing Individual Values</vt:lpstr>
      <vt:lpstr>Accessing Individual Values</vt:lpstr>
      <vt:lpstr>Accessing Individual Values</vt:lpstr>
      <vt:lpstr>Accessing Individual Values</vt:lpstr>
      <vt:lpstr>Accessing Individual Values</vt:lpstr>
      <vt:lpstr>Arithmetic Operations</vt:lpstr>
      <vt:lpstr>Arithmetic Operations</vt:lpstr>
      <vt:lpstr>Arithmetic Operations</vt:lpstr>
      <vt:lpstr>Arithmetic Operations</vt:lpstr>
      <vt:lpstr>Arithmetic Operations</vt:lpstr>
      <vt:lpstr>Arithmetic Operations</vt:lpstr>
      <vt:lpstr>Arithmetic Operations</vt:lpstr>
      <vt:lpstr>Arithmetic Operations</vt:lpstr>
      <vt:lpstr>Arithmetic Operations</vt:lpstr>
      <vt:lpstr>Arithmetic Operations</vt:lpstr>
      <vt:lpstr>Arithmetic Operations</vt:lpstr>
      <vt:lpstr>Arithmetic Operations</vt:lpstr>
      <vt:lpstr>Arithmetic Operations</vt:lpstr>
      <vt:lpstr>Arithmetic Operations</vt:lpstr>
      <vt:lpstr>Arithmetic Operations</vt:lpstr>
      <vt:lpstr>Arithmetic Operations</vt:lpstr>
      <vt:lpstr>Arithmetic Operations</vt:lpstr>
      <vt:lpstr>Arithmetic Operations</vt:lpstr>
      <vt:lpstr>Arithmetic Operations</vt:lpstr>
      <vt:lpstr>Statistical Operations</vt:lpstr>
      <vt:lpstr>Statistical Operations</vt:lpstr>
      <vt:lpstr>Statistical Operations</vt:lpstr>
      <vt:lpstr>Statistical Operations</vt:lpstr>
      <vt:lpstr>Statistical Operations</vt:lpstr>
      <vt:lpstr>Statistical Operations</vt:lpstr>
      <vt:lpstr>Statistical Operations</vt:lpstr>
      <vt:lpstr>Statistical Operations</vt:lpstr>
      <vt:lpstr>Expanding DataFrames</vt:lpstr>
      <vt:lpstr>Expanding DataFrames</vt:lpstr>
      <vt:lpstr>Expanding DataFrames</vt:lpstr>
      <vt:lpstr>Expanding DataFrames</vt:lpstr>
      <vt:lpstr>Expanding DataFrames</vt:lpstr>
      <vt:lpstr>Expanding DataFrames</vt:lpstr>
      <vt:lpstr>Expanding DataFrames</vt:lpstr>
      <vt:lpstr>Expanding DataFrames</vt:lpstr>
      <vt:lpstr>Expanding DataFrames</vt:lpstr>
      <vt:lpstr>Expanding DataFrames</vt:lpstr>
      <vt:lpstr>Expanding DataFrames</vt:lpstr>
      <vt:lpstr>Expanding DataFrames</vt:lpstr>
      <vt:lpstr>Expanding DataFrames</vt:lpstr>
      <vt:lpstr>Expanding DataFrames</vt:lpstr>
      <vt:lpstr>Expanding DataFrames</vt:lpstr>
      <vt:lpstr>Expanding DataFrames</vt:lpstr>
      <vt:lpstr>Expanding DataFrames</vt:lpstr>
      <vt:lpstr>Expanding DataFrames</vt:lpstr>
      <vt:lpstr>Filtering Data</vt:lpstr>
      <vt:lpstr>Filtering Data</vt:lpstr>
      <vt:lpstr>Filtering Data</vt:lpstr>
      <vt:lpstr>Filtering Data</vt:lpstr>
      <vt:lpstr>Filtering Data</vt:lpstr>
      <vt:lpstr>Filtering Data</vt:lpstr>
      <vt:lpstr>Filtering Data</vt:lpstr>
      <vt:lpstr>Filtering Data</vt:lpstr>
      <vt:lpstr>Filtering Data</vt:lpstr>
      <vt:lpstr>Filtering Data</vt:lpstr>
      <vt:lpstr>Filtering Data</vt:lpstr>
      <vt:lpstr>Filtering Data</vt:lpstr>
      <vt:lpstr>Filtering Data</vt:lpstr>
      <vt:lpstr>Filtering Data</vt:lpstr>
      <vt:lpstr>Multiple Conditions</vt:lpstr>
      <vt:lpstr>Multiple Conditions</vt:lpstr>
      <vt:lpstr>Multiple Conditions</vt:lpstr>
      <vt:lpstr>Multiple Conditions</vt:lpstr>
      <vt:lpstr>Multiple Conditions</vt:lpstr>
      <vt:lpstr>Multiple Conditions</vt:lpstr>
      <vt:lpstr>Multiple Conditions</vt:lpstr>
      <vt:lpstr>Multiple Conditions</vt:lpstr>
      <vt:lpstr>Multiple Conditions</vt:lpstr>
      <vt:lpstr>Multiple Conditions</vt:lpstr>
      <vt:lpstr>Multiple Conditions</vt:lpstr>
      <vt:lpstr>Multiple Conditions</vt:lpstr>
      <vt:lpstr>Multiple Conditions</vt:lpstr>
      <vt:lpstr>Multiple Conditions</vt:lpstr>
      <vt:lpstr>Multiple Conditions</vt:lpstr>
      <vt:lpstr>Multiple Conditions</vt:lpstr>
      <vt:lpstr>Multiple Conditions</vt:lpstr>
      <vt:lpstr>Multiple Conditions</vt:lpstr>
      <vt:lpstr>Multiple Conditions</vt:lpstr>
      <vt:lpstr>Multiple Conditions</vt:lpstr>
      <vt:lpstr>Multiple Conditions</vt:lpstr>
      <vt:lpstr>Reading CSV Files</vt:lpstr>
      <vt:lpstr>Reading CSV Files</vt:lpstr>
      <vt:lpstr>Reading CSV Files</vt:lpstr>
      <vt:lpstr>Reading CSV Files</vt:lpstr>
      <vt:lpstr>Reading CSV Files</vt:lpstr>
      <vt:lpstr>Reading CSV Files</vt:lpstr>
      <vt:lpstr>Reading CSV Files</vt:lpstr>
      <vt:lpstr>Reading CSV Files</vt:lpstr>
      <vt:lpstr>Reading CSV Files</vt:lpstr>
      <vt:lpstr>Reading CSV Files</vt:lpstr>
      <vt:lpstr>Reading CSV Files</vt:lpstr>
      <vt:lpstr>Reading CSV Files</vt:lpstr>
      <vt:lpstr>Reading CSV Files</vt:lpstr>
      <vt:lpstr>Reading CSV Files</vt:lpstr>
      <vt:lpstr>Reading CSV Files</vt:lpstr>
      <vt:lpstr>Reading CSV Files</vt:lpstr>
      <vt:lpstr>Reading CSV Files</vt:lpstr>
      <vt:lpstr>Summary</vt:lpstr>
      <vt:lpstr>Summary</vt:lpstr>
      <vt:lpstr>Summary</vt:lpstr>
      <vt:lpstr>Summary</vt:lpstr>
      <vt:lpstr>Summary</vt:lpstr>
      <vt:lpstr>Summary</vt:lpstr>
      <vt:lpstr>Summary</vt:lpstr>
      <vt:lpstr>Summary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Tom Maullin-Sapey</dc:creator>
  <cp:lastModifiedBy>Tom Maullin-Sapey</cp:lastModifiedBy>
  <cp:revision>136</cp:revision>
  <dcterms:modified xsi:type="dcterms:W3CDTF">2026-01-20T19:43:38Z</dcterms:modified>
</cp:coreProperties>
</file>