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641" r:id="rId3"/>
    <p:sldId id="2964" r:id="rId4"/>
    <p:sldId id="2980" r:id="rId5"/>
    <p:sldId id="2965" r:id="rId6"/>
    <p:sldId id="2967" r:id="rId7"/>
    <p:sldId id="2968" r:id="rId8"/>
    <p:sldId id="2981" r:id="rId9"/>
    <p:sldId id="2969" r:id="rId10"/>
    <p:sldId id="2970" r:id="rId11"/>
    <p:sldId id="2982" r:id="rId12"/>
    <p:sldId id="2971" r:id="rId13"/>
    <p:sldId id="2983" r:id="rId14"/>
    <p:sldId id="2984" r:id="rId15"/>
    <p:sldId id="2985" r:id="rId16"/>
    <p:sldId id="2972" r:id="rId17"/>
    <p:sldId id="2987" r:id="rId18"/>
    <p:sldId id="2973" r:id="rId19"/>
    <p:sldId id="2986" r:id="rId20"/>
    <p:sldId id="2988" r:id="rId21"/>
    <p:sldId id="2974" r:id="rId22"/>
    <p:sldId id="2989" r:id="rId23"/>
    <p:sldId id="2990" r:id="rId24"/>
    <p:sldId id="2991" r:id="rId25"/>
    <p:sldId id="2992" r:id="rId26"/>
    <p:sldId id="2993" r:id="rId27"/>
    <p:sldId id="2994" r:id="rId28"/>
    <p:sldId id="2995" r:id="rId29"/>
    <p:sldId id="2976" r:id="rId30"/>
    <p:sldId id="2996" r:id="rId31"/>
    <p:sldId id="2977" r:id="rId32"/>
    <p:sldId id="2997" r:id="rId33"/>
    <p:sldId id="2978" r:id="rId34"/>
    <p:sldId id="2979" r:id="rId35"/>
    <p:sldId id="2960" r:id="rId36"/>
    <p:sldId id="427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60"/>
  </p:normalViewPr>
  <p:slideViewPr>
    <p:cSldViewPr snapToGrid="0">
      <p:cViewPr varScale="1">
        <p:scale>
          <a:sx n="59" d="100"/>
          <a:sy n="59" d="100"/>
        </p:scale>
        <p:origin x="7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7FEAA5-D7DB-D8D3-E074-041C9DD4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7C2F6B-D45B-4FD1-5DB9-A2D944A65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55F258F-7113-7254-DDC6-4B92F7BE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7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FD79F2-E267-51AE-B915-9C32C646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AEE301-AC95-0B83-F75A-46D2536B8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A579BC-9820-958E-016F-8A58D97EB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42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12D145-30E8-E6B8-EB47-B738045D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79556CF-88FC-0589-4D8E-AC1B50301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9C2898-2D83-7047-F231-FCA06AA19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06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E771CE-CBBB-FE69-029C-E29B6DB9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7205C7-1B5D-01F0-EB4E-30EBD6453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0F7A47-1097-5D57-33AB-6DBE5E28D7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352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D7EFB5-D3A4-035A-9BE5-0375E05A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62CB8B-439B-B813-69FC-FF1762704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7479B1-EDE7-8075-1608-077D5ADAF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100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4A18EE-BEEF-4729-8108-72299B1C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CA2EBA-2EEB-B1C2-F85B-F7BDC7489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5BD0C0-70A0-7350-0468-BCF6FC846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408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5DA699-360F-3BD1-7E59-600AC841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CFA3D2-8A3F-3261-76F1-53AFFC851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4EF09B-0909-1046-238F-19EF33852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02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D9815B-D95B-9A01-6D28-6623497B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9B3E83-BBAE-8623-9571-A4CD61312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D1D9FF-5F9A-2CF1-35FB-DA9A934C1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092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C53BA6-F619-D938-F6F9-C063F32DC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B2F892-FAB0-06C7-6C9D-0BC5C321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760160-68FE-D2FE-1FE4-A523D323E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705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8047B3-2E1D-ED43-6A60-BB5B79BD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4DD230-CB9B-1DFB-57EE-2D26E9B88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A86ADA-7253-7DAB-2941-250840800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334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5FCDBF-6F48-093D-AF44-9B0D69F6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B66D58-7E81-98FA-211E-C65B85B24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055E9E-D2CF-6F0C-C738-8C2B4230C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177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3BD08DF-67A5-E833-AFDA-E82CE320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F5C6680-55F3-75F8-DF4A-103D23F84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DE276A-85C2-9EE4-2720-F6EED1B89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0162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F3D8F2-55F5-935A-E30D-6F3BB793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670BC2-4D57-DC7E-9A38-3C76CFA3C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AF69D7-DD60-2F08-2CA2-9CE9C1E93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998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977F79-8186-2DE0-8E69-2E7D874F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9414504-9E94-D83E-48D4-18A2DE528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D101C7-25F2-09E9-BF4D-D85994A56C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885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24CF2F-C531-EB5B-1A0B-1BD43E18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88EB84C-65BE-2E3B-B04E-D152B61B7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78480C-2175-5464-B0B3-17764C4AE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082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B716FD-409E-66B1-F3A2-D1E3AF6A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1A915E5-AC1B-A83F-5269-BCF6D619B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C4CEA0-84D4-DF04-5EC1-09DB3774E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1946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5F1A21-0311-AD57-4FD5-71E28D82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BA428D-2044-D54E-45A6-53FB7E8DE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82713EB-5D95-EAB8-ED34-C35D35447E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7073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BDAE88-5E00-60BA-240C-2F051586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BC69C2C-3C08-CB6C-3BE7-67B2F5752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4B61A3-1FB4-EACE-8BF2-6593E7013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67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117672-ACF2-BC03-C5CC-2BAE803C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CC75DF-9CFD-93B3-5A1C-03A4FBBF6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E28A61-DEFB-2E34-12F0-A2E784D45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9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432FD65-48D0-52B0-B67E-443B0B25B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B488214-4324-511F-BC12-505783F83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6470860-2923-E7C2-E246-E93FB0138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432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7C41BB-CEDE-37F6-70A6-0879914A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F67EFB-27D4-293B-A246-E5D993354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73072A2-F95A-71EC-2D1A-DCDFCD388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5577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3EF300-8095-C040-E0FF-27AF0CB2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D616C3-3126-0E6A-1ADE-797A318AA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38C26E-79A7-7370-7D71-884A194E0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647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A898C2-52D9-FF13-488E-38D8A807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BB477E-B1B7-8152-C50C-326B2985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2931C3-CF75-3BF1-788C-534355672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763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8AE723-119F-EAEF-9412-0561EBD9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BEA4999-DE10-60ED-6036-7886DE2CF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CBCD46-711A-8798-87D8-AEBCD9275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8673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0E848A-A565-993F-E3A7-29050CB2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EF3ECF-F94E-E9FF-FC8E-A237BEA38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9425A8-8465-0BB8-8BEF-1348421E1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405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300B3F-3F9E-E3BA-D640-82655DF9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E8290CF-F159-5B8D-55AD-5594AEEB9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D705A8-2539-9061-E639-52303DB0A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6329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2BF833-B7F5-165D-E1FE-26ACCB7E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A128DD-0B75-D17F-1EC2-5631023DF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C6FBEC-ACB4-A4C3-6971-F1E98F837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856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A3BF20-2E42-99C9-0CB9-EF7F39A4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0F8353-A940-26A9-0329-24915911B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B10ADB-D7BE-AB35-87DD-5F3F2D7F3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998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B94697-F992-96A0-F959-8F875E73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92F8B7-1964-D4D5-A559-0FCAFFF0C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AB16B3-8C20-FB39-73BD-9EF336D27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7158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87597A-5F70-F927-D4F6-925121A6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2856464-340F-944A-C346-89C526089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4907F11-CE42-7D69-A890-8DB81B040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4809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C743E0-90D0-3CC4-E7EB-4F0C65FD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952CAC-3B6F-EC15-3320-433DD347C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3D4382-93CA-04E9-C993-3E53C3077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901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8249418-977C-E4EF-3533-374B29A1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CDA342-7D69-EB9A-7E83-4267C823B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E8DC2D5-6A55-4677-5247-94996AF58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9981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A79726-C519-A05B-88EE-D1040BFA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C2D86E-AC12-81E7-A4F6-235259ABD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E4376A-3FC8-C5D8-43CD-D1BC01DC0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78676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28CC55-45C0-4C9C-9C27-D13CB0AB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EBAB4D-EE5E-43A8-5DBE-9657BB625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B9BEC9-8007-9DDF-FC8F-1B0814115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064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18: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Writing a Scientific Report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March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71AD050-9705-B8C8-1525-B8DE7563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C57341C-F943-C3E6-321E-E3C6A36F9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3A85B1F6-98BC-60A1-916F-70D001A7B244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18: Writing a Scientific Report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Report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should be in a report?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General guidance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Next up: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Easter break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19: Reflections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20: Drop-in Session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442583B-7329-DCFC-DEA6-D44C55E88E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3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41CAE69-94FA-06E8-7BAC-E8161DC9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E1ECAA-34FA-8FD9-0187-05B31422F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4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7445FA-F91F-74CC-A5BB-077A4705B04C}"/>
              </a:ext>
            </a:extLst>
          </p:cNvPr>
          <p:cNvSpPr txBox="1"/>
          <p:nvPr/>
        </p:nvSpPr>
        <p:spPr>
          <a:xfrm>
            <a:off x="1234281" y="1834474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4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18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March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22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April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project requires you to: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Analyse a dataset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your choice using the tools you’ve learned throughout the course (two datasets available)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Write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report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explains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workshop, we shall focus on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report writing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aspect in the specific context of a computational project.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FA22497-EA8F-DE91-4492-462688CD5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016D81FD-8F7A-F7D1-271B-9BC6DD0659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0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4F4DFC-6681-822E-71EA-4EA4716B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B7345E-E7CD-FD72-67FC-372271012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Important Announcement: Project 4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80D107-540B-F45B-EB54-418AF340C00D}"/>
              </a:ext>
            </a:extLst>
          </p:cNvPr>
          <p:cNvSpPr txBox="1"/>
          <p:nvPr/>
        </p:nvSpPr>
        <p:spPr>
          <a:xfrm>
            <a:off x="1234281" y="1834474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4”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must submit: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code for your analysis as a </a:t>
            </a:r>
            <a:r>
              <a:rPr lang="en-GB" sz="1600" b="1" i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 Notebook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report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describing your analysis in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Word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LaTeX 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Templates are available on blackboard, LaTeX recommended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assessed!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40% of your grade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AA46DDF-4848-AF42-1CFA-021278CB7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53567CB-9123-02DE-9753-20A03A7628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17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711249-F60B-0857-E303-92081936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ED7960-58B9-7E22-D4D1-208737A4B8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Today’s Aims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557A67C-1F86-CBEC-D06E-CAA0946CF263}"/>
              </a:ext>
            </a:extLst>
          </p:cNvPr>
          <p:cNvSpPr txBox="1"/>
          <p:nvPr/>
        </p:nvSpPr>
        <p:spPr>
          <a:xfrm>
            <a:off x="1234281" y="1834474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Today’s class will be a little different to previous classes…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workshop, we will: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 an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typical structure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 scientific report (applicable to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both Word and LaTeX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Explore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to use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LaTeX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write a report that is both rigorous and visually appealing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1030" name="Picture 6" descr="LaTeX - Simple English Wikipedia, the free encyclopedia">
            <a:extLst>
              <a:ext uri="{FF2B5EF4-FFF2-40B4-BE49-F238E27FC236}">
                <a16:creationId xmlns:a16="http://schemas.microsoft.com/office/drawing/2014/main" id="{0AC073B9-0516-2EAF-1887-93BB69A96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69829" y="2285544"/>
            <a:ext cx="1987890" cy="82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verleaf accelerates into new era - Digital Science">
            <a:extLst>
              <a:ext uri="{FF2B5EF4-FFF2-40B4-BE49-F238E27FC236}">
                <a16:creationId xmlns:a16="http://schemas.microsoft.com/office/drawing/2014/main" id="{274BAC44-5F07-03FB-1A6F-296B60E7F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7829" y="4041268"/>
            <a:ext cx="3178628" cy="101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04845245-CFD1-3CCF-9175-A172F911B0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1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75121C-90E8-8821-5134-0FF5746D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8962B1-6353-424C-075B-D96D5FCFF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Structuring your Report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C8667D0-9600-0958-A3A9-33036D6B1CFD}"/>
              </a:ext>
            </a:extLst>
          </p:cNvPr>
          <p:cNvSpPr txBox="1"/>
          <p:nvPr/>
        </p:nvSpPr>
        <p:spPr>
          <a:xfrm>
            <a:off x="1234281" y="1834474"/>
            <a:ext cx="486171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report is a brief, structured document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should explain the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the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the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 project.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focus is on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clarity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rigour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draft of a scientific paper…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</a:t>
            </a:r>
            <a:r>
              <a:rPr lang="en-GB" sz="16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without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comprehensive literature review or a detailed discussion of related work. 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emphasis is on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lang="en-GB" sz="1800" b="1" i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0A3E1-2A36-1E64-44A3-706F3DBF36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009C80D4-F350-41D1-49AF-09A34A7BB7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10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9CE50C-BF6E-1E3D-3C93-8F8C004D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8F5916-0CF9-2CFA-BE7A-D2507DB9B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should be in a report?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B4631D3-8635-85DB-A1DB-18F342D7E1A7}"/>
              </a:ext>
            </a:extLst>
          </p:cNvPr>
          <p:cNvSpPr txBox="1"/>
          <p:nvPr/>
        </p:nvSpPr>
        <p:spPr>
          <a:xfrm>
            <a:off x="1234281" y="1834474"/>
            <a:ext cx="486171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provided you with a template which includes the following: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97FBA-6B23-5E6A-9F0A-F18AF48F78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871AC9-8041-D6D7-C923-A5E5564ED878}"/>
              </a:ext>
            </a:extLst>
          </p:cNvPr>
          <p:cNvSpPr txBox="1"/>
          <p:nvPr/>
        </p:nvSpPr>
        <p:spPr>
          <a:xfrm>
            <a:off x="1687285" y="5400574"/>
            <a:ext cx="47339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Let’s take a look at these in a little more detail!</a:t>
            </a:r>
          </a:p>
        </p:txBody>
      </p:sp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B0BF1B46-413B-5D2C-E7AD-F0DC394940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7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E78545-ACEA-E082-5C21-073800CA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1F19270-D229-4187-E156-088BB1DEF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Abstract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095832-6F1C-A6E8-B615-14BFE365ADDB}"/>
              </a:ext>
            </a:extLst>
          </p:cNvPr>
          <p:cNvSpPr txBox="1"/>
          <p:nvPr/>
        </p:nvSpPr>
        <p:spPr>
          <a:xfrm>
            <a:off x="1234281" y="1834474"/>
            <a:ext cx="486171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abstract is an extremely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brief summary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report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Usually no more than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100-150 words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should give a brief overview of: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problem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are investigating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methods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are using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Your main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it as like a blurb for a book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7D436-6BAF-E94E-CF89-4375343AC7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56AFC1-F2BB-C012-2A8D-2EC12A9A214A}"/>
              </a:ext>
            </a:extLst>
          </p:cNvPr>
          <p:cNvSpPr/>
          <p:nvPr/>
        </p:nvSpPr>
        <p:spPr>
          <a:xfrm>
            <a:off x="7445829" y="2906486"/>
            <a:ext cx="3511890" cy="315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AE1448AA-A78B-119B-2834-8414757A2E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41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17611F-C3C9-EBA5-C860-02DFCE6E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909B7E-B091-2DDC-2EF6-C32D2403D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Abstract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1829C-3AB1-31E4-AA79-F939A4E369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0265503E-143B-DFA1-7B01-31D1F1E3A7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443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D74287-FF4B-F8F3-4827-6FAF4D48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DAD0B87-1359-EDB8-95B2-F57492B33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Introduction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04BE639-C274-88E0-453D-3232A7203459}"/>
              </a:ext>
            </a:extLst>
          </p:cNvPr>
          <p:cNvSpPr txBox="1"/>
          <p:nvPr/>
        </p:nvSpPr>
        <p:spPr>
          <a:xfrm>
            <a:off x="1234281" y="1834474"/>
            <a:ext cx="5231833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section you must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contextualise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problem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i.e. provide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background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b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should answer the following questions: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kind of problem are we looking at?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Why does it matter?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question do you want to answer?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should also briefly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outline your roadmap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the reader, so they know what to expect in the rest of the report.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38B25-392F-C589-7A23-0AB725FC9C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7CF769-89B1-9B6A-F7AB-F23B989D83FD}"/>
              </a:ext>
            </a:extLst>
          </p:cNvPr>
          <p:cNvSpPr/>
          <p:nvPr/>
        </p:nvSpPr>
        <p:spPr>
          <a:xfrm>
            <a:off x="7108372" y="3271157"/>
            <a:ext cx="2155371" cy="12681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8BF257E8-DAA3-A458-F44A-B7192DE82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6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6D29FE-009F-80B6-D036-44984759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2C9D188-8C22-B051-1131-496BB5691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Introduction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21016-1C28-4F81-1F90-5FCDBC8BD2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565D4F86-E4E2-7F41-6248-F9E5114A79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65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0D210C-CE33-3C31-DA2E-8198AD2F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8200D0-394C-F08A-82C7-A4ED8AD78F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Methodology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8CC579-B567-24F0-3617-8341B55CE1AD}"/>
              </a:ext>
            </a:extLst>
          </p:cNvPr>
          <p:cNvSpPr txBox="1"/>
          <p:nvPr/>
        </p:nvSpPr>
        <p:spPr>
          <a:xfrm>
            <a:off x="1012371" y="1645950"/>
            <a:ext cx="57035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Here you prepare the reader with the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necessary information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understand your approach.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Define all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quantities of interest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will be tracked in your results section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Explain the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rationale behind your choices</a:t>
            </a:r>
            <a:b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should answer the following questions: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are we using?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hypothesis or research question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are we investigating, and how will we do it?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Are we defining any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new metrics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Are we using any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specific models to fit/explain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data?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F8A15-2B83-BBF1-FC0C-CC67CDD7E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FA1F32-B830-BE30-2CF0-38C6322EF6F6}"/>
              </a:ext>
            </a:extLst>
          </p:cNvPr>
          <p:cNvSpPr/>
          <p:nvPr/>
        </p:nvSpPr>
        <p:spPr>
          <a:xfrm>
            <a:off x="6999513" y="4506685"/>
            <a:ext cx="4463143" cy="11769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849F1E4B-4273-A1F2-9582-1BF7A6A339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78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EC6C88-3511-52A3-CA9B-56BFE8DF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CF39B7-A565-AB50-7B2B-9B28E3EB8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Methodology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D280A-67F5-7A88-FED7-DDF792402A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0D9336DF-BF5D-0505-C057-531B80E79F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114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14D9B9-4D8D-EAE6-B86C-B92E91E0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E79CB8-79BA-1BEC-E37F-18EA1198ED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Methodology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77E2DF24-4FB1-3672-BE42-50BBDC71AF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45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F3DC25-8C1F-73DD-6E96-D1EEAE52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E5CBF0-3AFB-0EDF-3DAD-349D2C8C2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4BCF7D9C-7941-A570-DB97-ECB2D3A31F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649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3FBDAA-40B8-7DB5-D00B-8E2FFB3E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AB667D-B377-53F8-C55D-757FDF6B58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EBC19C-0046-D757-7A14-9092CA3608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A0A361-2BD3-6467-C468-39AFD5ECC7D7}"/>
              </a:ext>
            </a:extLst>
          </p:cNvPr>
          <p:cNvSpPr txBox="1"/>
          <p:nvPr/>
        </p:nvSpPr>
        <p:spPr>
          <a:xfrm>
            <a:off x="1153842" y="2016064"/>
            <a:ext cx="57035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the where you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describe your findings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where you can place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figures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your </a:t>
            </a:r>
            <a:r>
              <a:rPr lang="en-GB" sz="18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should answer the following questions: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did we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find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we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interpret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these results?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they </a:t>
            </a:r>
            <a:r>
              <a:rPr lang="en-GB" sz="1600" b="1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mean in the context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our original problem?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C54A6-FCB7-7651-576D-09FD7A9862D7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77BD4-74F4-2D34-B41F-B77CBC7E237A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355F9A64-16D9-2402-8299-5E3B8108C6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17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D7133D9-FA3F-2531-EECF-944222C5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992E55-228B-6F87-4153-F5FA9EAA99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A25F7C-DCDD-D850-C4ED-0B0967366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A9D01-7208-284B-D19B-DE06B29B9C33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FEB1B0-1953-F0F5-C0F6-936BAB1362C7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B3F8942D-9512-1C18-7416-05FBBA604A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99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1A911B-BCA4-E5EA-26E3-81AA52D5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10C4D1-88AC-02CF-FDEA-01CE3147A4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E3028E-30A0-9A16-C745-488588A93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6CE377-1DE4-BB61-A884-357F60FD2DA8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Tell a coherent story using the text and figures together.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the figures clear and informative!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B0885-33B1-8909-F764-94ED648823BD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E0516-3D77-442F-B553-A151D692B14B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4D1322-602E-4171-61B0-0BDDA08848D8}"/>
              </a:ext>
            </a:extLst>
          </p:cNvPr>
          <p:cNvSpPr txBox="1"/>
          <p:nvPr/>
        </p:nvSpPr>
        <p:spPr>
          <a:xfrm>
            <a:off x="2083843" y="3931475"/>
            <a:ext cx="4099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Maximise the ratio of information to ink!</a:t>
            </a:r>
            <a:endParaRPr lang="en-GB" sz="1800" b="1" dirty="0">
              <a:solidFill>
                <a:srgbClr val="FF0000"/>
              </a:solidFill>
            </a:endParaRPr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7148BC94-9019-8A0D-9DF7-0726A1F909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7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B027DF-7A2B-3079-5A14-AFC19073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674670-0FA9-2788-2A19-B9D9DA70BD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B966F3-89C3-A29F-7AE5-BA0648BEF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02F869-DD99-BAF2-CC4C-62EE511A418A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Tell a coherent story using the text and figures together.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the figures clear and informative!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 clear and informative captions for figures.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Annotate the figures (with arrows or text) to highlight key findings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tables to summarize key results, but be selective in the results you present!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03D152-DD98-3AF2-2795-D5BA482B543E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C9E5E-2BE2-7149-6869-E3F6DE0DEA52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FC825-B650-79FB-020F-D36CDFB9CDF2}"/>
              </a:ext>
            </a:extLst>
          </p:cNvPr>
          <p:cNvSpPr txBox="1"/>
          <p:nvPr/>
        </p:nvSpPr>
        <p:spPr>
          <a:xfrm>
            <a:off x="2720696" y="5596904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 overwhelm the reader!</a:t>
            </a:r>
            <a:endParaRPr lang="en-GB" sz="1800" b="1" dirty="0">
              <a:solidFill>
                <a:srgbClr val="FF0000"/>
              </a:solidFill>
            </a:endParaRPr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AB0440AE-A9B3-AD7F-40F7-CCF42E2712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2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079FF7-7E2E-6167-3F97-C4660B90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812C55-583F-83E3-04C4-C3FE5D9D9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825990-2830-8CBF-B873-D4C256BA2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490DD1-8885-553C-FD7B-2AF4CE208FA4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Tell a coherent story using the text and figures together.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the figures clear and informative!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 clear and informative captions for figures.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Annotate the figures (with arrows or text) to highlight key findings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tables to summarize key results, but be selective in the results you present!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Lead the reader step by step, show how the results build to support your conclusions.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692721-1D2F-63AA-F9BF-1C82D0991095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BBE25-FE05-7B58-8199-496E50939330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D80762F0-27A4-94AF-2019-4B5AA772D5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95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2F4FB77-3FF2-7740-1162-96C19EAE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512983-72AA-8C45-7748-CEEBF2B6E5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92C26E-DC62-6C21-C7DD-6DE9FBEA1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850EF3-A636-092D-484E-F4054F27AEC0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Produce many figures with the same information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D0031-072E-4D2D-805F-6A8F34B942E0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B2CB4-365E-5C99-4782-FDEC21AE5493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653E4-F815-5E14-719C-282C82331E8C}"/>
              </a:ext>
            </a:extLst>
          </p:cNvPr>
          <p:cNvSpPr txBox="1"/>
          <p:nvPr/>
        </p:nvSpPr>
        <p:spPr>
          <a:xfrm>
            <a:off x="2555540" y="3624943"/>
            <a:ext cx="3007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Combine to avoid repetition!</a:t>
            </a:r>
            <a:endParaRPr lang="en-GB" sz="1800" b="1" dirty="0">
              <a:solidFill>
                <a:srgbClr val="FF0000"/>
              </a:solidFill>
            </a:endParaRP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2E1715D4-5D45-8F59-5759-1CBDC25E94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56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13701E-7EED-1D05-0A48-3607ABA8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0F881A-39B0-78FB-4876-D1A534793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75ED268-6C01-4F24-66DA-FF995524F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732A15-8AB5-6E60-2B3B-F7189CBD37D4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Produce many figures with the same information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Include figures that are not referenced in the text!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AE3FB-B29A-1B14-8612-E86F5CAD3EB1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81E8E-CFA3-4C02-74A2-C9D38A801B8B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9D698-EEAF-051F-76C6-82C82F557037}"/>
              </a:ext>
            </a:extLst>
          </p:cNvPr>
          <p:cNvSpPr txBox="1"/>
          <p:nvPr/>
        </p:nvSpPr>
        <p:spPr>
          <a:xfrm>
            <a:off x="1945940" y="3799114"/>
            <a:ext cx="3977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 figure should be clearly explained</a:t>
            </a:r>
            <a:endParaRPr lang="en-GB" sz="1800" b="1" dirty="0">
              <a:solidFill>
                <a:srgbClr val="FF0000"/>
              </a:solidFill>
            </a:endParaRP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20A50EBC-2EB1-4642-8F60-3EF150323D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82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7C3D24-F7DC-B61D-F23D-6D5A5296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EDE3A7-A4CA-F85B-5C22-C18B2CE727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B9F062-01B8-F494-ACFE-B83EC30A2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A74A31-13D9-C1A0-0B49-A07FAD1C3A82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Produce many figures with the same information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Include figures that are not referenced in the text!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 not speculate on the results.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8DCCB-CF02-139D-4E63-F79C877BFD8E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425F2-359D-8F05-7465-3B1A65669685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F4285-0C9C-A81A-43F6-49D00F27D214}"/>
              </a:ext>
            </a:extLst>
          </p:cNvPr>
          <p:cNvSpPr txBox="1"/>
          <p:nvPr/>
        </p:nvSpPr>
        <p:spPr>
          <a:xfrm>
            <a:off x="2521228" y="4534529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results must be </a:t>
            </a:r>
            <a:r>
              <a:rPr lang="en-GB" sz="18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factual</a:t>
            </a:r>
            <a:endParaRPr lang="en-GB" sz="1800" b="1" i="1" dirty="0">
              <a:solidFill>
                <a:srgbClr val="FF0000"/>
              </a:solidFill>
            </a:endParaRP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B3429BD8-1898-BB55-FFEF-7833B70051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11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3A9BAC-0FAE-81AF-892B-5B444FFD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359A67-1AEF-40D6-9010-04146FD2A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B1F284-AA93-F8D0-74EE-2468CFD9C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BF399C9-9601-4F90-0138-4174573B35F7}"/>
              </a:ext>
            </a:extLst>
          </p:cNvPr>
          <p:cNvSpPr txBox="1"/>
          <p:nvPr/>
        </p:nvSpPr>
        <p:spPr>
          <a:xfrm>
            <a:off x="1153842" y="2016064"/>
            <a:ext cx="5295658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Produce many figures with the same information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Include figures that are not referenced in the text!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 not speculate on the results.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813744-3B72-CD47-9292-20F8F571B761}"/>
              </a:ext>
            </a:extLst>
          </p:cNvPr>
          <p:cNvSpPr/>
          <p:nvPr/>
        </p:nvSpPr>
        <p:spPr>
          <a:xfrm>
            <a:off x="9211121" y="2330019"/>
            <a:ext cx="2316853" cy="12949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CDD21E-42DB-4650-0603-6EBC9F5822E2}"/>
              </a:ext>
            </a:extLst>
          </p:cNvPr>
          <p:cNvSpPr/>
          <p:nvPr/>
        </p:nvSpPr>
        <p:spPr>
          <a:xfrm>
            <a:off x="7021286" y="4234543"/>
            <a:ext cx="2189835" cy="117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2D3DD546-0EB1-AF25-1295-8E0475FA1D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855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10B9D2-9C0E-EE6A-62EA-7A2A6C36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9F156B-8C8C-D441-D891-D0545C968F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442800-88FA-0609-9C5E-E957A608FF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Results: Some Dos and Don’ts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C0972830-E715-E3AA-64AD-D628C74ED6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805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2BAE04-FC0D-6235-CC35-6FE061B8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735396-10AD-7156-6F21-CAA78CE5A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394465-CD49-09F8-33CF-A38AE9899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Conclusion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569381-A8EA-F730-3624-CEDF277EEB0A}"/>
              </a:ext>
            </a:extLst>
          </p:cNvPr>
          <p:cNvSpPr txBox="1"/>
          <p:nvPr/>
        </p:nvSpPr>
        <p:spPr>
          <a:xfrm>
            <a:off x="1153842" y="2016064"/>
            <a:ext cx="57035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Here you want to briefly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summarise your findings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their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implications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should: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Clearly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address the scientific questions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set our earlier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how your results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those questions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6CDED4-EC8A-0CAD-7DE5-584EF664569E}"/>
              </a:ext>
            </a:extLst>
          </p:cNvPr>
          <p:cNvCxnSpPr/>
          <p:nvPr/>
        </p:nvCxnSpPr>
        <p:spPr>
          <a:xfrm>
            <a:off x="7064831" y="5333998"/>
            <a:ext cx="22206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5C5E14-F02A-DCFD-BBC5-3ED8C32053F8}"/>
              </a:ext>
            </a:extLst>
          </p:cNvPr>
          <p:cNvCxnSpPr/>
          <p:nvPr/>
        </p:nvCxnSpPr>
        <p:spPr>
          <a:xfrm flipV="1">
            <a:off x="9285517" y="4201884"/>
            <a:ext cx="0" cy="1132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46006E-AFCB-A9C6-FB1B-D53E576CFF4C}"/>
              </a:ext>
            </a:extLst>
          </p:cNvPr>
          <p:cNvCxnSpPr/>
          <p:nvPr/>
        </p:nvCxnSpPr>
        <p:spPr>
          <a:xfrm>
            <a:off x="9285517" y="4190998"/>
            <a:ext cx="20138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7D2A1C-07A6-DCEC-4AD6-B212E057C4FF}"/>
              </a:ext>
            </a:extLst>
          </p:cNvPr>
          <p:cNvCxnSpPr/>
          <p:nvPr/>
        </p:nvCxnSpPr>
        <p:spPr>
          <a:xfrm>
            <a:off x="7064831" y="5333998"/>
            <a:ext cx="0" cy="5987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93F625-59F3-CC30-7FF2-365C0C6A0928}"/>
              </a:ext>
            </a:extLst>
          </p:cNvPr>
          <p:cNvCxnSpPr/>
          <p:nvPr/>
        </p:nvCxnSpPr>
        <p:spPr>
          <a:xfrm>
            <a:off x="11299330" y="4190998"/>
            <a:ext cx="0" cy="17417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458FBF-264C-F238-B14D-C255804770FA}"/>
              </a:ext>
            </a:extLst>
          </p:cNvPr>
          <p:cNvCxnSpPr/>
          <p:nvPr/>
        </p:nvCxnSpPr>
        <p:spPr>
          <a:xfrm>
            <a:off x="7064831" y="5932712"/>
            <a:ext cx="42344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oogle Shape;103;p13">
            <a:extLst>
              <a:ext uri="{FF2B5EF4-FFF2-40B4-BE49-F238E27FC236}">
                <a16:creationId xmlns:a16="http://schemas.microsoft.com/office/drawing/2014/main" id="{E4CA0B2A-745B-1EEB-40E7-7E6544C520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94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3A3CDD9-1A10-BC6B-E13D-D7D1D960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FE5BAA-E502-7CB2-728F-5BA3D06C2F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8" y="2321341"/>
            <a:ext cx="4633706" cy="35896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09860AE-D118-FA79-8ED7-AEC78FACC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Conclusion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Google Shape;103;p13">
            <a:extLst>
              <a:ext uri="{FF2B5EF4-FFF2-40B4-BE49-F238E27FC236}">
                <a16:creationId xmlns:a16="http://schemas.microsoft.com/office/drawing/2014/main" id="{F5DC67A9-DCB5-1654-9434-3AD9FDDB62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88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5C8336-7874-EFF5-C7B4-00A5DAB2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07E461-2E69-5BE0-BD39-832055A6C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The Conclusion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Google Shape;103;p13">
            <a:extLst>
              <a:ext uri="{FF2B5EF4-FFF2-40B4-BE49-F238E27FC236}">
                <a16:creationId xmlns:a16="http://schemas.microsoft.com/office/drawing/2014/main" id="{F1011D61-2388-C8B3-C28E-32C884EE7B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65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A6C409-94AF-AFC4-9925-71C63E63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2BCA4-267E-E696-D48F-77DA5D023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7368" y="2292206"/>
            <a:ext cx="4817400" cy="36521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266E19-5716-B400-3B4B-86FCBC1C9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References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9D746DD-2E09-B932-9C24-C94D0FAB698D}"/>
              </a:ext>
            </a:extLst>
          </p:cNvPr>
          <p:cNvSpPr txBox="1"/>
          <p:nvPr/>
        </p:nvSpPr>
        <p:spPr>
          <a:xfrm>
            <a:off x="1105649" y="1801819"/>
            <a:ext cx="5703526" cy="3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reference is 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source of information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cite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support a claim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References allow us to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compare with previous work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give credit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the original authors.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Here, references can be used to: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Link to broader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Provide the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if it is not your own data.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Cite the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specific algorithms or models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are using, especially if they are not standard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Cite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specific libraries or tools</a:t>
            </a:r>
            <a:r>
              <a:rPr lang="en-GB" sz="15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that you are using, especially if they are not widely known.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09473-D44A-4B47-DC79-429E14F1DD8E}"/>
              </a:ext>
            </a:extLst>
          </p:cNvPr>
          <p:cNvSpPr/>
          <p:nvPr/>
        </p:nvSpPr>
        <p:spPr>
          <a:xfrm>
            <a:off x="6955972" y="3210853"/>
            <a:ext cx="4571999" cy="457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AE87C0D0-48A1-ED13-F879-55BAB0FEB7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4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60AE53-1EAA-4FEE-227E-2B9A7E16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F24099-FE76-0306-0C77-493173E441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References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8066E012-77BA-3A76-EE6A-5F9809C03D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222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77A2FF-14E9-AEFA-2049-F5D4EE52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EB505E-FC5E-2613-5107-5E50A4D42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Report Quality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6A533F5-0DAD-0F2E-1C64-02F08EF84B82}"/>
              </a:ext>
            </a:extLst>
          </p:cNvPr>
          <p:cNvSpPr txBox="1"/>
          <p:nvPr/>
        </p:nvSpPr>
        <p:spPr>
          <a:xfrm>
            <a:off x="1105649" y="1801819"/>
            <a:ext cx="5703526" cy="3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completing your report, ask yourself the following questions: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accessible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my report to a general reader? 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the report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well organised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my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research question clear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my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motivation clear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Why should anyone care about this problem? 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are my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Are they clear to identify?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Are my statements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actually supported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my findings?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944AB-C2B6-33B7-4C31-6176362114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94DE3321-B1A1-A82C-EBDB-12ABBD60FF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9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3F8AF2-FDC5-8521-D90A-798DEE4D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6FD9CD6-00E0-34AE-7F14-CC364C0F94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Report Quality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2DC66-FBB1-D1E9-FFFA-4EF2B8BBA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03;p13">
            <a:extLst>
              <a:ext uri="{FF2B5EF4-FFF2-40B4-BE49-F238E27FC236}">
                <a16:creationId xmlns:a16="http://schemas.microsoft.com/office/drawing/2014/main" id="{81CC4307-69A6-B4A7-D895-A42F24EB02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022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D1E97D-ADF6-8E86-C339-8AFE4848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4C9B4D-5DAD-8A52-355A-34FED70C9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Writing Style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18A982-F1C4-39F8-00A6-8A211A6B287F}"/>
              </a:ext>
            </a:extLst>
          </p:cNvPr>
          <p:cNvSpPr txBox="1"/>
          <p:nvPr/>
        </p:nvSpPr>
        <p:spPr>
          <a:xfrm>
            <a:off x="1105649" y="1801819"/>
            <a:ext cx="5703526" cy="3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Scientific writing should focus on clarity, precision and concision.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Keep the language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direct and simple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first person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 appropriate - this is an individual report so you can use “I” 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 precise where possible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specific concepts can be clearly conveyed using well-defined technical terms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Avoid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subjective language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(“This result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easily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follows”, “An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obvious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conclusion”)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E56050-17CA-C55D-FBA4-E3627396A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4267" y="2224620"/>
            <a:ext cx="4611934" cy="3458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DE7C27B8-1320-2134-881F-351BF517AC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7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6856E7-82B3-FF65-CECD-791920B9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4FC501-A4F8-A161-7743-3DFFAC4911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LaTeX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CCC21E-ACCF-EA29-9FA9-B5DA50DE669C}"/>
              </a:ext>
            </a:extLst>
          </p:cNvPr>
          <p:cNvSpPr txBox="1"/>
          <p:nvPr/>
        </p:nvSpPr>
        <p:spPr>
          <a:xfrm>
            <a:off x="1105648" y="1725619"/>
            <a:ext cx="6296637" cy="34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LaTeX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 typesetting system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takes a plain text file with some special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produces a beautifully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formatted document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many scientific fields, including physics, chemistry, computer science and mathematics.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Advantages of using LaTeX: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produces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high-quality, professional looking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documents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embeds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mathematical equations </a:t>
            </a: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symbols seamlessly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has powerful features for </a:t>
            </a:r>
            <a:r>
              <a:rPr lang="en-GB" sz="15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bibliography/references</a:t>
            </a:r>
            <a:br>
              <a:rPr lang="en-GB" sz="15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we shall explore LaTeX in more depth…</a:t>
            </a:r>
            <a:endParaRPr lang="en-GB" sz="15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6" descr="LaTeX - Simple English Wikipedia, the free encyclopedia">
            <a:extLst>
              <a:ext uri="{FF2B5EF4-FFF2-40B4-BE49-F238E27FC236}">
                <a16:creationId xmlns:a16="http://schemas.microsoft.com/office/drawing/2014/main" id="{77F5DC27-BBF8-2E30-9174-93DBDE8DF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2271" y="2151569"/>
            <a:ext cx="1404129" cy="58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Overleaf accelerates into new era - Digital Science">
            <a:extLst>
              <a:ext uri="{FF2B5EF4-FFF2-40B4-BE49-F238E27FC236}">
                <a16:creationId xmlns:a16="http://schemas.microsoft.com/office/drawing/2014/main" id="{83DB8B6C-DC26-2212-AC16-8DA54375C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35859" y="2157199"/>
            <a:ext cx="1763114" cy="56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3744F-39FB-1E57-CF6D-CDA2F5FA8E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92271" y="3081195"/>
            <a:ext cx="3606702" cy="2705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B61D64BD-B93A-387F-7444-2C8E30E8CB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ACCBE8-14F2-2797-CB20-01EB1486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69DB67-B855-50B3-CE57-F32CA502FA8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A7B402-0A6F-6226-F182-23A6EDA31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109" y="-21414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55494E-89C1-BE8F-02E0-C4D682EB0170}"/>
              </a:ext>
            </a:extLst>
          </p:cNvPr>
          <p:cNvSpPr txBox="1"/>
          <p:nvPr/>
        </p:nvSpPr>
        <p:spPr>
          <a:xfrm>
            <a:off x="914399" y="1235618"/>
            <a:ext cx="618243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There is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GB" sz="18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material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today!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Quarto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That is, on blackboard go to: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3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Topics &gt; Link to the Main Material of the Course</a:t>
            </a:r>
            <a:br>
              <a:rPr lang="en-GB" sz="13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3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3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Navigate to the “Writing reports” section and read through: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Writing Scientific Reports on Computational Projects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Exercises: Writing Scientific Reports in LaTeX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start on </a:t>
            </a:r>
            <a:r>
              <a:rPr lang="en-GB" sz="16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Project 4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6" descr="LaTeX - Simple English Wikipedia, the free encyclopedia">
            <a:extLst>
              <a:ext uri="{FF2B5EF4-FFF2-40B4-BE49-F238E27FC236}">
                <a16:creationId xmlns:a16="http://schemas.microsoft.com/office/drawing/2014/main" id="{F18D3447-AE65-4269-C866-565A29BE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92070" y="876766"/>
            <a:ext cx="1987890" cy="82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Overleaf accelerates into new era - Digital Science">
            <a:extLst>
              <a:ext uri="{FF2B5EF4-FFF2-40B4-BE49-F238E27FC236}">
                <a16:creationId xmlns:a16="http://schemas.microsoft.com/office/drawing/2014/main" id="{877025BB-229C-7F6B-5344-12BBB173A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5407" y="971859"/>
            <a:ext cx="2318334" cy="74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A38C969C-0699-EE5F-A32E-21FF84B4E2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839A8B-AE92-3088-9700-F1FFE19F3B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87105" y="2063388"/>
            <a:ext cx="4396603" cy="3512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05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" name="Google Shape;3213;p184">
            <a:extLst>
              <a:ext uri="{FF2B5EF4-FFF2-40B4-BE49-F238E27FC236}">
                <a16:creationId xmlns:a16="http://schemas.microsoft.com/office/drawing/2014/main" id="{D7DD031B-7DCD-C26B-AFF4-0C8C9075A03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18: Writing a Scientific Report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Report structure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should be in a report?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General Guidance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endParaRPr lang="en-GB"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Next up: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Easter Break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19: Reflections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20: Drop-in Session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70F9BCE5-FBD1-3B62-5743-38B9A0DDAC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19/19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34407</TotalTime>
  <Words>1645</Words>
  <Application>Microsoft Office PowerPoint</Application>
  <PresentationFormat>Widescreen</PresentationFormat>
  <Paragraphs>233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Courier New</vt:lpstr>
      <vt:lpstr>Calibri</vt:lpstr>
      <vt:lpstr>Arial</vt:lpstr>
      <vt:lpstr>Retrospect</vt:lpstr>
      <vt:lpstr>Lecture 18:   Writing a Scientific Report</vt:lpstr>
      <vt:lpstr>Todays Lecture</vt:lpstr>
      <vt:lpstr>Important Announcement: Project 4 </vt:lpstr>
      <vt:lpstr>Important Announcement: Project 4 </vt:lpstr>
      <vt:lpstr>Today’s Aims</vt:lpstr>
      <vt:lpstr>Structuring your Report</vt:lpstr>
      <vt:lpstr>What should be in a report?</vt:lpstr>
      <vt:lpstr>The Abstract</vt:lpstr>
      <vt:lpstr>The Abstract</vt:lpstr>
      <vt:lpstr>The Introduction</vt:lpstr>
      <vt:lpstr>The Introduction</vt:lpstr>
      <vt:lpstr>The Methodology</vt:lpstr>
      <vt:lpstr>The Methodology</vt:lpstr>
      <vt:lpstr>The Methodology</vt:lpstr>
      <vt:lpstr>The Results</vt:lpstr>
      <vt:lpstr>The Results</vt:lpstr>
      <vt:lpstr>The Results</vt:lpstr>
      <vt:lpstr>The Results: Some Dos and Don’ts</vt:lpstr>
      <vt:lpstr>The Results: Some Dos and Don’ts</vt:lpstr>
      <vt:lpstr>The Results: Some Dos and Don’ts</vt:lpstr>
      <vt:lpstr>The Results: Some Dos and Don’ts</vt:lpstr>
      <vt:lpstr>The Results: Some Dos and Don’ts</vt:lpstr>
      <vt:lpstr>The Results: Some Dos and Don’ts</vt:lpstr>
      <vt:lpstr>The Results: Some Dos and Don’ts</vt:lpstr>
      <vt:lpstr>The Results: Some Dos and Don’ts</vt:lpstr>
      <vt:lpstr>The Conclusion</vt:lpstr>
      <vt:lpstr>The Conclusion</vt:lpstr>
      <vt:lpstr>The Conclusion</vt:lpstr>
      <vt:lpstr>References</vt:lpstr>
      <vt:lpstr>References</vt:lpstr>
      <vt:lpstr>Report Quality</vt:lpstr>
      <vt:lpstr>Report Quality</vt:lpstr>
      <vt:lpstr>Writing Style</vt:lpstr>
      <vt:lpstr>LaTeX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137</cp:revision>
  <dcterms:modified xsi:type="dcterms:W3CDTF">2026-03-19T13:21:19Z</dcterms:modified>
</cp:coreProperties>
</file>